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6" r:id="rId3"/>
    <p:sldId id="268" r:id="rId4"/>
    <p:sldId id="270" r:id="rId5"/>
    <p:sldId id="267" r:id="rId6"/>
    <p:sldId id="271" r:id="rId7"/>
    <p:sldId id="269" r:id="rId8"/>
    <p:sldId id="272" r:id="rId9"/>
    <p:sldId id="258" r:id="rId10"/>
    <p:sldId id="259" r:id="rId11"/>
    <p:sldId id="260" r:id="rId12"/>
    <p:sldId id="261" r:id="rId13"/>
    <p:sldId id="273" r:id="rId14"/>
    <p:sldId id="262" r:id="rId15"/>
    <p:sldId id="274" r:id="rId16"/>
    <p:sldId id="263" r:id="rId17"/>
    <p:sldId id="265" r:id="rId18"/>
  </p:sldIdLst>
  <p:sldSz cx="11430000" cy="6673850"/>
  <p:notesSz cx="11430000" cy="6673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8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29999" cy="66674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0049" y="233362"/>
            <a:ext cx="10629899" cy="620077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0049" y="1278635"/>
            <a:ext cx="10629900" cy="17780"/>
          </a:xfrm>
          <a:custGeom>
            <a:avLst/>
            <a:gdLst/>
            <a:ahLst/>
            <a:cxnLst/>
            <a:rect l="l" t="t" r="r" b="b"/>
            <a:pathLst>
              <a:path w="10629900" h="17780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29544" y="2447879"/>
            <a:ext cx="10370911" cy="1287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1" i="0">
                <a:solidFill>
                  <a:srgbClr val="0070C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737356"/>
            <a:ext cx="8001000" cy="1668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10"/>
              </a:lnSpc>
            </a:pPr>
            <a:r>
              <a:rPr dirty="0"/>
              <a:t>May</a:t>
            </a:r>
            <a:r>
              <a:rPr spc="15" dirty="0"/>
              <a:t> </a:t>
            </a:r>
            <a:r>
              <a:rPr spc="-20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10"/>
              </a:lnSpc>
            </a:pPr>
            <a:r>
              <a:rPr dirty="0"/>
              <a:t>Walmart</a:t>
            </a:r>
            <a:r>
              <a:rPr spc="5" dirty="0"/>
              <a:t> </a:t>
            </a:r>
            <a:r>
              <a:rPr dirty="0"/>
              <a:t>Customer</a:t>
            </a:r>
            <a:r>
              <a:rPr spc="10" dirty="0"/>
              <a:t> </a:t>
            </a:r>
            <a:r>
              <a:rPr dirty="0"/>
              <a:t>Segmentation</a:t>
            </a:r>
            <a:r>
              <a:rPr spc="5" dirty="0"/>
              <a:t> </a:t>
            </a:r>
            <a:r>
              <a:rPr dirty="0"/>
              <a:t>&amp;</a:t>
            </a:r>
            <a:r>
              <a:rPr spc="10" dirty="0"/>
              <a:t> </a:t>
            </a:r>
            <a:r>
              <a:rPr spc="-10" dirty="0"/>
              <a:t>Insights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‹#›</a:t>
            </a:fld>
            <a:r>
              <a:rPr spc="225" dirty="0"/>
              <a:t> </a:t>
            </a:r>
            <a:r>
              <a:rPr dirty="0"/>
              <a:t>/</a:t>
            </a:r>
            <a:r>
              <a:rPr spc="22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1" i="0">
                <a:solidFill>
                  <a:srgbClr val="0070C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10"/>
              </a:lnSpc>
            </a:pPr>
            <a:r>
              <a:rPr dirty="0"/>
              <a:t>May</a:t>
            </a:r>
            <a:r>
              <a:rPr spc="15" dirty="0"/>
              <a:t> </a:t>
            </a:r>
            <a:r>
              <a:rPr spc="-20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10"/>
              </a:lnSpc>
            </a:pPr>
            <a:r>
              <a:rPr dirty="0"/>
              <a:t>Walmart</a:t>
            </a:r>
            <a:r>
              <a:rPr spc="5" dirty="0"/>
              <a:t> </a:t>
            </a:r>
            <a:r>
              <a:rPr dirty="0"/>
              <a:t>Customer</a:t>
            </a:r>
            <a:r>
              <a:rPr spc="10" dirty="0"/>
              <a:t> </a:t>
            </a:r>
            <a:r>
              <a:rPr dirty="0"/>
              <a:t>Segmentation</a:t>
            </a:r>
            <a:r>
              <a:rPr spc="5" dirty="0"/>
              <a:t> </a:t>
            </a:r>
            <a:r>
              <a:rPr dirty="0"/>
              <a:t>&amp;</a:t>
            </a:r>
            <a:r>
              <a:rPr spc="10" dirty="0"/>
              <a:t> </a:t>
            </a:r>
            <a:r>
              <a:rPr spc="-10" dirty="0"/>
              <a:t>Insights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‹#›</a:t>
            </a:fld>
            <a:r>
              <a:rPr spc="225" dirty="0"/>
              <a:t> </a:t>
            </a:r>
            <a:r>
              <a:rPr dirty="0"/>
              <a:t>/</a:t>
            </a:r>
            <a:r>
              <a:rPr spc="22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667500"/>
          </a:xfrm>
          <a:custGeom>
            <a:avLst/>
            <a:gdLst/>
            <a:ahLst/>
            <a:cxnLst/>
            <a:rect l="l" t="t" r="r" b="b"/>
            <a:pathLst>
              <a:path w="11430000" h="6667500">
                <a:moveTo>
                  <a:pt x="11429999" y="6667499"/>
                </a:moveTo>
                <a:lnTo>
                  <a:pt x="0" y="66674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667499"/>
                </a:lnTo>
                <a:close/>
              </a:path>
            </a:pathLst>
          </a:custGeom>
          <a:solidFill>
            <a:srgbClr val="F0F1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689407" y="1553247"/>
            <a:ext cx="3720465" cy="17780"/>
          </a:xfrm>
          <a:custGeom>
            <a:avLst/>
            <a:gdLst/>
            <a:ahLst/>
            <a:cxnLst/>
            <a:rect l="l" t="t" r="r" b="b"/>
            <a:pathLst>
              <a:path w="3720465" h="17780">
                <a:moveTo>
                  <a:pt x="3720465" y="0"/>
                </a:moveTo>
                <a:lnTo>
                  <a:pt x="2480310" y="0"/>
                </a:lnTo>
                <a:lnTo>
                  <a:pt x="1240155" y="0"/>
                </a:lnTo>
                <a:lnTo>
                  <a:pt x="0" y="0"/>
                </a:lnTo>
                <a:lnTo>
                  <a:pt x="0" y="17716"/>
                </a:lnTo>
                <a:lnTo>
                  <a:pt x="1240155" y="17716"/>
                </a:lnTo>
                <a:lnTo>
                  <a:pt x="2480310" y="17716"/>
                </a:lnTo>
                <a:lnTo>
                  <a:pt x="3720465" y="17716"/>
                </a:lnTo>
                <a:lnTo>
                  <a:pt x="3720465" y="0"/>
                </a:lnTo>
                <a:close/>
              </a:path>
            </a:pathLst>
          </a:custGeom>
          <a:solidFill>
            <a:srgbClr val="0070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0049" y="676274"/>
            <a:ext cx="10629900" cy="17780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1" i="0">
                <a:solidFill>
                  <a:srgbClr val="0070C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534985"/>
            <a:ext cx="4972050" cy="44047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534985"/>
            <a:ext cx="4972050" cy="44047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10"/>
              </a:lnSpc>
            </a:pPr>
            <a:r>
              <a:rPr dirty="0"/>
              <a:t>May</a:t>
            </a:r>
            <a:r>
              <a:rPr spc="15" dirty="0"/>
              <a:t> </a:t>
            </a:r>
            <a:r>
              <a:rPr spc="-20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10"/>
              </a:lnSpc>
            </a:pPr>
            <a:r>
              <a:rPr dirty="0"/>
              <a:t>Walmart</a:t>
            </a:r>
            <a:r>
              <a:rPr spc="5" dirty="0"/>
              <a:t> </a:t>
            </a:r>
            <a:r>
              <a:rPr dirty="0"/>
              <a:t>Customer</a:t>
            </a:r>
            <a:r>
              <a:rPr spc="10" dirty="0"/>
              <a:t> </a:t>
            </a:r>
            <a:r>
              <a:rPr dirty="0"/>
              <a:t>Segmentation</a:t>
            </a:r>
            <a:r>
              <a:rPr spc="5" dirty="0"/>
              <a:t> </a:t>
            </a:r>
            <a:r>
              <a:rPr dirty="0"/>
              <a:t>&amp;</a:t>
            </a:r>
            <a:r>
              <a:rPr spc="10" dirty="0"/>
              <a:t> </a:t>
            </a:r>
            <a:r>
              <a:rPr spc="-10" dirty="0"/>
              <a:t>Insights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‹#›</a:t>
            </a:fld>
            <a:r>
              <a:rPr spc="225" dirty="0"/>
              <a:t> </a:t>
            </a:r>
            <a:r>
              <a:rPr dirty="0"/>
              <a:t>/</a:t>
            </a:r>
            <a:r>
              <a:rPr spc="22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1" i="0">
                <a:solidFill>
                  <a:srgbClr val="0070C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10"/>
              </a:lnSpc>
            </a:pPr>
            <a:r>
              <a:rPr dirty="0"/>
              <a:t>May</a:t>
            </a:r>
            <a:r>
              <a:rPr spc="15" dirty="0"/>
              <a:t> </a:t>
            </a:r>
            <a:r>
              <a:rPr spc="-20" dirty="0"/>
              <a:t>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10"/>
              </a:lnSpc>
            </a:pPr>
            <a:r>
              <a:rPr dirty="0"/>
              <a:t>Walmart</a:t>
            </a:r>
            <a:r>
              <a:rPr spc="5" dirty="0"/>
              <a:t> </a:t>
            </a:r>
            <a:r>
              <a:rPr dirty="0"/>
              <a:t>Customer</a:t>
            </a:r>
            <a:r>
              <a:rPr spc="10" dirty="0"/>
              <a:t> </a:t>
            </a:r>
            <a:r>
              <a:rPr dirty="0"/>
              <a:t>Segmentation</a:t>
            </a:r>
            <a:r>
              <a:rPr spc="5" dirty="0"/>
              <a:t> </a:t>
            </a:r>
            <a:r>
              <a:rPr dirty="0"/>
              <a:t>&amp;</a:t>
            </a:r>
            <a:r>
              <a:rPr spc="10" dirty="0"/>
              <a:t> </a:t>
            </a:r>
            <a:r>
              <a:rPr spc="-10" dirty="0"/>
              <a:t>Insights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‹#›</a:t>
            </a:fld>
            <a:r>
              <a:rPr spc="225" dirty="0"/>
              <a:t> </a:t>
            </a:r>
            <a:r>
              <a:rPr dirty="0"/>
              <a:t>/</a:t>
            </a:r>
            <a:r>
              <a:rPr spc="22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10"/>
              </a:lnSpc>
            </a:pPr>
            <a:r>
              <a:rPr dirty="0"/>
              <a:t>May</a:t>
            </a:r>
            <a:r>
              <a:rPr spc="15" dirty="0"/>
              <a:t> </a:t>
            </a:r>
            <a:r>
              <a:rPr spc="-20" dirty="0"/>
              <a:t>2025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10"/>
              </a:lnSpc>
            </a:pPr>
            <a:r>
              <a:rPr dirty="0"/>
              <a:t>Walmart</a:t>
            </a:r>
            <a:r>
              <a:rPr spc="5" dirty="0"/>
              <a:t> </a:t>
            </a:r>
            <a:r>
              <a:rPr dirty="0"/>
              <a:t>Customer</a:t>
            </a:r>
            <a:r>
              <a:rPr spc="10" dirty="0"/>
              <a:t> </a:t>
            </a:r>
            <a:r>
              <a:rPr dirty="0"/>
              <a:t>Segmentation</a:t>
            </a:r>
            <a:r>
              <a:rPr spc="5" dirty="0"/>
              <a:t> </a:t>
            </a:r>
            <a:r>
              <a:rPr dirty="0"/>
              <a:t>&amp;</a:t>
            </a:r>
            <a:r>
              <a:rPr spc="10" dirty="0"/>
              <a:t> </a:t>
            </a:r>
            <a:r>
              <a:rPr spc="-10" dirty="0"/>
              <a:t>Insights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‹#›</a:t>
            </a:fld>
            <a:r>
              <a:rPr spc="225" dirty="0"/>
              <a:t> </a:t>
            </a:r>
            <a:r>
              <a:rPr dirty="0"/>
              <a:t>/</a:t>
            </a:r>
            <a:r>
              <a:rPr spc="22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667500"/>
          </a:xfrm>
          <a:custGeom>
            <a:avLst/>
            <a:gdLst/>
            <a:ahLst/>
            <a:cxnLst/>
            <a:rect l="l" t="t" r="r" b="b"/>
            <a:pathLst>
              <a:path w="11430000" h="6667500">
                <a:moveTo>
                  <a:pt x="11429999" y="6667499"/>
                </a:moveTo>
                <a:lnTo>
                  <a:pt x="0" y="66674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667499"/>
                </a:lnTo>
                <a:close/>
              </a:path>
            </a:pathLst>
          </a:custGeom>
          <a:solidFill>
            <a:srgbClr val="F0F1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7349" y="197719"/>
            <a:ext cx="6151880" cy="6663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1" i="0">
                <a:solidFill>
                  <a:srgbClr val="0070C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01312" y="1570957"/>
            <a:ext cx="6489700" cy="34874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254886" y="6211112"/>
            <a:ext cx="788034" cy="219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10"/>
              </a:lnSpc>
            </a:pPr>
            <a:r>
              <a:rPr dirty="0"/>
              <a:t>May</a:t>
            </a:r>
            <a:r>
              <a:rPr spc="15" dirty="0"/>
              <a:t> </a:t>
            </a:r>
            <a:r>
              <a:rPr spc="-20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7349" y="6211112"/>
            <a:ext cx="3395345" cy="219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10"/>
              </a:lnSpc>
            </a:pPr>
            <a:r>
              <a:rPr dirty="0"/>
              <a:t>Walmart</a:t>
            </a:r>
            <a:r>
              <a:rPr spc="5" dirty="0"/>
              <a:t> </a:t>
            </a:r>
            <a:r>
              <a:rPr dirty="0"/>
              <a:t>Customer</a:t>
            </a:r>
            <a:r>
              <a:rPr spc="10" dirty="0"/>
              <a:t> </a:t>
            </a:r>
            <a:r>
              <a:rPr dirty="0"/>
              <a:t>Segmentation</a:t>
            </a:r>
            <a:r>
              <a:rPr spc="5" dirty="0"/>
              <a:t> </a:t>
            </a:r>
            <a:r>
              <a:rPr dirty="0"/>
              <a:t>&amp;</a:t>
            </a:r>
            <a:r>
              <a:rPr spc="10" dirty="0"/>
              <a:t> </a:t>
            </a:r>
            <a:r>
              <a:rPr spc="-10" dirty="0"/>
              <a:t>Insights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3824" y="6341776"/>
            <a:ext cx="458470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‹#›</a:t>
            </a:fld>
            <a:r>
              <a:rPr spc="225" dirty="0"/>
              <a:t> </a:t>
            </a:r>
            <a:r>
              <a:rPr dirty="0"/>
              <a:t>/</a:t>
            </a:r>
            <a:r>
              <a:rPr spc="225" dirty="0"/>
              <a:t> </a:t>
            </a:r>
            <a:r>
              <a:rPr spc="-25" dirty="0"/>
              <a:t>10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60"/>
              </a:spcBef>
            </a:pPr>
            <a:r>
              <a:rPr sz="3900" dirty="0"/>
              <a:t>Walmart</a:t>
            </a:r>
            <a:r>
              <a:rPr sz="3900" spc="-45" dirty="0"/>
              <a:t> </a:t>
            </a:r>
            <a:r>
              <a:rPr sz="3900" dirty="0"/>
              <a:t>Customer</a:t>
            </a:r>
            <a:r>
              <a:rPr sz="3900" spc="-40" dirty="0"/>
              <a:t> </a:t>
            </a:r>
            <a:r>
              <a:rPr sz="3900" dirty="0"/>
              <a:t>Segmentation</a:t>
            </a:r>
            <a:r>
              <a:rPr sz="3900" spc="-45" dirty="0"/>
              <a:t> </a:t>
            </a:r>
            <a:r>
              <a:rPr sz="3900" dirty="0"/>
              <a:t>&amp;</a:t>
            </a:r>
            <a:r>
              <a:rPr sz="3900" spc="-40" dirty="0"/>
              <a:t> </a:t>
            </a:r>
            <a:r>
              <a:rPr sz="3900" spc="-10" dirty="0"/>
              <a:t>Insights</a:t>
            </a:r>
            <a:endParaRPr sz="3900" dirty="0"/>
          </a:p>
          <a:p>
            <a:pPr algn="ctr">
              <a:lnSpc>
                <a:spcPct val="100000"/>
              </a:lnSpc>
              <a:spcBef>
                <a:spcPts val="844"/>
              </a:spcBef>
            </a:pPr>
            <a:r>
              <a:rPr sz="2700" dirty="0">
                <a:solidFill>
                  <a:srgbClr val="666666"/>
                </a:solidFill>
              </a:rPr>
              <a:t>Data-Driven</a:t>
            </a:r>
            <a:r>
              <a:rPr sz="2700" spc="105" dirty="0">
                <a:solidFill>
                  <a:srgbClr val="666666"/>
                </a:solidFill>
              </a:rPr>
              <a:t> </a:t>
            </a:r>
            <a:r>
              <a:rPr sz="2700" dirty="0">
                <a:solidFill>
                  <a:srgbClr val="666666"/>
                </a:solidFill>
              </a:rPr>
              <a:t>Customer</a:t>
            </a:r>
            <a:r>
              <a:rPr sz="2700" spc="-5" dirty="0">
                <a:solidFill>
                  <a:srgbClr val="666666"/>
                </a:solidFill>
              </a:rPr>
              <a:t> </a:t>
            </a:r>
            <a:r>
              <a:rPr sz="2700" spc="-10" dirty="0">
                <a:solidFill>
                  <a:srgbClr val="666666"/>
                </a:solidFill>
              </a:rPr>
              <a:t>Analysis</a:t>
            </a:r>
            <a:endParaRPr sz="2700" dirty="0"/>
          </a:p>
        </p:txBody>
      </p:sp>
      <p:sp>
        <p:nvSpPr>
          <p:cNvPr id="3" name="object 3"/>
          <p:cNvSpPr txBox="1"/>
          <p:nvPr/>
        </p:nvSpPr>
        <p:spPr>
          <a:xfrm>
            <a:off x="5212327" y="4524000"/>
            <a:ext cx="100584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dirty="0">
                <a:solidFill>
                  <a:srgbClr val="666666"/>
                </a:solidFill>
                <a:latin typeface="Arial"/>
                <a:cs typeface="Arial"/>
              </a:rPr>
              <a:t>May</a:t>
            </a:r>
            <a:r>
              <a:rPr sz="175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750" spc="-20" dirty="0">
                <a:solidFill>
                  <a:srgbClr val="666666"/>
                </a:solidFill>
                <a:latin typeface="Arial"/>
                <a:cs typeface="Arial"/>
              </a:rPr>
              <a:t>2025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EDAF5-5469-8AF6-E1A1-9DAB888A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275623"/>
            <a:ext cx="6151880" cy="430887"/>
          </a:xfrm>
        </p:spPr>
        <p:txBody>
          <a:bodyPr/>
          <a:lstStyle/>
          <a:p>
            <a:r>
              <a:rPr lang="en-IN" sz="2800" dirty="0"/>
              <a:t>Agenda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69122-1993-13F8-9DEE-82FF5BA51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0250" y="1762016"/>
            <a:ext cx="6489700" cy="401648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0" lang="en-IN" sz="27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Customer</a:t>
            </a:r>
            <a:r>
              <a:rPr kumimoji="0" lang="en-IN" sz="2700" b="1" i="0" u="none" strike="noStrike" kern="0" cap="none" spc="-5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Demographic </a:t>
            </a:r>
            <a:r>
              <a:rPr kumimoji="0" lang="en-IN" sz="2700" b="1" i="0" u="none" strike="noStrike" kern="0" cap="none" spc="-1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Analysis</a:t>
            </a:r>
          </a:p>
          <a:p>
            <a:endParaRPr kumimoji="0" lang="en-IN" sz="2700" b="1" i="0" u="none" strike="noStrike" kern="0" cap="none" spc="-1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700" b="1" spc="-10" dirty="0">
                <a:solidFill>
                  <a:srgbClr val="666666"/>
                </a:solidFill>
                <a:latin typeface="Arial"/>
                <a:ea typeface="+mj-ea"/>
                <a:cs typeface="Arial"/>
              </a:rPr>
              <a:t>Product Analysis</a:t>
            </a:r>
          </a:p>
          <a:p>
            <a:endParaRPr lang="en-IN" sz="2700" b="1" spc="-10" dirty="0">
              <a:solidFill>
                <a:srgbClr val="666666"/>
              </a:solidFill>
              <a:latin typeface="Arial"/>
              <a:ea typeface="+mj-ea"/>
              <a:cs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0" lang="en-IN" sz="2700" b="1" i="0" u="none" strike="noStrike" kern="0" cap="none" spc="-1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Customer Segmentation</a:t>
            </a:r>
          </a:p>
          <a:p>
            <a:endParaRPr kumimoji="0" lang="en-IN" sz="2700" b="1" i="0" u="none" strike="noStrike" kern="0" cap="none" spc="-1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700" b="1" spc="-10" dirty="0">
                <a:solidFill>
                  <a:srgbClr val="666666"/>
                </a:solidFill>
                <a:latin typeface="Arial"/>
                <a:ea typeface="+mj-ea"/>
                <a:cs typeface="Arial"/>
              </a:rPr>
              <a:t>Customer Personas</a:t>
            </a:r>
          </a:p>
          <a:p>
            <a:endParaRPr lang="en-IN" sz="2700" b="1" spc="-10" dirty="0">
              <a:solidFill>
                <a:srgbClr val="666666"/>
              </a:solidFill>
              <a:latin typeface="Arial"/>
              <a:ea typeface="+mj-ea"/>
              <a:cs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0" lang="en-IN" sz="2700" b="1" i="0" u="none" strike="noStrike" kern="0" cap="none" spc="-1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Actionable </a:t>
            </a:r>
            <a:r>
              <a:rPr lang="en-IN" sz="2700" b="1" spc="-10" dirty="0">
                <a:solidFill>
                  <a:srgbClr val="666666"/>
                </a:solidFill>
                <a:latin typeface="Arial"/>
                <a:ea typeface="+mj-ea"/>
                <a:cs typeface="Arial"/>
              </a:rPr>
              <a:t>Strategies</a:t>
            </a:r>
            <a:endParaRPr kumimoji="0" lang="en-IN" sz="2700" b="1" i="0" u="none" strike="noStrike" kern="0" cap="none" spc="-1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3" name="object 2">
            <a:extLst>
              <a:ext uri="{FF2B5EF4-FFF2-40B4-BE49-F238E27FC236}">
                <a16:creationId xmlns:a16="http://schemas.microsoft.com/office/drawing/2014/main" id="{2AFE89A6-CFB0-D92F-4EDE-93A094E951C6}"/>
              </a:ext>
            </a:extLst>
          </p:cNvPr>
          <p:cNvSpPr/>
          <p:nvPr/>
        </p:nvSpPr>
        <p:spPr>
          <a:xfrm>
            <a:off x="400050" y="898525"/>
            <a:ext cx="10629900" cy="17780"/>
          </a:xfrm>
          <a:custGeom>
            <a:avLst/>
            <a:gdLst/>
            <a:ahLst/>
            <a:cxnLst/>
            <a:rect l="l" t="t" r="r" b="b"/>
            <a:pathLst>
              <a:path w="10629900" h="17780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Google Shape;208;p33">
            <a:extLst>
              <a:ext uri="{FF2B5EF4-FFF2-40B4-BE49-F238E27FC236}">
                <a16:creationId xmlns:a16="http://schemas.microsoft.com/office/drawing/2014/main" id="{AA04E99D-0B7E-0828-F59B-CC62D247F262}"/>
              </a:ext>
            </a:extLst>
          </p:cNvPr>
          <p:cNvPicPr/>
          <p:nvPr/>
        </p:nvPicPr>
        <p:blipFill>
          <a:blip r:embed="rId2"/>
          <a:srcRect l="39" r="39"/>
          <a:stretch/>
        </p:blipFill>
        <p:spPr>
          <a:xfrm flipH="1">
            <a:off x="390524" y="1108320"/>
            <a:ext cx="3648075" cy="5293082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338715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349" y="197719"/>
            <a:ext cx="6151880" cy="739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dirty="0"/>
              <a:t>Executive Summary</a:t>
            </a:r>
            <a:br>
              <a:rPr lang="en-IN" dirty="0"/>
            </a:br>
            <a:endParaRPr lang="en-IN"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400050" y="906589"/>
            <a:ext cx="10629900" cy="5085080"/>
            <a:chOff x="400050" y="906589"/>
            <a:chExt cx="10629900" cy="5085080"/>
          </a:xfrm>
        </p:grpSpPr>
        <p:sp>
          <p:nvSpPr>
            <p:cNvPr id="4" name="object 4"/>
            <p:cNvSpPr/>
            <p:nvPr/>
          </p:nvSpPr>
          <p:spPr>
            <a:xfrm>
              <a:off x="400050" y="906589"/>
              <a:ext cx="5436870" cy="5085080"/>
            </a:xfrm>
            <a:custGeom>
              <a:avLst/>
              <a:gdLst/>
              <a:ahLst/>
              <a:cxnLst/>
              <a:rect l="l" t="t" r="r" b="b"/>
              <a:pathLst>
                <a:path w="5436870" h="508508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w="5436870" h="5085080">
                  <a:moveTo>
                    <a:pt x="5436869" y="5084635"/>
                  </a:moveTo>
                  <a:lnTo>
                    <a:pt x="5268846" y="5084635"/>
                  </a:lnTo>
                  <a:lnTo>
                    <a:pt x="5275627" y="5083286"/>
                  </a:lnTo>
                  <a:lnTo>
                    <a:pt x="5288650" y="5077891"/>
                  </a:lnTo>
                  <a:lnTo>
                    <a:pt x="5313600" y="5045312"/>
                  </a:lnTo>
                  <a:lnTo>
                    <a:pt x="5314949" y="5038533"/>
                  </a:lnTo>
                  <a:lnTo>
                    <a:pt x="5314949" y="46101"/>
                  </a:lnTo>
                  <a:lnTo>
                    <a:pt x="5294398" y="10583"/>
                  </a:lnTo>
                  <a:lnTo>
                    <a:pt x="5268847" y="0"/>
                  </a:lnTo>
                  <a:lnTo>
                    <a:pt x="5436869" y="0"/>
                  </a:lnTo>
                  <a:lnTo>
                    <a:pt x="5436869" y="5084635"/>
                  </a:lnTo>
                  <a:close/>
                </a:path>
                <a:path w="5436870" h="5085080">
                  <a:moveTo>
                    <a:pt x="46102" y="5084635"/>
                  </a:moveTo>
                  <a:lnTo>
                    <a:pt x="0" y="5084635"/>
                  </a:lnTo>
                  <a:lnTo>
                    <a:pt x="0" y="5038533"/>
                  </a:lnTo>
                  <a:lnTo>
                    <a:pt x="1348" y="5045312"/>
                  </a:lnTo>
                  <a:lnTo>
                    <a:pt x="6742" y="5058335"/>
                  </a:lnTo>
                  <a:lnTo>
                    <a:pt x="10583" y="5064083"/>
                  </a:lnTo>
                  <a:lnTo>
                    <a:pt x="20550" y="5074051"/>
                  </a:lnTo>
                  <a:lnTo>
                    <a:pt x="26298" y="5077891"/>
                  </a:lnTo>
                  <a:lnTo>
                    <a:pt x="39321" y="5083286"/>
                  </a:lnTo>
                  <a:lnTo>
                    <a:pt x="46102" y="508463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7766" y="906589"/>
              <a:ext cx="5297805" cy="5085080"/>
            </a:xfrm>
            <a:custGeom>
              <a:avLst/>
              <a:gdLst/>
              <a:ahLst/>
              <a:cxnLst/>
              <a:rect l="l" t="t" r="r" b="b"/>
              <a:pathLst>
                <a:path w="5297805" h="5085080">
                  <a:moveTo>
                    <a:pt x="5247573" y="5084634"/>
                  </a:moveTo>
                  <a:lnTo>
                    <a:pt x="30734" y="5084634"/>
                  </a:lnTo>
                  <a:lnTo>
                    <a:pt x="26214" y="5083286"/>
                  </a:lnTo>
                  <a:lnTo>
                    <a:pt x="899" y="5045312"/>
                  </a:lnTo>
                  <a:lnTo>
                    <a:pt x="0" y="5038533"/>
                  </a:lnTo>
                  <a:lnTo>
                    <a:pt x="0" y="5031485"/>
                  </a:lnTo>
                  <a:lnTo>
                    <a:pt x="0" y="46101"/>
                  </a:lnTo>
                  <a:lnTo>
                    <a:pt x="17532" y="6742"/>
                  </a:lnTo>
                  <a:lnTo>
                    <a:pt x="30734" y="0"/>
                  </a:lnTo>
                  <a:lnTo>
                    <a:pt x="5247573" y="0"/>
                  </a:lnTo>
                  <a:lnTo>
                    <a:pt x="5284133" y="18034"/>
                  </a:lnTo>
                  <a:lnTo>
                    <a:pt x="5297232" y="49659"/>
                  </a:lnTo>
                  <a:lnTo>
                    <a:pt x="5297232" y="5034975"/>
                  </a:lnTo>
                  <a:lnTo>
                    <a:pt x="5279197" y="5071535"/>
                  </a:lnTo>
                  <a:lnTo>
                    <a:pt x="5251029" y="5084294"/>
                  </a:lnTo>
                  <a:lnTo>
                    <a:pt x="5247573" y="5084634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0050" y="906589"/>
              <a:ext cx="48260" cy="5085080"/>
            </a:xfrm>
            <a:custGeom>
              <a:avLst/>
              <a:gdLst/>
              <a:ahLst/>
              <a:cxnLst/>
              <a:rect l="l" t="t" r="r" b="b"/>
              <a:pathLst>
                <a:path w="48259" h="5085080">
                  <a:moveTo>
                    <a:pt x="48257" y="5084635"/>
                  </a:moveTo>
                  <a:lnTo>
                    <a:pt x="46101" y="5084635"/>
                  </a:lnTo>
                  <a:lnTo>
                    <a:pt x="39321" y="5083286"/>
                  </a:lnTo>
                  <a:lnTo>
                    <a:pt x="6742" y="5058336"/>
                  </a:lnTo>
                  <a:lnTo>
                    <a:pt x="0" y="5038533"/>
                  </a:lnTo>
                  <a:lnTo>
                    <a:pt x="0" y="46101"/>
                  </a:lnTo>
                  <a:lnTo>
                    <a:pt x="20550" y="10583"/>
                  </a:lnTo>
                  <a:lnTo>
                    <a:pt x="46101" y="0"/>
                  </a:lnTo>
                  <a:lnTo>
                    <a:pt x="48257" y="0"/>
                  </a:lnTo>
                  <a:lnTo>
                    <a:pt x="44081" y="5188"/>
                  </a:lnTo>
                  <a:lnTo>
                    <a:pt x="40622" y="15567"/>
                  </a:lnTo>
                  <a:lnTo>
                    <a:pt x="38351" y="23753"/>
                  </a:lnTo>
                  <a:lnTo>
                    <a:pt x="36730" y="32746"/>
                  </a:lnTo>
                  <a:lnTo>
                    <a:pt x="35757" y="42544"/>
                  </a:lnTo>
                  <a:lnTo>
                    <a:pt x="35433" y="53149"/>
                  </a:lnTo>
                  <a:lnTo>
                    <a:pt x="35433" y="5031486"/>
                  </a:lnTo>
                  <a:lnTo>
                    <a:pt x="44081" y="5079446"/>
                  </a:lnTo>
                  <a:lnTo>
                    <a:pt x="48257" y="5084635"/>
                  </a:lnTo>
                  <a:close/>
                </a:path>
              </a:pathLst>
            </a:custGeom>
            <a:solidFill>
              <a:srgbClr val="0070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69863" y="906589"/>
              <a:ext cx="168910" cy="5085080"/>
            </a:xfrm>
            <a:custGeom>
              <a:avLst/>
              <a:gdLst/>
              <a:ahLst/>
              <a:cxnLst/>
              <a:rect l="l" t="t" r="r" b="b"/>
              <a:pathLst>
                <a:path w="168910" h="5085080">
                  <a:moveTo>
                    <a:pt x="168403" y="5084635"/>
                  </a:moveTo>
                  <a:lnTo>
                    <a:pt x="0" y="5084635"/>
                  </a:lnTo>
                  <a:lnTo>
                    <a:pt x="0" y="0"/>
                  </a:lnTo>
                  <a:lnTo>
                    <a:pt x="168401" y="0"/>
                  </a:lnTo>
                  <a:lnTo>
                    <a:pt x="161622" y="1348"/>
                  </a:lnTo>
                  <a:lnTo>
                    <a:pt x="148598" y="6742"/>
                  </a:lnTo>
                  <a:lnTo>
                    <a:pt x="123649" y="39321"/>
                  </a:lnTo>
                  <a:lnTo>
                    <a:pt x="122300" y="46101"/>
                  </a:lnTo>
                  <a:lnTo>
                    <a:pt x="122300" y="5038533"/>
                  </a:lnTo>
                  <a:lnTo>
                    <a:pt x="142851" y="5074051"/>
                  </a:lnTo>
                  <a:lnTo>
                    <a:pt x="161622" y="5083286"/>
                  </a:lnTo>
                  <a:lnTo>
                    <a:pt x="168403" y="508463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09881" y="906589"/>
              <a:ext cx="5120640" cy="5085080"/>
            </a:xfrm>
            <a:custGeom>
              <a:avLst/>
              <a:gdLst/>
              <a:ahLst/>
              <a:cxnLst/>
              <a:rect l="l" t="t" r="r" b="b"/>
              <a:pathLst>
                <a:path w="5120640" h="5085080">
                  <a:moveTo>
                    <a:pt x="5120069" y="5084635"/>
                  </a:moveTo>
                  <a:lnTo>
                    <a:pt x="30734" y="5084635"/>
                  </a:lnTo>
                  <a:lnTo>
                    <a:pt x="26214" y="5083286"/>
                  </a:lnTo>
                  <a:lnTo>
                    <a:pt x="899" y="5045313"/>
                  </a:lnTo>
                  <a:lnTo>
                    <a:pt x="0" y="5038533"/>
                  </a:lnTo>
                  <a:lnTo>
                    <a:pt x="0" y="46101"/>
                  </a:lnTo>
                  <a:lnTo>
                    <a:pt x="17532" y="6742"/>
                  </a:lnTo>
                  <a:lnTo>
                    <a:pt x="30734" y="0"/>
                  </a:lnTo>
                  <a:lnTo>
                    <a:pt x="5120069" y="0"/>
                  </a:lnTo>
                  <a:lnTo>
                    <a:pt x="5120069" y="5084635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92165" y="906589"/>
              <a:ext cx="48260" cy="5085080"/>
            </a:xfrm>
            <a:custGeom>
              <a:avLst/>
              <a:gdLst/>
              <a:ahLst/>
              <a:cxnLst/>
              <a:rect l="l" t="t" r="r" b="b"/>
              <a:pathLst>
                <a:path w="48260" h="5085080">
                  <a:moveTo>
                    <a:pt x="48257" y="5084635"/>
                  </a:moveTo>
                  <a:lnTo>
                    <a:pt x="46100" y="5084635"/>
                  </a:lnTo>
                  <a:lnTo>
                    <a:pt x="39320" y="5083286"/>
                  </a:lnTo>
                  <a:lnTo>
                    <a:pt x="6742" y="5058336"/>
                  </a:lnTo>
                  <a:lnTo>
                    <a:pt x="0" y="5038533"/>
                  </a:lnTo>
                  <a:lnTo>
                    <a:pt x="0" y="46101"/>
                  </a:lnTo>
                  <a:lnTo>
                    <a:pt x="20550" y="10583"/>
                  </a:lnTo>
                  <a:lnTo>
                    <a:pt x="46100" y="0"/>
                  </a:lnTo>
                  <a:lnTo>
                    <a:pt x="48257" y="0"/>
                  </a:lnTo>
                  <a:lnTo>
                    <a:pt x="44081" y="5188"/>
                  </a:lnTo>
                  <a:lnTo>
                    <a:pt x="40621" y="15567"/>
                  </a:lnTo>
                  <a:lnTo>
                    <a:pt x="38351" y="23753"/>
                  </a:lnTo>
                  <a:lnTo>
                    <a:pt x="36729" y="32746"/>
                  </a:lnTo>
                  <a:lnTo>
                    <a:pt x="35757" y="42544"/>
                  </a:lnTo>
                  <a:lnTo>
                    <a:pt x="35432" y="53149"/>
                  </a:lnTo>
                  <a:lnTo>
                    <a:pt x="35432" y="5031486"/>
                  </a:lnTo>
                  <a:lnTo>
                    <a:pt x="44081" y="5079446"/>
                  </a:lnTo>
                  <a:lnTo>
                    <a:pt x="48257" y="5084635"/>
                  </a:lnTo>
                  <a:close/>
                </a:path>
              </a:pathLst>
            </a:custGeom>
            <a:solidFill>
              <a:srgbClr val="0070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18050" y="1562099"/>
              <a:ext cx="4912360" cy="894715"/>
            </a:xfrm>
            <a:custGeom>
              <a:avLst/>
              <a:gdLst/>
              <a:ahLst/>
              <a:cxnLst/>
              <a:rect l="l" t="t" r="r" b="b"/>
              <a:pathLst>
                <a:path w="4912359" h="894714">
                  <a:moveTo>
                    <a:pt x="4862240" y="894683"/>
                  </a:moveTo>
                  <a:lnTo>
                    <a:pt x="34576" y="894683"/>
                  </a:lnTo>
                  <a:lnTo>
                    <a:pt x="29491" y="893334"/>
                  </a:lnTo>
                  <a:lnTo>
                    <a:pt x="1011" y="855361"/>
                  </a:lnTo>
                  <a:lnTo>
                    <a:pt x="0" y="848581"/>
                  </a:lnTo>
                  <a:lnTo>
                    <a:pt x="0" y="841533"/>
                  </a:lnTo>
                  <a:lnTo>
                    <a:pt x="0" y="46101"/>
                  </a:lnTo>
                  <a:lnTo>
                    <a:pt x="15412" y="10583"/>
                  </a:lnTo>
                  <a:lnTo>
                    <a:pt x="34576" y="0"/>
                  </a:lnTo>
                  <a:lnTo>
                    <a:pt x="4862240" y="0"/>
                  </a:lnTo>
                  <a:lnTo>
                    <a:pt x="4898801" y="18034"/>
                  </a:lnTo>
                  <a:lnTo>
                    <a:pt x="4911900" y="49659"/>
                  </a:lnTo>
                  <a:lnTo>
                    <a:pt x="4911900" y="845023"/>
                  </a:lnTo>
                  <a:lnTo>
                    <a:pt x="4893863" y="881583"/>
                  </a:lnTo>
                  <a:lnTo>
                    <a:pt x="4865696" y="894342"/>
                  </a:lnTo>
                  <a:lnTo>
                    <a:pt x="4862240" y="894683"/>
                  </a:lnTo>
                  <a:close/>
                </a:path>
              </a:pathLst>
            </a:custGeom>
            <a:solidFill>
              <a:srgbClr val="FFC220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04763" y="1562099"/>
              <a:ext cx="46355" cy="894715"/>
            </a:xfrm>
            <a:custGeom>
              <a:avLst/>
              <a:gdLst/>
              <a:ahLst/>
              <a:cxnLst/>
              <a:rect l="l" t="t" r="r" b="b"/>
              <a:pathLst>
                <a:path w="46354" h="894714">
                  <a:moveTo>
                    <a:pt x="45821" y="894683"/>
                  </a:moveTo>
                  <a:lnTo>
                    <a:pt x="10583" y="874132"/>
                  </a:lnTo>
                  <a:lnTo>
                    <a:pt x="0" y="848581"/>
                  </a:lnTo>
                  <a:lnTo>
                    <a:pt x="0" y="46101"/>
                  </a:lnTo>
                  <a:lnTo>
                    <a:pt x="20550" y="10583"/>
                  </a:lnTo>
                  <a:lnTo>
                    <a:pt x="45821" y="0"/>
                  </a:lnTo>
                  <a:lnTo>
                    <a:pt x="39546" y="5189"/>
                  </a:lnTo>
                  <a:lnTo>
                    <a:pt x="34357" y="15567"/>
                  </a:lnTo>
                  <a:lnTo>
                    <a:pt x="30952" y="23753"/>
                  </a:lnTo>
                  <a:lnTo>
                    <a:pt x="28520" y="32746"/>
                  </a:lnTo>
                  <a:lnTo>
                    <a:pt x="27060" y="42544"/>
                  </a:lnTo>
                  <a:lnTo>
                    <a:pt x="26574" y="53149"/>
                  </a:lnTo>
                  <a:lnTo>
                    <a:pt x="26574" y="841533"/>
                  </a:lnTo>
                  <a:lnTo>
                    <a:pt x="34357" y="879116"/>
                  </a:lnTo>
                  <a:lnTo>
                    <a:pt x="39546" y="889494"/>
                  </a:lnTo>
                  <a:lnTo>
                    <a:pt x="45821" y="894683"/>
                  </a:lnTo>
                  <a:close/>
                </a:path>
              </a:pathLst>
            </a:custGeom>
            <a:solidFill>
              <a:srgbClr val="FFC2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18050" y="2580798"/>
              <a:ext cx="4912360" cy="885825"/>
            </a:xfrm>
            <a:custGeom>
              <a:avLst/>
              <a:gdLst/>
              <a:ahLst/>
              <a:cxnLst/>
              <a:rect l="l" t="t" r="r" b="b"/>
              <a:pathLst>
                <a:path w="4912359" h="885825">
                  <a:moveTo>
                    <a:pt x="4862240" y="885825"/>
                  </a:moveTo>
                  <a:lnTo>
                    <a:pt x="34576" y="885825"/>
                  </a:lnTo>
                  <a:lnTo>
                    <a:pt x="29491" y="884476"/>
                  </a:lnTo>
                  <a:lnTo>
                    <a:pt x="1011" y="846503"/>
                  </a:lnTo>
                  <a:lnTo>
                    <a:pt x="0" y="839723"/>
                  </a:lnTo>
                  <a:lnTo>
                    <a:pt x="0" y="832675"/>
                  </a:lnTo>
                  <a:lnTo>
                    <a:pt x="0" y="46101"/>
                  </a:lnTo>
                  <a:lnTo>
                    <a:pt x="15412" y="10583"/>
                  </a:lnTo>
                  <a:lnTo>
                    <a:pt x="34576" y="0"/>
                  </a:lnTo>
                  <a:lnTo>
                    <a:pt x="4862240" y="0"/>
                  </a:lnTo>
                  <a:lnTo>
                    <a:pt x="4898801" y="18034"/>
                  </a:lnTo>
                  <a:lnTo>
                    <a:pt x="4911900" y="49659"/>
                  </a:lnTo>
                  <a:lnTo>
                    <a:pt x="4911900" y="836165"/>
                  </a:lnTo>
                  <a:lnTo>
                    <a:pt x="4893863" y="872725"/>
                  </a:lnTo>
                  <a:lnTo>
                    <a:pt x="4865696" y="885484"/>
                  </a:lnTo>
                  <a:lnTo>
                    <a:pt x="4862240" y="885825"/>
                  </a:lnTo>
                  <a:close/>
                </a:path>
              </a:pathLst>
            </a:custGeom>
            <a:solidFill>
              <a:srgbClr val="FFC220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04763" y="2580798"/>
              <a:ext cx="46355" cy="885825"/>
            </a:xfrm>
            <a:custGeom>
              <a:avLst/>
              <a:gdLst/>
              <a:ahLst/>
              <a:cxnLst/>
              <a:rect l="l" t="t" r="r" b="b"/>
              <a:pathLst>
                <a:path w="46354" h="885825">
                  <a:moveTo>
                    <a:pt x="45822" y="885825"/>
                  </a:moveTo>
                  <a:lnTo>
                    <a:pt x="10583" y="865273"/>
                  </a:lnTo>
                  <a:lnTo>
                    <a:pt x="0" y="839723"/>
                  </a:lnTo>
                  <a:lnTo>
                    <a:pt x="0" y="46101"/>
                  </a:lnTo>
                  <a:lnTo>
                    <a:pt x="20550" y="10583"/>
                  </a:lnTo>
                  <a:lnTo>
                    <a:pt x="45821" y="0"/>
                  </a:lnTo>
                  <a:lnTo>
                    <a:pt x="39546" y="5189"/>
                  </a:lnTo>
                  <a:lnTo>
                    <a:pt x="34357" y="15567"/>
                  </a:lnTo>
                  <a:lnTo>
                    <a:pt x="30952" y="23753"/>
                  </a:lnTo>
                  <a:lnTo>
                    <a:pt x="28520" y="32746"/>
                  </a:lnTo>
                  <a:lnTo>
                    <a:pt x="27060" y="42544"/>
                  </a:lnTo>
                  <a:lnTo>
                    <a:pt x="26574" y="53149"/>
                  </a:lnTo>
                  <a:lnTo>
                    <a:pt x="26574" y="832675"/>
                  </a:lnTo>
                  <a:lnTo>
                    <a:pt x="34357" y="870257"/>
                  </a:lnTo>
                  <a:lnTo>
                    <a:pt x="39546" y="880635"/>
                  </a:lnTo>
                  <a:lnTo>
                    <a:pt x="45822" y="885825"/>
                  </a:lnTo>
                  <a:close/>
                </a:path>
              </a:pathLst>
            </a:custGeom>
            <a:solidFill>
              <a:srgbClr val="FFC2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18050" y="3590638"/>
              <a:ext cx="4912360" cy="1214120"/>
            </a:xfrm>
            <a:custGeom>
              <a:avLst/>
              <a:gdLst/>
              <a:ahLst/>
              <a:cxnLst/>
              <a:rect l="l" t="t" r="r" b="b"/>
              <a:pathLst>
                <a:path w="4912359" h="1214120">
                  <a:moveTo>
                    <a:pt x="4862240" y="1213580"/>
                  </a:moveTo>
                  <a:lnTo>
                    <a:pt x="34576" y="1213579"/>
                  </a:lnTo>
                  <a:lnTo>
                    <a:pt x="5056" y="1187281"/>
                  </a:lnTo>
                  <a:lnTo>
                    <a:pt x="0" y="1167478"/>
                  </a:lnTo>
                  <a:lnTo>
                    <a:pt x="0" y="1160430"/>
                  </a:lnTo>
                  <a:lnTo>
                    <a:pt x="0" y="46101"/>
                  </a:lnTo>
                  <a:lnTo>
                    <a:pt x="15412" y="10583"/>
                  </a:lnTo>
                  <a:lnTo>
                    <a:pt x="34576" y="0"/>
                  </a:lnTo>
                  <a:lnTo>
                    <a:pt x="4862240" y="0"/>
                  </a:lnTo>
                  <a:lnTo>
                    <a:pt x="4898801" y="18034"/>
                  </a:lnTo>
                  <a:lnTo>
                    <a:pt x="4911900" y="49659"/>
                  </a:lnTo>
                  <a:lnTo>
                    <a:pt x="4911900" y="1163920"/>
                  </a:lnTo>
                  <a:lnTo>
                    <a:pt x="4893863" y="1200480"/>
                  </a:lnTo>
                  <a:lnTo>
                    <a:pt x="4865696" y="1213239"/>
                  </a:lnTo>
                  <a:lnTo>
                    <a:pt x="4862240" y="1213580"/>
                  </a:lnTo>
                  <a:close/>
                </a:path>
              </a:pathLst>
            </a:custGeom>
            <a:solidFill>
              <a:srgbClr val="FFC220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04763" y="3590638"/>
              <a:ext cx="46355" cy="1214120"/>
            </a:xfrm>
            <a:custGeom>
              <a:avLst/>
              <a:gdLst/>
              <a:ahLst/>
              <a:cxnLst/>
              <a:rect l="l" t="t" r="r" b="b"/>
              <a:pathLst>
                <a:path w="46354" h="1214120">
                  <a:moveTo>
                    <a:pt x="45822" y="1213580"/>
                  </a:moveTo>
                  <a:lnTo>
                    <a:pt x="10583" y="1193028"/>
                  </a:lnTo>
                  <a:lnTo>
                    <a:pt x="0" y="1167478"/>
                  </a:lnTo>
                  <a:lnTo>
                    <a:pt x="0" y="46100"/>
                  </a:lnTo>
                  <a:lnTo>
                    <a:pt x="20550" y="10583"/>
                  </a:lnTo>
                  <a:lnTo>
                    <a:pt x="45821" y="0"/>
                  </a:lnTo>
                  <a:lnTo>
                    <a:pt x="39546" y="5188"/>
                  </a:lnTo>
                  <a:lnTo>
                    <a:pt x="34357" y="15567"/>
                  </a:lnTo>
                  <a:lnTo>
                    <a:pt x="30952" y="23753"/>
                  </a:lnTo>
                  <a:lnTo>
                    <a:pt x="28520" y="32746"/>
                  </a:lnTo>
                  <a:lnTo>
                    <a:pt x="27060" y="42544"/>
                  </a:lnTo>
                  <a:lnTo>
                    <a:pt x="26574" y="53149"/>
                  </a:lnTo>
                  <a:lnTo>
                    <a:pt x="26574" y="1160430"/>
                  </a:lnTo>
                  <a:lnTo>
                    <a:pt x="34357" y="1198012"/>
                  </a:lnTo>
                  <a:lnTo>
                    <a:pt x="39546" y="1208390"/>
                  </a:lnTo>
                  <a:lnTo>
                    <a:pt x="45822" y="1213580"/>
                  </a:lnTo>
                  <a:close/>
                </a:path>
              </a:pathLst>
            </a:custGeom>
            <a:solidFill>
              <a:srgbClr val="FFC2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sz="half" idx="3"/>
          </p:nvPr>
        </p:nvSpPr>
        <p:spPr>
          <a:xfrm>
            <a:off x="6070870" y="1236576"/>
            <a:ext cx="4972050" cy="34106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841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Customer Segment </a:t>
            </a:r>
            <a:r>
              <a:rPr spc="-10" dirty="0"/>
              <a:t>Performance</a:t>
            </a: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pc="-10" dirty="0"/>
          </a:p>
          <a:p>
            <a:pPr marL="185420" marR="177800" algn="ctr">
              <a:lnSpc>
                <a:spcPct val="107300"/>
              </a:lnSpc>
            </a:pP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High</a:t>
            </a:r>
            <a:r>
              <a:rPr b="1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Value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Customers:</a:t>
            </a:r>
            <a:r>
              <a:rPr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</a:rPr>
              <a:t>Males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26-35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in </a:t>
            </a:r>
            <a:r>
              <a:rPr dirty="0">
                <a:solidFill>
                  <a:srgbClr val="000000"/>
                </a:solidFill>
              </a:rPr>
              <a:t>City B working in Occupation </a:t>
            </a:r>
            <a:r>
              <a:rPr spc="-25" dirty="0">
                <a:solidFill>
                  <a:srgbClr val="000000"/>
                </a:solidFill>
              </a:rPr>
              <a:t>#5</a:t>
            </a: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pc="-25" dirty="0">
              <a:solidFill>
                <a:srgbClr val="000000"/>
              </a:solidFill>
            </a:endParaRPr>
          </a:p>
          <a:p>
            <a:pPr marL="12065" marR="5080" algn="ctr">
              <a:lnSpc>
                <a:spcPct val="107300"/>
              </a:lnSpc>
              <a:spcBef>
                <a:spcPts val="5"/>
              </a:spcBef>
            </a:pP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Growth</a:t>
            </a:r>
            <a:r>
              <a:rPr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Opportunity:</a:t>
            </a:r>
            <a:r>
              <a:rPr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</a:rPr>
              <a:t>3-year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city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residents </a:t>
            </a:r>
            <a:r>
              <a:rPr dirty="0">
                <a:solidFill>
                  <a:srgbClr val="000000"/>
                </a:solidFill>
              </a:rPr>
              <a:t>show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increased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loyalty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patterns</a:t>
            </a: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lang="en-IN" spc="-10" dirty="0">
              <a:solidFill>
                <a:srgbClr val="000000"/>
              </a:solidFill>
            </a:endParaRPr>
          </a:p>
          <a:p>
            <a:pPr marL="175895" marR="168275" indent="95885">
              <a:lnSpc>
                <a:spcPct val="110300"/>
              </a:lnSpc>
            </a:pP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Key Revenue Drive: </a:t>
            </a:r>
            <a:r>
              <a:rPr dirty="0">
                <a:solidFill>
                  <a:srgbClr val="000000"/>
                </a:solidFill>
              </a:rPr>
              <a:t>Focus </a:t>
            </a:r>
            <a:r>
              <a:rPr spc="-10" dirty="0">
                <a:solidFill>
                  <a:srgbClr val="000000"/>
                </a:solidFill>
              </a:rPr>
              <a:t>marketing </a:t>
            </a:r>
            <a:r>
              <a:rPr dirty="0">
                <a:solidFill>
                  <a:srgbClr val="000000"/>
                </a:solidFill>
              </a:rPr>
              <a:t>campaigns</a:t>
            </a:r>
            <a:r>
              <a:rPr lang="en-IN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on demographic clusters </a:t>
            </a:r>
            <a:r>
              <a:rPr spc="-20" dirty="0">
                <a:solidFill>
                  <a:srgbClr val="000000"/>
                </a:solidFill>
              </a:rPr>
              <a:t>with</a:t>
            </a:r>
            <a:endParaRPr lang="en-IN" spc="-20" dirty="0">
              <a:solidFill>
                <a:srgbClr val="000000"/>
              </a:solidFill>
            </a:endParaRPr>
          </a:p>
          <a:p>
            <a:pPr marL="981710">
              <a:lnSpc>
                <a:spcPct val="100000"/>
              </a:lnSpc>
              <a:spcBef>
                <a:spcPts val="170"/>
              </a:spcBef>
            </a:pPr>
            <a:r>
              <a:rPr lang="en-IN" dirty="0">
                <a:solidFill>
                  <a:srgbClr val="000000"/>
                </a:solidFill>
              </a:rPr>
              <a:t>highest spending </a:t>
            </a:r>
            <a:r>
              <a:rPr lang="en-IN" spc="-10" dirty="0">
                <a:solidFill>
                  <a:srgbClr val="000000"/>
                </a:solidFill>
              </a:rPr>
              <a:t>indices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sz="half" idx="2"/>
          </p:nvPr>
        </p:nvSpPr>
        <p:spPr>
          <a:xfrm>
            <a:off x="578755" y="1246758"/>
            <a:ext cx="4972050" cy="4404741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57810" marR="30480" indent="-220345">
              <a:lnSpc>
                <a:spcPct val="107800"/>
              </a:lnSpc>
              <a:spcBef>
                <a:spcPts val="240"/>
              </a:spcBef>
              <a:buSzPct val="74137"/>
              <a:buChar char="•"/>
              <a:tabLst>
                <a:tab pos="259079" algn="l"/>
              </a:tabLst>
            </a:pPr>
            <a:r>
              <a:rPr sz="2900" b="1" spc="-10" dirty="0">
                <a:solidFill>
                  <a:srgbClr val="0070CD"/>
                </a:solidFill>
                <a:latin typeface="Times New Roman"/>
                <a:cs typeface="Times New Roman"/>
              </a:rPr>
              <a:t>25%</a:t>
            </a:r>
            <a:r>
              <a:rPr sz="2900" b="1" spc="-285" dirty="0">
                <a:solidFill>
                  <a:srgbClr val="0070CD"/>
                </a:solidFill>
                <a:latin typeface="Times New Roman"/>
                <a:cs typeface="Times New Roman"/>
              </a:rPr>
              <a:t> </a:t>
            </a:r>
            <a:r>
              <a:rPr sz="1800" dirty="0"/>
              <a:t>more</a:t>
            </a:r>
            <a:r>
              <a:rPr sz="1800" spc="5" dirty="0"/>
              <a:t> </a:t>
            </a:r>
            <a:r>
              <a:rPr sz="1800" dirty="0"/>
              <a:t>likely to</a:t>
            </a:r>
            <a:r>
              <a:rPr sz="1800" spc="5" dirty="0"/>
              <a:t> </a:t>
            </a:r>
            <a:r>
              <a:rPr sz="1800" dirty="0"/>
              <a:t>be high</a:t>
            </a:r>
            <a:r>
              <a:rPr sz="1800" spc="5" dirty="0"/>
              <a:t> </a:t>
            </a:r>
            <a:r>
              <a:rPr sz="1800" dirty="0"/>
              <a:t>spenders:</a:t>
            </a:r>
            <a:r>
              <a:rPr sz="1800" spc="5" dirty="0"/>
              <a:t> </a:t>
            </a:r>
            <a:r>
              <a:rPr sz="1800" dirty="0"/>
              <a:t>26-</a:t>
            </a:r>
            <a:r>
              <a:rPr sz="1800" spc="-25" dirty="0"/>
              <a:t>35 	</a:t>
            </a:r>
            <a:r>
              <a:rPr sz="1800" dirty="0"/>
              <a:t>age </a:t>
            </a:r>
            <a:r>
              <a:rPr sz="1800" spc="-10" dirty="0"/>
              <a:t>group</a:t>
            </a:r>
            <a:endParaRPr sz="1800" dirty="0">
              <a:latin typeface="Times New Roman"/>
              <a:cs typeface="Times New Roman"/>
            </a:endParaRPr>
          </a:p>
          <a:p>
            <a:pPr marL="257810" marR="615950" indent="-220345">
              <a:lnSpc>
                <a:spcPct val="107800"/>
              </a:lnSpc>
              <a:spcBef>
                <a:spcPts val="1210"/>
              </a:spcBef>
              <a:buSzPct val="74137"/>
              <a:buChar char="•"/>
              <a:tabLst>
                <a:tab pos="259079" algn="l"/>
              </a:tabLst>
            </a:pPr>
            <a:r>
              <a:rPr sz="2900" b="1" spc="-10" dirty="0">
                <a:solidFill>
                  <a:srgbClr val="0070CD"/>
                </a:solidFill>
                <a:latin typeface="Times New Roman"/>
                <a:cs typeface="Times New Roman"/>
              </a:rPr>
              <a:t>9%</a:t>
            </a:r>
            <a:r>
              <a:rPr sz="2900" b="1" spc="-270" dirty="0">
                <a:solidFill>
                  <a:srgbClr val="0070CD"/>
                </a:solidFill>
                <a:latin typeface="Times New Roman"/>
                <a:cs typeface="Times New Roman"/>
              </a:rPr>
              <a:t> </a:t>
            </a:r>
            <a:r>
              <a:rPr sz="1800" spc="-10" dirty="0"/>
              <a:t>over-</a:t>
            </a:r>
            <a:r>
              <a:rPr sz="1800" dirty="0"/>
              <a:t>represented</a:t>
            </a:r>
            <a:r>
              <a:rPr sz="1800" spc="10" dirty="0"/>
              <a:t> </a:t>
            </a:r>
            <a:r>
              <a:rPr sz="1800" dirty="0"/>
              <a:t>in</a:t>
            </a:r>
            <a:r>
              <a:rPr sz="1800" spc="10" dirty="0"/>
              <a:t> </a:t>
            </a:r>
            <a:r>
              <a:rPr sz="1800" dirty="0"/>
              <a:t>high-</a:t>
            </a:r>
            <a:r>
              <a:rPr sz="1800" spc="-10" dirty="0"/>
              <a:t>spending 	</a:t>
            </a:r>
            <a:r>
              <a:rPr sz="1800" dirty="0"/>
              <a:t>category: </a:t>
            </a:r>
            <a:r>
              <a:rPr sz="1800" spc="-10" dirty="0"/>
              <a:t>Males</a:t>
            </a:r>
            <a:endParaRPr sz="1800" dirty="0">
              <a:latin typeface="Times New Roman"/>
              <a:cs typeface="Times New Roman"/>
            </a:endParaRPr>
          </a:p>
          <a:p>
            <a:pPr marL="257810" marR="189865" indent="-220345">
              <a:lnSpc>
                <a:spcPct val="107800"/>
              </a:lnSpc>
              <a:spcBef>
                <a:spcPts val="1210"/>
              </a:spcBef>
              <a:buSzPct val="74137"/>
              <a:buChar char="•"/>
              <a:tabLst>
                <a:tab pos="259079" algn="l"/>
              </a:tabLst>
            </a:pPr>
            <a:r>
              <a:rPr sz="2900" b="1" spc="-10" dirty="0">
                <a:solidFill>
                  <a:srgbClr val="0070CD"/>
                </a:solidFill>
                <a:latin typeface="Times New Roman"/>
                <a:cs typeface="Times New Roman"/>
              </a:rPr>
              <a:t>88%</a:t>
            </a:r>
            <a:r>
              <a:rPr sz="2900" b="1" spc="-275" dirty="0">
                <a:solidFill>
                  <a:srgbClr val="0070CD"/>
                </a:solidFill>
                <a:latin typeface="Times New Roman"/>
                <a:cs typeface="Times New Roman"/>
              </a:rPr>
              <a:t> </a:t>
            </a:r>
            <a:r>
              <a:rPr sz="1800" dirty="0"/>
              <a:t>more</a:t>
            </a:r>
            <a:r>
              <a:rPr sz="1800" spc="5" dirty="0"/>
              <a:t> </a:t>
            </a:r>
            <a:r>
              <a:rPr sz="1800" dirty="0"/>
              <a:t>likely</a:t>
            </a:r>
            <a:r>
              <a:rPr sz="1800" spc="5" dirty="0"/>
              <a:t> </a:t>
            </a:r>
            <a:r>
              <a:rPr sz="1800" dirty="0"/>
              <a:t>to be</a:t>
            </a:r>
            <a:r>
              <a:rPr sz="1800" spc="5" dirty="0"/>
              <a:t> </a:t>
            </a:r>
            <a:r>
              <a:rPr sz="1800" dirty="0"/>
              <a:t>premium</a:t>
            </a:r>
            <a:r>
              <a:rPr sz="1800" spc="5" dirty="0"/>
              <a:t> </a:t>
            </a:r>
            <a:r>
              <a:rPr sz="1800" spc="-10" dirty="0"/>
              <a:t>shoppers: 	</a:t>
            </a:r>
            <a:r>
              <a:rPr sz="1800" dirty="0"/>
              <a:t>City B </a:t>
            </a:r>
            <a:r>
              <a:rPr sz="1800" spc="-10" dirty="0"/>
              <a:t>customers</a:t>
            </a:r>
            <a:endParaRPr sz="1800" dirty="0">
              <a:latin typeface="Times New Roman"/>
              <a:cs typeface="Times New Roman"/>
            </a:endParaRPr>
          </a:p>
          <a:p>
            <a:pPr marL="257810" marR="600075" indent="-220345">
              <a:lnSpc>
                <a:spcPct val="107800"/>
              </a:lnSpc>
              <a:spcBef>
                <a:spcPts val="1215"/>
              </a:spcBef>
              <a:buSzPct val="74137"/>
              <a:buChar char="•"/>
              <a:tabLst>
                <a:tab pos="259079" algn="l"/>
              </a:tabLst>
            </a:pPr>
            <a:r>
              <a:rPr sz="2900" b="1" spc="-10" dirty="0">
                <a:solidFill>
                  <a:srgbClr val="0070CD"/>
                </a:solidFill>
                <a:latin typeface="Times New Roman"/>
                <a:cs typeface="Times New Roman"/>
              </a:rPr>
              <a:t>53%</a:t>
            </a:r>
            <a:r>
              <a:rPr sz="2900" b="1" spc="-280" dirty="0">
                <a:solidFill>
                  <a:srgbClr val="0070CD"/>
                </a:solidFill>
                <a:latin typeface="Times New Roman"/>
                <a:cs typeface="Times New Roman"/>
              </a:rPr>
              <a:t> </a:t>
            </a:r>
            <a:r>
              <a:rPr sz="1800" dirty="0"/>
              <a:t>higher</a:t>
            </a:r>
            <a:r>
              <a:rPr sz="1800" spc="5" dirty="0"/>
              <a:t> </a:t>
            </a:r>
            <a:r>
              <a:rPr sz="1800" dirty="0"/>
              <a:t>representation</a:t>
            </a:r>
            <a:r>
              <a:rPr sz="1800" spc="5" dirty="0"/>
              <a:t> </a:t>
            </a:r>
            <a:r>
              <a:rPr sz="1800" dirty="0"/>
              <a:t>among</a:t>
            </a:r>
            <a:r>
              <a:rPr sz="1800" spc="5" dirty="0"/>
              <a:t> </a:t>
            </a:r>
            <a:r>
              <a:rPr sz="1800" spc="-25" dirty="0"/>
              <a:t>big 	</a:t>
            </a:r>
            <a:r>
              <a:rPr sz="1800" dirty="0"/>
              <a:t>spenders: Occupation </a:t>
            </a:r>
            <a:r>
              <a:rPr sz="1800" spc="-25" dirty="0"/>
              <a:t>#5</a:t>
            </a:r>
            <a:endParaRPr sz="1800" dirty="0">
              <a:latin typeface="Times New Roman"/>
              <a:cs typeface="Times New Roman"/>
            </a:endParaRPr>
          </a:p>
          <a:p>
            <a:pPr marL="257810" marR="35560" indent="-220345">
              <a:lnSpc>
                <a:spcPct val="107800"/>
              </a:lnSpc>
              <a:spcBef>
                <a:spcPts val="1210"/>
              </a:spcBef>
              <a:buSzPct val="74137"/>
              <a:buChar char="•"/>
              <a:tabLst>
                <a:tab pos="259079" algn="l"/>
              </a:tabLst>
            </a:pPr>
            <a:r>
              <a:rPr sz="2900" b="1" spc="-10" dirty="0">
                <a:solidFill>
                  <a:srgbClr val="0070CD"/>
                </a:solidFill>
                <a:latin typeface="Times New Roman"/>
                <a:cs typeface="Times New Roman"/>
              </a:rPr>
              <a:t>8%</a:t>
            </a:r>
            <a:r>
              <a:rPr sz="2900" b="1" spc="-285" dirty="0">
                <a:solidFill>
                  <a:srgbClr val="0070CD"/>
                </a:solidFill>
                <a:latin typeface="Times New Roman"/>
                <a:cs typeface="Times New Roman"/>
              </a:rPr>
              <a:t> </a:t>
            </a:r>
            <a:r>
              <a:rPr sz="1800" dirty="0"/>
              <a:t>more likely</a:t>
            </a:r>
            <a:r>
              <a:rPr sz="1800" spc="5" dirty="0"/>
              <a:t> </a:t>
            </a:r>
            <a:r>
              <a:rPr sz="1800" dirty="0"/>
              <a:t>to spend</a:t>
            </a:r>
            <a:r>
              <a:rPr sz="1800" spc="5" dirty="0"/>
              <a:t> </a:t>
            </a:r>
            <a:r>
              <a:rPr sz="1800" dirty="0"/>
              <a:t>heavily: 3-year</a:t>
            </a:r>
            <a:r>
              <a:rPr sz="1800" spc="5" dirty="0"/>
              <a:t> </a:t>
            </a:r>
            <a:r>
              <a:rPr sz="1800" spc="-20" dirty="0"/>
              <a:t>city 	</a:t>
            </a:r>
            <a:r>
              <a:rPr sz="1800" spc="-10" dirty="0"/>
              <a:t>residents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4299" y="6305549"/>
            <a:ext cx="438150" cy="247650"/>
          </a:xfrm>
          <a:custGeom>
            <a:avLst/>
            <a:gdLst/>
            <a:ahLst/>
            <a:cxnLst/>
            <a:rect l="l" t="t" r="r" b="b"/>
            <a:pathLst>
              <a:path w="438150" h="247650">
                <a:moveTo>
                  <a:pt x="438149" y="247649"/>
                </a:moveTo>
                <a:lnTo>
                  <a:pt x="0" y="247649"/>
                </a:lnTo>
                <a:lnTo>
                  <a:pt x="0" y="0"/>
                </a:lnTo>
                <a:lnTo>
                  <a:pt x="438149" y="0"/>
                </a:lnTo>
                <a:lnTo>
                  <a:pt x="438149" y="24764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3</a:t>
            </a:fld>
            <a:r>
              <a:rPr spc="225" dirty="0"/>
              <a:t> </a:t>
            </a:r>
            <a:r>
              <a:rPr dirty="0"/>
              <a:t>/</a:t>
            </a:r>
            <a:r>
              <a:rPr spc="225" dirty="0"/>
              <a:t> </a:t>
            </a:r>
            <a:r>
              <a:rPr spc="-25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86748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BD05B-AC6D-AA6F-079A-0C7141E1F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2843530"/>
            <a:ext cx="8610600" cy="1523494"/>
          </a:xfrm>
        </p:spPr>
        <p:txBody>
          <a:bodyPr/>
          <a:lstStyle/>
          <a:p>
            <a:pPr algn="ctr"/>
            <a:r>
              <a:rPr lang="en-US" sz="3600" dirty="0"/>
              <a:t>Customer Demographic Analysis</a:t>
            </a:r>
            <a:br>
              <a:rPr lang="en-US" sz="3600" dirty="0"/>
            </a:br>
            <a:r>
              <a:rPr lang="en-IN" sz="2700" dirty="0">
                <a:solidFill>
                  <a:srgbClr val="666666"/>
                </a:solidFill>
              </a:rPr>
              <a:t>Who Is Our Customer?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EE5997FF-2747-AB1E-18DB-30FED1AB4EEF}"/>
              </a:ext>
            </a:extLst>
          </p:cNvPr>
          <p:cNvSpPr/>
          <p:nvPr/>
        </p:nvSpPr>
        <p:spPr>
          <a:xfrm>
            <a:off x="400050" y="746125"/>
            <a:ext cx="10629900" cy="17780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4311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185" y="-19062"/>
            <a:ext cx="7026910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400" spc="-10" dirty="0"/>
              <a:t>Majority Are Young, Male and New to the City</a:t>
            </a:r>
            <a:endParaRPr sz="2400"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354185" y="593725"/>
            <a:ext cx="5327652" cy="5394755"/>
            <a:chOff x="400049" y="794306"/>
            <a:chExt cx="5379085" cy="5188060"/>
          </a:xfrm>
        </p:grpSpPr>
        <p:sp>
          <p:nvSpPr>
            <p:cNvPr id="4" name="object 4"/>
            <p:cNvSpPr/>
            <p:nvPr/>
          </p:nvSpPr>
          <p:spPr>
            <a:xfrm>
              <a:off x="400049" y="844581"/>
              <a:ext cx="5379085" cy="5137785"/>
            </a:xfrm>
            <a:custGeom>
              <a:avLst/>
              <a:gdLst/>
              <a:ahLst/>
              <a:cxnLst/>
              <a:rect l="l" t="t" r="r" b="b"/>
              <a:pathLst>
                <a:path w="5379085" h="5137785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w="5379085" h="5137785">
                  <a:moveTo>
                    <a:pt x="5378957" y="5137784"/>
                  </a:moveTo>
                  <a:lnTo>
                    <a:pt x="5268844" y="5137784"/>
                  </a:lnTo>
                  <a:lnTo>
                    <a:pt x="5275627" y="5136435"/>
                  </a:lnTo>
                  <a:lnTo>
                    <a:pt x="5288650" y="5131040"/>
                  </a:lnTo>
                  <a:lnTo>
                    <a:pt x="5313600" y="5098462"/>
                  </a:lnTo>
                  <a:lnTo>
                    <a:pt x="5314949" y="5091682"/>
                  </a:lnTo>
                  <a:lnTo>
                    <a:pt x="5314949" y="46101"/>
                  </a:lnTo>
                  <a:lnTo>
                    <a:pt x="5294398" y="10583"/>
                  </a:lnTo>
                  <a:lnTo>
                    <a:pt x="5268847" y="0"/>
                  </a:lnTo>
                  <a:lnTo>
                    <a:pt x="5378957" y="0"/>
                  </a:lnTo>
                  <a:lnTo>
                    <a:pt x="5378957" y="5137784"/>
                  </a:lnTo>
                  <a:close/>
                </a:path>
                <a:path w="5379085" h="5137785">
                  <a:moveTo>
                    <a:pt x="46104" y="5137785"/>
                  </a:moveTo>
                  <a:lnTo>
                    <a:pt x="0" y="5137785"/>
                  </a:lnTo>
                  <a:lnTo>
                    <a:pt x="0" y="5091683"/>
                  </a:lnTo>
                  <a:lnTo>
                    <a:pt x="1348" y="5098462"/>
                  </a:lnTo>
                  <a:lnTo>
                    <a:pt x="6742" y="5111485"/>
                  </a:lnTo>
                  <a:lnTo>
                    <a:pt x="10583" y="5117233"/>
                  </a:lnTo>
                  <a:lnTo>
                    <a:pt x="20550" y="5127200"/>
                  </a:lnTo>
                  <a:lnTo>
                    <a:pt x="26298" y="5131040"/>
                  </a:lnTo>
                  <a:lnTo>
                    <a:pt x="39321" y="5136435"/>
                  </a:lnTo>
                  <a:lnTo>
                    <a:pt x="46104" y="513778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0049" y="794306"/>
              <a:ext cx="5314950" cy="5137785"/>
            </a:xfrm>
            <a:custGeom>
              <a:avLst/>
              <a:gdLst/>
              <a:ahLst/>
              <a:cxnLst/>
              <a:rect l="l" t="t" r="r" b="b"/>
              <a:pathLst>
                <a:path w="5314950" h="5137785">
                  <a:moveTo>
                    <a:pt x="5265290" y="5137784"/>
                  </a:moveTo>
                  <a:lnTo>
                    <a:pt x="49659" y="5137784"/>
                  </a:lnTo>
                  <a:lnTo>
                    <a:pt x="46203" y="5137444"/>
                  </a:lnTo>
                  <a:lnTo>
                    <a:pt x="10896" y="5117065"/>
                  </a:lnTo>
                  <a:lnTo>
                    <a:pt x="0" y="5088124"/>
                  </a:lnTo>
                  <a:lnTo>
                    <a:pt x="0" y="5084635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265290" y="0"/>
                  </a:lnTo>
                  <a:lnTo>
                    <a:pt x="5301850" y="18034"/>
                  </a:lnTo>
                  <a:lnTo>
                    <a:pt x="5314949" y="49659"/>
                  </a:lnTo>
                  <a:lnTo>
                    <a:pt x="5314949" y="5088124"/>
                  </a:lnTo>
                  <a:lnTo>
                    <a:pt x="5296914" y="5124685"/>
                  </a:lnTo>
                  <a:lnTo>
                    <a:pt x="5268746" y="5137444"/>
                  </a:lnTo>
                  <a:lnTo>
                    <a:pt x="5265290" y="5137784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658508" y="1211900"/>
            <a:ext cx="2798445" cy="2603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IN" sz="1600" b="1" spc="-20" dirty="0">
                <a:solidFill>
                  <a:srgbClr val="0070CD"/>
                </a:solidFill>
                <a:latin typeface="Times New Roman"/>
                <a:cs typeface="Times New Roman"/>
              </a:rPr>
              <a:t>Findings</a:t>
            </a:r>
            <a:r>
              <a:rPr sz="1600" b="1" spc="-15" dirty="0">
                <a:solidFill>
                  <a:srgbClr val="0070CD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0070CD"/>
                </a:solidFill>
                <a:latin typeface="Times New Roman"/>
                <a:cs typeface="Times New Roman"/>
              </a:rPr>
              <a:t>at</a:t>
            </a:r>
            <a:r>
              <a:rPr sz="1600" b="1" spc="-20" dirty="0">
                <a:solidFill>
                  <a:srgbClr val="0070CD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0070CD"/>
                </a:solidFill>
                <a:latin typeface="Times New Roman"/>
                <a:cs typeface="Times New Roman"/>
              </a:rPr>
              <a:t>a</a:t>
            </a:r>
            <a:r>
              <a:rPr sz="1600" b="1" spc="-15" dirty="0">
                <a:solidFill>
                  <a:srgbClr val="0070CD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0070CD"/>
                </a:solidFill>
                <a:latin typeface="Times New Roman"/>
                <a:cs typeface="Times New Roman"/>
              </a:rPr>
              <a:t>Glance: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9248" y="1783562"/>
            <a:ext cx="53340" cy="3587750"/>
          </a:xfrm>
          <a:custGeom>
            <a:avLst/>
            <a:gdLst/>
            <a:ahLst/>
            <a:cxnLst/>
            <a:rect l="l" t="t" r="r" b="b"/>
            <a:pathLst>
              <a:path w="53340" h="3587750">
                <a:moveTo>
                  <a:pt x="53162" y="3561016"/>
                </a:moveTo>
                <a:lnTo>
                  <a:pt x="30099" y="3534435"/>
                </a:lnTo>
                <a:lnTo>
                  <a:pt x="23063" y="3534435"/>
                </a:lnTo>
                <a:lnTo>
                  <a:pt x="0" y="3557486"/>
                </a:lnTo>
                <a:lnTo>
                  <a:pt x="0" y="3564534"/>
                </a:lnTo>
                <a:lnTo>
                  <a:pt x="23063" y="3587585"/>
                </a:lnTo>
                <a:lnTo>
                  <a:pt x="30099" y="3587585"/>
                </a:lnTo>
                <a:lnTo>
                  <a:pt x="53162" y="3561016"/>
                </a:lnTo>
                <a:close/>
              </a:path>
              <a:path w="53340" h="3587750">
                <a:moveTo>
                  <a:pt x="53162" y="3020657"/>
                </a:moveTo>
                <a:lnTo>
                  <a:pt x="30099" y="2994088"/>
                </a:lnTo>
                <a:lnTo>
                  <a:pt x="23063" y="2994088"/>
                </a:lnTo>
                <a:lnTo>
                  <a:pt x="0" y="3017139"/>
                </a:lnTo>
                <a:lnTo>
                  <a:pt x="0" y="3024187"/>
                </a:lnTo>
                <a:lnTo>
                  <a:pt x="23063" y="3047238"/>
                </a:lnTo>
                <a:lnTo>
                  <a:pt x="30099" y="3047238"/>
                </a:lnTo>
                <a:lnTo>
                  <a:pt x="53162" y="3020657"/>
                </a:lnTo>
                <a:close/>
              </a:path>
              <a:path w="53340" h="3587750">
                <a:moveTo>
                  <a:pt x="53162" y="2719476"/>
                </a:moveTo>
                <a:lnTo>
                  <a:pt x="30099" y="2692908"/>
                </a:lnTo>
                <a:lnTo>
                  <a:pt x="23063" y="2692908"/>
                </a:lnTo>
                <a:lnTo>
                  <a:pt x="0" y="2715958"/>
                </a:lnTo>
                <a:lnTo>
                  <a:pt x="0" y="2723007"/>
                </a:lnTo>
                <a:lnTo>
                  <a:pt x="23063" y="2746057"/>
                </a:lnTo>
                <a:lnTo>
                  <a:pt x="30099" y="2746057"/>
                </a:lnTo>
                <a:lnTo>
                  <a:pt x="53162" y="2719476"/>
                </a:lnTo>
                <a:close/>
              </a:path>
              <a:path w="53340" h="3587750">
                <a:moveTo>
                  <a:pt x="53162" y="2427160"/>
                </a:moveTo>
                <a:lnTo>
                  <a:pt x="30099" y="2400579"/>
                </a:lnTo>
                <a:lnTo>
                  <a:pt x="23063" y="2400579"/>
                </a:lnTo>
                <a:lnTo>
                  <a:pt x="0" y="2423630"/>
                </a:lnTo>
                <a:lnTo>
                  <a:pt x="0" y="2430678"/>
                </a:lnTo>
                <a:lnTo>
                  <a:pt x="23063" y="2453729"/>
                </a:lnTo>
                <a:lnTo>
                  <a:pt x="30099" y="2453729"/>
                </a:lnTo>
                <a:lnTo>
                  <a:pt x="53162" y="2427160"/>
                </a:lnTo>
                <a:close/>
              </a:path>
              <a:path w="53340" h="3587750">
                <a:moveTo>
                  <a:pt x="53162" y="1461604"/>
                </a:moveTo>
                <a:lnTo>
                  <a:pt x="30099" y="1435036"/>
                </a:lnTo>
                <a:lnTo>
                  <a:pt x="23063" y="1435036"/>
                </a:lnTo>
                <a:lnTo>
                  <a:pt x="0" y="1458087"/>
                </a:lnTo>
                <a:lnTo>
                  <a:pt x="0" y="1465135"/>
                </a:lnTo>
                <a:lnTo>
                  <a:pt x="23063" y="1488186"/>
                </a:lnTo>
                <a:lnTo>
                  <a:pt x="30099" y="1488186"/>
                </a:lnTo>
                <a:lnTo>
                  <a:pt x="53162" y="1461604"/>
                </a:lnTo>
                <a:close/>
              </a:path>
              <a:path w="53340" h="3587750">
                <a:moveTo>
                  <a:pt x="53162" y="921258"/>
                </a:moveTo>
                <a:lnTo>
                  <a:pt x="30099" y="894676"/>
                </a:lnTo>
                <a:lnTo>
                  <a:pt x="23063" y="894676"/>
                </a:lnTo>
                <a:lnTo>
                  <a:pt x="0" y="917727"/>
                </a:lnTo>
                <a:lnTo>
                  <a:pt x="0" y="924775"/>
                </a:lnTo>
                <a:lnTo>
                  <a:pt x="23063" y="947826"/>
                </a:lnTo>
                <a:lnTo>
                  <a:pt x="30099" y="947826"/>
                </a:lnTo>
                <a:lnTo>
                  <a:pt x="53162" y="921258"/>
                </a:lnTo>
                <a:close/>
              </a:path>
              <a:path w="53340" h="3587750">
                <a:moveTo>
                  <a:pt x="53162" y="620077"/>
                </a:moveTo>
                <a:lnTo>
                  <a:pt x="30099" y="593496"/>
                </a:lnTo>
                <a:lnTo>
                  <a:pt x="23063" y="593496"/>
                </a:lnTo>
                <a:lnTo>
                  <a:pt x="0" y="616546"/>
                </a:lnTo>
                <a:lnTo>
                  <a:pt x="0" y="623595"/>
                </a:lnTo>
                <a:lnTo>
                  <a:pt x="23063" y="646645"/>
                </a:lnTo>
                <a:lnTo>
                  <a:pt x="30099" y="646645"/>
                </a:lnTo>
                <a:lnTo>
                  <a:pt x="53162" y="620077"/>
                </a:lnTo>
                <a:close/>
              </a:path>
              <a:path w="53340" h="3587750">
                <a:moveTo>
                  <a:pt x="53162" y="327748"/>
                </a:moveTo>
                <a:lnTo>
                  <a:pt x="30099" y="301180"/>
                </a:lnTo>
                <a:lnTo>
                  <a:pt x="23063" y="301180"/>
                </a:lnTo>
                <a:lnTo>
                  <a:pt x="0" y="324231"/>
                </a:lnTo>
                <a:lnTo>
                  <a:pt x="0" y="331279"/>
                </a:lnTo>
                <a:lnTo>
                  <a:pt x="23063" y="354330"/>
                </a:lnTo>
                <a:lnTo>
                  <a:pt x="30099" y="354330"/>
                </a:lnTo>
                <a:lnTo>
                  <a:pt x="53162" y="327748"/>
                </a:lnTo>
                <a:close/>
              </a:path>
              <a:path w="53340" h="3587750">
                <a:moveTo>
                  <a:pt x="53162" y="26568"/>
                </a:moveTo>
                <a:lnTo>
                  <a:pt x="30099" y="0"/>
                </a:lnTo>
                <a:lnTo>
                  <a:pt x="23063" y="0"/>
                </a:lnTo>
                <a:lnTo>
                  <a:pt x="0" y="23050"/>
                </a:lnTo>
                <a:lnTo>
                  <a:pt x="0" y="30099"/>
                </a:lnTo>
                <a:lnTo>
                  <a:pt x="23063" y="53149"/>
                </a:lnTo>
                <a:lnTo>
                  <a:pt x="30099" y="53149"/>
                </a:lnTo>
                <a:lnTo>
                  <a:pt x="53162" y="265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85876" y="1642426"/>
            <a:ext cx="4294505" cy="17621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428625">
              <a:lnSpc>
                <a:spcPct val="134300"/>
              </a:lnSpc>
              <a:spcBef>
                <a:spcPts val="130"/>
              </a:spcBef>
            </a:pPr>
            <a:r>
              <a:rPr sz="1450" b="1" dirty="0">
                <a:latin typeface="Times New Roman"/>
                <a:cs typeface="Times New Roman"/>
              </a:rPr>
              <a:t>Age:</a:t>
            </a:r>
            <a:r>
              <a:rPr sz="1450" b="1" spc="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55%</a:t>
            </a:r>
            <a:r>
              <a:rPr sz="1450" spc="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of</a:t>
            </a:r>
            <a:r>
              <a:rPr sz="1450" spc="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customers</a:t>
            </a:r>
            <a:r>
              <a:rPr sz="1450" spc="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are</a:t>
            </a:r>
            <a:r>
              <a:rPr sz="1450" spc="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26-45</a:t>
            </a:r>
            <a:r>
              <a:rPr sz="1450" spc="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years</a:t>
            </a:r>
            <a:r>
              <a:rPr sz="1450" spc="15" dirty="0">
                <a:latin typeface="Times New Roman"/>
                <a:cs typeface="Times New Roman"/>
              </a:rPr>
              <a:t> </a:t>
            </a:r>
            <a:r>
              <a:rPr sz="1450" spc="-25" dirty="0">
                <a:latin typeface="Times New Roman"/>
                <a:cs typeface="Times New Roman"/>
              </a:rPr>
              <a:t>old </a:t>
            </a:r>
            <a:r>
              <a:rPr sz="1450" b="1" dirty="0">
                <a:latin typeface="Times New Roman"/>
                <a:cs typeface="Times New Roman"/>
              </a:rPr>
              <a:t>Gender:</a:t>
            </a:r>
            <a:r>
              <a:rPr sz="1450" b="1" spc="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72%</a:t>
            </a:r>
            <a:r>
              <a:rPr sz="1450" spc="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male</a:t>
            </a:r>
            <a:r>
              <a:rPr sz="1450" spc="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vs</a:t>
            </a:r>
            <a:r>
              <a:rPr sz="1450" spc="3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28%</a:t>
            </a:r>
            <a:r>
              <a:rPr sz="1450" spc="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female</a:t>
            </a:r>
            <a:r>
              <a:rPr sz="1450" spc="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customer</a:t>
            </a:r>
            <a:r>
              <a:rPr sz="1450" spc="25" dirty="0">
                <a:latin typeface="Times New Roman"/>
                <a:cs typeface="Times New Roman"/>
              </a:rPr>
              <a:t> </a:t>
            </a:r>
            <a:r>
              <a:rPr sz="1450" spc="-20" dirty="0">
                <a:latin typeface="Times New Roman"/>
                <a:cs typeface="Times New Roman"/>
              </a:rPr>
              <a:t>base </a:t>
            </a:r>
            <a:r>
              <a:rPr sz="1450" b="1" dirty="0">
                <a:latin typeface="Times New Roman"/>
                <a:cs typeface="Times New Roman"/>
              </a:rPr>
              <a:t>City:</a:t>
            </a:r>
            <a:r>
              <a:rPr sz="1450" b="1" spc="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53%</a:t>
            </a:r>
            <a:r>
              <a:rPr sz="1450" spc="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in</a:t>
            </a:r>
            <a:r>
              <a:rPr sz="1450" spc="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City</a:t>
            </a:r>
            <a:r>
              <a:rPr sz="1450" spc="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C,</a:t>
            </a:r>
            <a:r>
              <a:rPr sz="1450" spc="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29%</a:t>
            </a:r>
            <a:r>
              <a:rPr sz="1450" spc="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in</a:t>
            </a:r>
            <a:r>
              <a:rPr sz="1450" spc="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City</a:t>
            </a:r>
            <a:r>
              <a:rPr sz="1450" spc="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B,</a:t>
            </a:r>
            <a:r>
              <a:rPr sz="1450" spc="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18%</a:t>
            </a:r>
            <a:r>
              <a:rPr sz="1450" spc="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in</a:t>
            </a:r>
            <a:r>
              <a:rPr sz="1450" spc="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City</a:t>
            </a:r>
            <a:r>
              <a:rPr sz="1450" spc="-75" dirty="0">
                <a:latin typeface="Times New Roman"/>
                <a:cs typeface="Times New Roman"/>
              </a:rPr>
              <a:t> </a:t>
            </a:r>
            <a:r>
              <a:rPr sz="1450" spc="-50" dirty="0">
                <a:latin typeface="Times New Roman"/>
                <a:cs typeface="Times New Roman"/>
              </a:rPr>
              <a:t>A</a:t>
            </a:r>
            <a:endParaRPr sz="1450" dirty="0">
              <a:latin typeface="Times New Roman"/>
              <a:cs typeface="Times New Roman"/>
            </a:endParaRPr>
          </a:p>
          <a:p>
            <a:pPr marL="12700" marR="5080">
              <a:lnSpc>
                <a:spcPct val="108200"/>
              </a:lnSpc>
              <a:spcBef>
                <a:spcPts val="490"/>
              </a:spcBef>
            </a:pPr>
            <a:r>
              <a:rPr sz="1450" b="1" dirty="0">
                <a:latin typeface="Times New Roman"/>
                <a:cs typeface="Times New Roman"/>
              </a:rPr>
              <a:t>City</a:t>
            </a:r>
            <a:r>
              <a:rPr sz="1450" b="1" spc="15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Stay:</a:t>
            </a:r>
            <a:r>
              <a:rPr sz="1450" b="1" spc="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35%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are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1-year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residents,</a:t>
            </a:r>
            <a:r>
              <a:rPr sz="1450" spc="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only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15%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stayed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spc="-25" dirty="0">
                <a:latin typeface="Times New Roman"/>
                <a:cs typeface="Times New Roman"/>
              </a:rPr>
              <a:t>4+ </a:t>
            </a:r>
            <a:r>
              <a:rPr sz="1450" spc="-10" dirty="0">
                <a:latin typeface="Times New Roman"/>
                <a:cs typeface="Times New Roman"/>
              </a:rPr>
              <a:t>years</a:t>
            </a:r>
            <a:endParaRPr sz="1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450" b="1" dirty="0">
                <a:latin typeface="Times New Roman"/>
                <a:cs typeface="Times New Roman"/>
              </a:rPr>
              <a:t>Marital</a:t>
            </a:r>
            <a:r>
              <a:rPr sz="1450" b="1" spc="15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Status:</a:t>
            </a:r>
            <a:r>
              <a:rPr sz="1450" b="1" spc="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58%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single,</a:t>
            </a:r>
            <a:r>
              <a:rPr sz="1450" spc="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42%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married</a:t>
            </a:r>
            <a:endParaRPr sz="145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7579" y="3612486"/>
            <a:ext cx="2019935" cy="2603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IN" sz="1600" b="1" spc="-60" dirty="0">
                <a:solidFill>
                  <a:srgbClr val="0070CD"/>
                </a:solidFill>
                <a:latin typeface="Times New Roman"/>
                <a:cs typeface="Times New Roman"/>
              </a:rPr>
              <a:t>Insights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4868" y="3996048"/>
            <a:ext cx="4431030" cy="169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5"/>
              </a:spcBef>
            </a:pPr>
            <a:r>
              <a:rPr sz="1450" dirty="0">
                <a:latin typeface="Times New Roman"/>
                <a:cs typeface="Times New Roman"/>
              </a:rPr>
              <a:t>Focus</a:t>
            </a:r>
            <a:r>
              <a:rPr sz="1450" spc="3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on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male-oriented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marketing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and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store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experience Target</a:t>
            </a:r>
            <a:r>
              <a:rPr sz="1450" spc="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working-age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adults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(26-45)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as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primary</a:t>
            </a:r>
            <a:r>
              <a:rPr sz="1450" spc="1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demographic</a:t>
            </a:r>
            <a:endParaRPr sz="1450">
              <a:latin typeface="Times New Roman"/>
              <a:cs typeface="Times New Roman"/>
            </a:endParaRPr>
          </a:p>
          <a:p>
            <a:pPr marL="12700" marR="391160">
              <a:lnSpc>
                <a:spcPct val="108200"/>
              </a:lnSpc>
              <a:spcBef>
                <a:spcPts val="490"/>
              </a:spcBef>
            </a:pPr>
            <a:r>
              <a:rPr sz="1450" dirty="0">
                <a:latin typeface="Times New Roman"/>
                <a:cs typeface="Times New Roman"/>
              </a:rPr>
              <a:t>Develop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City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C-specific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strategies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to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capture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majority market</a:t>
            </a:r>
            <a:endParaRPr sz="1450">
              <a:latin typeface="Times New Roman"/>
              <a:cs typeface="Times New Roman"/>
            </a:endParaRPr>
          </a:p>
          <a:p>
            <a:pPr marL="12700" marR="534035">
              <a:lnSpc>
                <a:spcPct val="108200"/>
              </a:lnSpc>
              <a:spcBef>
                <a:spcPts val="489"/>
              </a:spcBef>
            </a:pPr>
            <a:r>
              <a:rPr sz="1450" dirty="0">
                <a:latin typeface="Times New Roman"/>
                <a:cs typeface="Times New Roman"/>
              </a:rPr>
              <a:t>Create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programs</a:t>
            </a:r>
            <a:r>
              <a:rPr sz="1450" spc="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for</a:t>
            </a:r>
            <a:r>
              <a:rPr sz="1450" spc="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new</a:t>
            </a:r>
            <a:r>
              <a:rPr sz="1450" spc="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residents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who</a:t>
            </a:r>
            <a:r>
              <a:rPr sz="1450" spc="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form</a:t>
            </a:r>
            <a:r>
              <a:rPr sz="1450" spc="2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largest segment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827775" y="822325"/>
            <a:ext cx="2786380" cy="1783080"/>
            <a:chOff x="5827775" y="844581"/>
            <a:chExt cx="2786380" cy="1783080"/>
          </a:xfrm>
        </p:grpSpPr>
        <p:sp>
          <p:nvSpPr>
            <p:cNvPr id="12" name="object 12"/>
            <p:cNvSpPr/>
            <p:nvPr/>
          </p:nvSpPr>
          <p:spPr>
            <a:xfrm>
              <a:off x="5827775" y="844581"/>
              <a:ext cx="2786380" cy="1783080"/>
            </a:xfrm>
            <a:custGeom>
              <a:avLst/>
              <a:gdLst/>
              <a:ahLst/>
              <a:cxnLst/>
              <a:rect l="l" t="t" r="r" b="b"/>
              <a:pathLst>
                <a:path w="2786379" h="1783080">
                  <a:moveTo>
                    <a:pt x="2785871" y="1782794"/>
                  </a:moveTo>
                  <a:lnTo>
                    <a:pt x="0" y="1782794"/>
                  </a:lnTo>
                  <a:lnTo>
                    <a:pt x="0" y="0"/>
                  </a:lnTo>
                  <a:lnTo>
                    <a:pt x="110489" y="0"/>
                  </a:lnTo>
                  <a:lnTo>
                    <a:pt x="103710" y="1348"/>
                  </a:lnTo>
                  <a:lnTo>
                    <a:pt x="90686" y="6742"/>
                  </a:lnTo>
                  <a:lnTo>
                    <a:pt x="65737" y="39321"/>
                  </a:lnTo>
                  <a:lnTo>
                    <a:pt x="64388" y="46101"/>
                  </a:lnTo>
                  <a:lnTo>
                    <a:pt x="64388" y="1654682"/>
                  </a:lnTo>
                  <a:lnTo>
                    <a:pt x="84939" y="1690200"/>
                  </a:lnTo>
                  <a:lnTo>
                    <a:pt x="110489" y="1700783"/>
                  </a:lnTo>
                  <a:lnTo>
                    <a:pt x="2785871" y="1700783"/>
                  </a:lnTo>
                  <a:lnTo>
                    <a:pt x="2785871" y="1782794"/>
                  </a:lnTo>
                  <a:close/>
                </a:path>
                <a:path w="2786379" h="1783080">
                  <a:moveTo>
                    <a:pt x="2785871" y="1700783"/>
                  </a:moveTo>
                  <a:lnTo>
                    <a:pt x="2675762" y="1700783"/>
                  </a:lnTo>
                  <a:lnTo>
                    <a:pt x="2682541" y="1699435"/>
                  </a:lnTo>
                  <a:lnTo>
                    <a:pt x="2695564" y="1694040"/>
                  </a:lnTo>
                  <a:lnTo>
                    <a:pt x="2720514" y="1661462"/>
                  </a:lnTo>
                  <a:lnTo>
                    <a:pt x="2721863" y="1654682"/>
                  </a:lnTo>
                  <a:lnTo>
                    <a:pt x="2721863" y="46101"/>
                  </a:lnTo>
                  <a:lnTo>
                    <a:pt x="2701312" y="10583"/>
                  </a:lnTo>
                  <a:lnTo>
                    <a:pt x="2675762" y="0"/>
                  </a:lnTo>
                  <a:lnTo>
                    <a:pt x="2785871" y="0"/>
                  </a:lnTo>
                  <a:lnTo>
                    <a:pt x="2785871" y="1700783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92164" y="844581"/>
              <a:ext cx="2657475" cy="1701164"/>
            </a:xfrm>
            <a:custGeom>
              <a:avLst/>
              <a:gdLst/>
              <a:ahLst/>
              <a:cxnLst/>
              <a:rect l="l" t="t" r="r" b="b"/>
              <a:pathLst>
                <a:path w="2657475" h="1701164">
                  <a:moveTo>
                    <a:pt x="2607814" y="1700783"/>
                  </a:moveTo>
                  <a:lnTo>
                    <a:pt x="49659" y="1700783"/>
                  </a:lnTo>
                  <a:lnTo>
                    <a:pt x="46203" y="1700443"/>
                  </a:lnTo>
                  <a:lnTo>
                    <a:pt x="10896" y="1680064"/>
                  </a:lnTo>
                  <a:lnTo>
                    <a:pt x="0" y="1651124"/>
                  </a:lnTo>
                  <a:lnTo>
                    <a:pt x="0" y="1647634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2607814" y="0"/>
                  </a:lnTo>
                  <a:lnTo>
                    <a:pt x="2644374" y="18034"/>
                  </a:lnTo>
                  <a:lnTo>
                    <a:pt x="2657474" y="49659"/>
                  </a:lnTo>
                  <a:lnTo>
                    <a:pt x="2657474" y="1651124"/>
                  </a:lnTo>
                  <a:lnTo>
                    <a:pt x="2639439" y="1687684"/>
                  </a:lnTo>
                  <a:lnTo>
                    <a:pt x="2611270" y="1700443"/>
                  </a:lnTo>
                  <a:lnTo>
                    <a:pt x="2607814" y="1700783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565979" y="1147235"/>
            <a:ext cx="1451610" cy="681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244" marR="5080" indent="-43180">
              <a:lnSpc>
                <a:spcPct val="110300"/>
              </a:lnSpc>
              <a:spcBef>
                <a:spcPts val="100"/>
              </a:spcBef>
            </a:pPr>
            <a:r>
              <a:rPr sz="1950" dirty="0">
                <a:latin typeface="Times New Roman"/>
                <a:cs typeface="Times New Roman"/>
              </a:rPr>
              <a:t>Customer</a:t>
            </a:r>
            <a:r>
              <a:rPr sz="1950" spc="-110" dirty="0">
                <a:latin typeface="Times New Roman"/>
                <a:cs typeface="Times New Roman"/>
              </a:rPr>
              <a:t> </a:t>
            </a:r>
            <a:r>
              <a:rPr sz="1950" spc="-25" dirty="0">
                <a:latin typeface="Times New Roman"/>
                <a:cs typeface="Times New Roman"/>
              </a:rPr>
              <a:t>Age </a:t>
            </a:r>
            <a:r>
              <a:rPr sz="1950" spc="-10" dirty="0">
                <a:latin typeface="Times New Roman"/>
                <a:cs typeface="Times New Roman"/>
              </a:rPr>
              <a:t>Distribution</a:t>
            </a:r>
            <a:endParaRPr sz="1950" dirty="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662415" y="844581"/>
            <a:ext cx="2367915" cy="1783080"/>
            <a:chOff x="8662415" y="844581"/>
            <a:chExt cx="2367915" cy="1783080"/>
          </a:xfrm>
        </p:grpSpPr>
        <p:sp>
          <p:nvSpPr>
            <p:cNvPr id="17" name="object 17"/>
            <p:cNvSpPr/>
            <p:nvPr/>
          </p:nvSpPr>
          <p:spPr>
            <a:xfrm>
              <a:off x="8662415" y="844581"/>
              <a:ext cx="2367915" cy="1783080"/>
            </a:xfrm>
            <a:custGeom>
              <a:avLst/>
              <a:gdLst/>
              <a:ahLst/>
              <a:cxnLst/>
              <a:rect l="l" t="t" r="r" b="b"/>
              <a:pathLst>
                <a:path w="2367915" h="1783080">
                  <a:moveTo>
                    <a:pt x="2367533" y="1782794"/>
                  </a:moveTo>
                  <a:lnTo>
                    <a:pt x="0" y="1782794"/>
                  </a:lnTo>
                  <a:lnTo>
                    <a:pt x="0" y="0"/>
                  </a:lnTo>
                  <a:lnTo>
                    <a:pt x="110489" y="0"/>
                  </a:lnTo>
                  <a:lnTo>
                    <a:pt x="103710" y="1348"/>
                  </a:lnTo>
                  <a:lnTo>
                    <a:pt x="90686" y="6742"/>
                  </a:lnTo>
                  <a:lnTo>
                    <a:pt x="65736" y="39321"/>
                  </a:lnTo>
                  <a:lnTo>
                    <a:pt x="64388" y="46101"/>
                  </a:lnTo>
                  <a:lnTo>
                    <a:pt x="64388" y="1654682"/>
                  </a:lnTo>
                  <a:lnTo>
                    <a:pt x="84939" y="1690200"/>
                  </a:lnTo>
                  <a:lnTo>
                    <a:pt x="110489" y="1700783"/>
                  </a:lnTo>
                  <a:lnTo>
                    <a:pt x="2367533" y="1700783"/>
                  </a:lnTo>
                  <a:lnTo>
                    <a:pt x="2367533" y="178279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726804" y="844581"/>
              <a:ext cx="2303145" cy="1701164"/>
            </a:xfrm>
            <a:custGeom>
              <a:avLst/>
              <a:gdLst/>
              <a:ahLst/>
              <a:cxnLst/>
              <a:rect l="l" t="t" r="r" b="b"/>
              <a:pathLst>
                <a:path w="2303145" h="1701164">
                  <a:moveTo>
                    <a:pt x="2303145" y="1700784"/>
                  </a:moveTo>
                  <a:lnTo>
                    <a:pt x="49660" y="1700783"/>
                  </a:lnTo>
                  <a:lnTo>
                    <a:pt x="13099" y="1682748"/>
                  </a:lnTo>
                  <a:lnTo>
                    <a:pt x="0" y="1651124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60" y="0"/>
                  </a:lnTo>
                  <a:lnTo>
                    <a:pt x="2303145" y="0"/>
                  </a:lnTo>
                  <a:lnTo>
                    <a:pt x="2303145" y="1700784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5827775" y="2676143"/>
            <a:ext cx="2786380" cy="1819910"/>
            <a:chOff x="5827775" y="2676143"/>
            <a:chExt cx="2786380" cy="1819910"/>
          </a:xfrm>
        </p:grpSpPr>
        <p:sp>
          <p:nvSpPr>
            <p:cNvPr id="22" name="object 22"/>
            <p:cNvSpPr/>
            <p:nvPr/>
          </p:nvSpPr>
          <p:spPr>
            <a:xfrm>
              <a:off x="5827775" y="2676143"/>
              <a:ext cx="2786380" cy="1819910"/>
            </a:xfrm>
            <a:custGeom>
              <a:avLst/>
              <a:gdLst/>
              <a:ahLst/>
              <a:cxnLst/>
              <a:rect l="l" t="t" r="r" b="b"/>
              <a:pathLst>
                <a:path w="2786379" h="1819910">
                  <a:moveTo>
                    <a:pt x="2785871" y="1819655"/>
                  </a:moveTo>
                  <a:lnTo>
                    <a:pt x="0" y="1819655"/>
                  </a:lnTo>
                  <a:lnTo>
                    <a:pt x="0" y="0"/>
                  </a:lnTo>
                  <a:lnTo>
                    <a:pt x="2785871" y="0"/>
                  </a:lnTo>
                  <a:lnTo>
                    <a:pt x="2785871" y="46386"/>
                  </a:lnTo>
                  <a:lnTo>
                    <a:pt x="110489" y="46386"/>
                  </a:lnTo>
                  <a:lnTo>
                    <a:pt x="103710" y="47735"/>
                  </a:lnTo>
                  <a:lnTo>
                    <a:pt x="71131" y="72685"/>
                  </a:lnTo>
                  <a:lnTo>
                    <a:pt x="64388" y="92487"/>
                  </a:lnTo>
                  <a:lnTo>
                    <a:pt x="64388" y="1692210"/>
                  </a:lnTo>
                  <a:lnTo>
                    <a:pt x="84939" y="1727728"/>
                  </a:lnTo>
                  <a:lnTo>
                    <a:pt x="110489" y="1738312"/>
                  </a:lnTo>
                  <a:lnTo>
                    <a:pt x="2785871" y="1738312"/>
                  </a:lnTo>
                  <a:lnTo>
                    <a:pt x="2785871" y="1819655"/>
                  </a:lnTo>
                  <a:close/>
                </a:path>
                <a:path w="2786379" h="1819910">
                  <a:moveTo>
                    <a:pt x="2785871" y="1738312"/>
                  </a:moveTo>
                  <a:lnTo>
                    <a:pt x="2675762" y="1738312"/>
                  </a:lnTo>
                  <a:lnTo>
                    <a:pt x="2682541" y="1736963"/>
                  </a:lnTo>
                  <a:lnTo>
                    <a:pt x="2695564" y="1731569"/>
                  </a:lnTo>
                  <a:lnTo>
                    <a:pt x="2720514" y="1698990"/>
                  </a:lnTo>
                  <a:lnTo>
                    <a:pt x="2721863" y="1692210"/>
                  </a:lnTo>
                  <a:lnTo>
                    <a:pt x="2721863" y="92487"/>
                  </a:lnTo>
                  <a:lnTo>
                    <a:pt x="2701312" y="56969"/>
                  </a:lnTo>
                  <a:lnTo>
                    <a:pt x="2675762" y="46386"/>
                  </a:lnTo>
                  <a:lnTo>
                    <a:pt x="2785871" y="46386"/>
                  </a:lnTo>
                  <a:lnTo>
                    <a:pt x="2785871" y="1738312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92164" y="2722530"/>
              <a:ext cx="2657475" cy="1692275"/>
            </a:xfrm>
            <a:custGeom>
              <a:avLst/>
              <a:gdLst/>
              <a:ahLst/>
              <a:cxnLst/>
              <a:rect l="l" t="t" r="r" b="b"/>
              <a:pathLst>
                <a:path w="2657475" h="1692275">
                  <a:moveTo>
                    <a:pt x="2607814" y="1691925"/>
                  </a:moveTo>
                  <a:lnTo>
                    <a:pt x="49659" y="1691925"/>
                  </a:lnTo>
                  <a:lnTo>
                    <a:pt x="46203" y="1691585"/>
                  </a:lnTo>
                  <a:lnTo>
                    <a:pt x="10896" y="1671205"/>
                  </a:lnTo>
                  <a:lnTo>
                    <a:pt x="0" y="1642265"/>
                  </a:lnTo>
                  <a:lnTo>
                    <a:pt x="0" y="1638775"/>
                  </a:lnTo>
                  <a:lnTo>
                    <a:pt x="0" y="49659"/>
                  </a:lnTo>
                  <a:lnTo>
                    <a:pt x="18034" y="13098"/>
                  </a:lnTo>
                  <a:lnTo>
                    <a:pt x="49659" y="0"/>
                  </a:lnTo>
                  <a:lnTo>
                    <a:pt x="2607814" y="0"/>
                  </a:lnTo>
                  <a:lnTo>
                    <a:pt x="2644374" y="18034"/>
                  </a:lnTo>
                  <a:lnTo>
                    <a:pt x="2657474" y="49659"/>
                  </a:lnTo>
                  <a:lnTo>
                    <a:pt x="2657474" y="1642265"/>
                  </a:lnTo>
                  <a:lnTo>
                    <a:pt x="2639439" y="1678825"/>
                  </a:lnTo>
                  <a:lnTo>
                    <a:pt x="2611270" y="1691585"/>
                  </a:lnTo>
                  <a:lnTo>
                    <a:pt x="2607814" y="1691925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8662415" y="2676143"/>
            <a:ext cx="2367915" cy="1819910"/>
            <a:chOff x="8662415" y="2676143"/>
            <a:chExt cx="2367915" cy="1819910"/>
          </a:xfrm>
        </p:grpSpPr>
        <p:sp>
          <p:nvSpPr>
            <p:cNvPr id="27" name="object 27"/>
            <p:cNvSpPr/>
            <p:nvPr/>
          </p:nvSpPr>
          <p:spPr>
            <a:xfrm>
              <a:off x="8662415" y="2676143"/>
              <a:ext cx="2367915" cy="1819910"/>
            </a:xfrm>
            <a:custGeom>
              <a:avLst/>
              <a:gdLst/>
              <a:ahLst/>
              <a:cxnLst/>
              <a:rect l="l" t="t" r="r" b="b"/>
              <a:pathLst>
                <a:path w="2367915" h="1819910">
                  <a:moveTo>
                    <a:pt x="2367533" y="1819655"/>
                  </a:moveTo>
                  <a:lnTo>
                    <a:pt x="0" y="1819655"/>
                  </a:lnTo>
                  <a:lnTo>
                    <a:pt x="0" y="0"/>
                  </a:lnTo>
                  <a:lnTo>
                    <a:pt x="2367533" y="0"/>
                  </a:lnTo>
                  <a:lnTo>
                    <a:pt x="2367533" y="46386"/>
                  </a:lnTo>
                  <a:lnTo>
                    <a:pt x="110489" y="46386"/>
                  </a:lnTo>
                  <a:lnTo>
                    <a:pt x="103710" y="47735"/>
                  </a:lnTo>
                  <a:lnTo>
                    <a:pt x="71130" y="72685"/>
                  </a:lnTo>
                  <a:lnTo>
                    <a:pt x="64388" y="92487"/>
                  </a:lnTo>
                  <a:lnTo>
                    <a:pt x="64388" y="1692210"/>
                  </a:lnTo>
                  <a:lnTo>
                    <a:pt x="84939" y="1727728"/>
                  </a:lnTo>
                  <a:lnTo>
                    <a:pt x="110491" y="1738312"/>
                  </a:lnTo>
                  <a:lnTo>
                    <a:pt x="2367533" y="1738312"/>
                  </a:lnTo>
                  <a:lnTo>
                    <a:pt x="2367533" y="181965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26804" y="2722530"/>
              <a:ext cx="2303145" cy="1692275"/>
            </a:xfrm>
            <a:custGeom>
              <a:avLst/>
              <a:gdLst/>
              <a:ahLst/>
              <a:cxnLst/>
              <a:rect l="l" t="t" r="r" b="b"/>
              <a:pathLst>
                <a:path w="2303145" h="1692275">
                  <a:moveTo>
                    <a:pt x="2303145" y="1691925"/>
                  </a:moveTo>
                  <a:lnTo>
                    <a:pt x="49660" y="1691925"/>
                  </a:lnTo>
                  <a:lnTo>
                    <a:pt x="46203" y="1691585"/>
                  </a:lnTo>
                  <a:lnTo>
                    <a:pt x="10896" y="1671205"/>
                  </a:lnTo>
                  <a:lnTo>
                    <a:pt x="0" y="1642266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2303145" y="0"/>
                  </a:lnTo>
                  <a:lnTo>
                    <a:pt x="2303145" y="1691925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5827775" y="4544567"/>
            <a:ext cx="5202555" cy="1438339"/>
            <a:chOff x="5827775" y="4544567"/>
            <a:chExt cx="5202555" cy="1438339"/>
          </a:xfrm>
        </p:grpSpPr>
        <p:sp>
          <p:nvSpPr>
            <p:cNvPr id="32" name="object 32"/>
            <p:cNvSpPr/>
            <p:nvPr/>
          </p:nvSpPr>
          <p:spPr>
            <a:xfrm>
              <a:off x="5827775" y="4544567"/>
              <a:ext cx="5202555" cy="1438275"/>
            </a:xfrm>
            <a:custGeom>
              <a:avLst/>
              <a:gdLst/>
              <a:ahLst/>
              <a:cxnLst/>
              <a:rect l="l" t="t" r="r" b="b"/>
              <a:pathLst>
                <a:path w="5202555" h="1438275">
                  <a:moveTo>
                    <a:pt x="64388" y="1437798"/>
                  </a:moveTo>
                  <a:lnTo>
                    <a:pt x="0" y="1437798"/>
                  </a:lnTo>
                  <a:lnTo>
                    <a:pt x="0" y="0"/>
                  </a:lnTo>
                  <a:lnTo>
                    <a:pt x="5202173" y="0"/>
                  </a:lnTo>
                  <a:lnTo>
                    <a:pt x="5202173" y="47053"/>
                  </a:lnTo>
                  <a:lnTo>
                    <a:pt x="110489" y="47053"/>
                  </a:lnTo>
                  <a:lnTo>
                    <a:pt x="103710" y="48401"/>
                  </a:lnTo>
                  <a:lnTo>
                    <a:pt x="71131" y="73351"/>
                  </a:lnTo>
                  <a:lnTo>
                    <a:pt x="64388" y="93154"/>
                  </a:lnTo>
                  <a:lnTo>
                    <a:pt x="64388" y="1437798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892164" y="4591621"/>
              <a:ext cx="5137785" cy="1391285"/>
            </a:xfrm>
            <a:custGeom>
              <a:avLst/>
              <a:gdLst/>
              <a:ahLst/>
              <a:cxnLst/>
              <a:rect l="l" t="t" r="r" b="b"/>
              <a:pathLst>
                <a:path w="5137784" h="1391285">
                  <a:moveTo>
                    <a:pt x="5137785" y="1390745"/>
                  </a:moveTo>
                  <a:lnTo>
                    <a:pt x="0" y="1390745"/>
                  </a:lnTo>
                  <a:lnTo>
                    <a:pt x="0" y="49659"/>
                  </a:lnTo>
                  <a:lnTo>
                    <a:pt x="18034" y="13098"/>
                  </a:lnTo>
                  <a:lnTo>
                    <a:pt x="49659" y="0"/>
                  </a:lnTo>
                  <a:lnTo>
                    <a:pt x="5137785" y="0"/>
                  </a:lnTo>
                  <a:lnTo>
                    <a:pt x="5137785" y="1390745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64514" y="6168091"/>
            <a:ext cx="297624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10" dirty="0">
                <a:solidFill>
                  <a:srgbClr val="333333"/>
                </a:solidFill>
                <a:latin typeface="Times New Roman"/>
                <a:cs typeface="Times New Roman"/>
              </a:rPr>
              <a:t>Walmart</a:t>
            </a:r>
            <a:r>
              <a:rPr sz="135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33333"/>
                </a:solidFill>
                <a:latin typeface="Times New Roman"/>
                <a:cs typeface="Times New Roman"/>
              </a:rPr>
              <a:t>Customer</a:t>
            </a:r>
            <a:r>
              <a:rPr sz="135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33333"/>
                </a:solidFill>
                <a:latin typeface="Times New Roman"/>
                <a:cs typeface="Times New Roman"/>
              </a:rPr>
              <a:t>Segmentation</a:t>
            </a:r>
            <a:r>
              <a:rPr sz="1350" spc="-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333333"/>
                </a:solidFill>
                <a:latin typeface="Times New Roman"/>
                <a:cs typeface="Times New Roman"/>
              </a:rPr>
              <a:t>Analysis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972391" y="6168091"/>
            <a:ext cx="893444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10" dirty="0">
                <a:solidFill>
                  <a:srgbClr val="333333"/>
                </a:solidFill>
                <a:latin typeface="Times New Roman"/>
                <a:cs typeface="Times New Roman"/>
              </a:rPr>
              <a:t>Confidential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14299" y="6305549"/>
            <a:ext cx="371475" cy="247650"/>
          </a:xfrm>
          <a:custGeom>
            <a:avLst/>
            <a:gdLst/>
            <a:ahLst/>
            <a:cxnLst/>
            <a:rect l="l" t="t" r="r" b="b"/>
            <a:pathLst>
              <a:path w="371475" h="247650">
                <a:moveTo>
                  <a:pt x="371474" y="247649"/>
                </a:moveTo>
                <a:lnTo>
                  <a:pt x="0" y="247649"/>
                </a:lnTo>
                <a:lnTo>
                  <a:pt x="0" y="0"/>
                </a:lnTo>
                <a:lnTo>
                  <a:pt x="371474" y="0"/>
                </a:lnTo>
                <a:lnTo>
                  <a:pt x="371474" y="24764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49224" y="6330949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900" spc="2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900" spc="2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1" name="Picture 40" descr="A pie chart with numbers and a number of people with Crust in the background&#10;&#10;AI-generated content may be incorrect.">
            <a:extLst>
              <a:ext uri="{FF2B5EF4-FFF2-40B4-BE49-F238E27FC236}">
                <a16:creationId xmlns:a16="http://schemas.microsoft.com/office/drawing/2014/main" id="{6C779C97-C64C-AF29-547B-C1D85E7196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967" y="643954"/>
            <a:ext cx="2705458" cy="1950941"/>
          </a:xfrm>
          <a:prstGeom prst="rect">
            <a:avLst/>
          </a:prstGeom>
        </p:spPr>
      </p:pic>
      <p:pic>
        <p:nvPicPr>
          <p:cNvPr id="43" name="Picture 42" descr="A red and blue pie chart&#10;&#10;AI-generated content may be incorrect.">
            <a:extLst>
              <a:ext uri="{FF2B5EF4-FFF2-40B4-BE49-F238E27FC236}">
                <a16:creationId xmlns:a16="http://schemas.microsoft.com/office/drawing/2014/main" id="{ACF06970-A7C4-2ECA-8242-FD5C264720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713" y="659396"/>
            <a:ext cx="2380236" cy="1877949"/>
          </a:xfrm>
          <a:prstGeom prst="rect">
            <a:avLst/>
          </a:prstGeom>
        </p:spPr>
      </p:pic>
      <p:pic>
        <p:nvPicPr>
          <p:cNvPr id="45" name="Picture 44" descr="A screenshot of a graph&#10;&#10;AI-generated content may be incorrect.">
            <a:extLst>
              <a:ext uri="{FF2B5EF4-FFF2-40B4-BE49-F238E27FC236}">
                <a16:creationId xmlns:a16="http://schemas.microsoft.com/office/drawing/2014/main" id="{BAE5D34B-01C5-ABA5-0443-1EC4211BF1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180" y="2698271"/>
            <a:ext cx="2722245" cy="1731754"/>
          </a:xfrm>
          <a:prstGeom prst="rect">
            <a:avLst/>
          </a:prstGeom>
        </p:spPr>
      </p:pic>
      <p:pic>
        <p:nvPicPr>
          <p:cNvPr id="47" name="Picture 46" descr="A blue and red pie chart&#10;&#10;AI-generated content may be incorrect.">
            <a:extLst>
              <a:ext uri="{FF2B5EF4-FFF2-40B4-BE49-F238E27FC236}">
                <a16:creationId xmlns:a16="http://schemas.microsoft.com/office/drawing/2014/main" id="{2F55C4F2-26AA-79DF-4D94-F48C1E109A7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713" y="2674715"/>
            <a:ext cx="2362223" cy="1778743"/>
          </a:xfrm>
          <a:prstGeom prst="rect">
            <a:avLst/>
          </a:prstGeom>
        </p:spPr>
      </p:pic>
      <p:pic>
        <p:nvPicPr>
          <p:cNvPr id="49" name="Picture 48" descr="A graph of blue bars&#10;&#10;AI-generated content may be incorrect.">
            <a:extLst>
              <a:ext uri="{FF2B5EF4-FFF2-40B4-BE49-F238E27FC236}">
                <a16:creationId xmlns:a16="http://schemas.microsoft.com/office/drawing/2014/main" id="{A9B84260-D4CE-D60E-A98E-B091D797EA2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42" y="4518181"/>
            <a:ext cx="5014044" cy="1511715"/>
          </a:xfrm>
          <a:prstGeom prst="rect">
            <a:avLst/>
          </a:prstGeom>
        </p:spPr>
      </p:pic>
      <p:sp>
        <p:nvSpPr>
          <p:cNvPr id="50" name="object 2">
            <a:extLst>
              <a:ext uri="{FF2B5EF4-FFF2-40B4-BE49-F238E27FC236}">
                <a16:creationId xmlns:a16="http://schemas.microsoft.com/office/drawing/2014/main" id="{B3703FCA-3F55-8648-D3DC-E240C69EE50B}"/>
              </a:ext>
            </a:extLst>
          </p:cNvPr>
          <p:cNvSpPr/>
          <p:nvPr/>
        </p:nvSpPr>
        <p:spPr>
          <a:xfrm>
            <a:off x="400050" y="475333"/>
            <a:ext cx="10629900" cy="17780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5667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6D6F5-3F9F-3F89-87CB-804530C11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6797F-A157-DAA7-68EF-096CC639B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2843530"/>
            <a:ext cx="8610600" cy="1523494"/>
          </a:xfrm>
        </p:spPr>
        <p:txBody>
          <a:bodyPr/>
          <a:lstStyle/>
          <a:p>
            <a:pPr algn="ctr"/>
            <a:r>
              <a:rPr lang="en-US" sz="3600" dirty="0"/>
              <a:t>Product Analysis</a:t>
            </a:r>
            <a:br>
              <a:rPr lang="en-US" sz="3600" dirty="0"/>
            </a:br>
            <a:r>
              <a:rPr lang="en-IN" sz="2700" dirty="0">
                <a:solidFill>
                  <a:srgbClr val="666666"/>
                </a:solidFill>
              </a:rPr>
              <a:t>What Do They Buy?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B067BF0C-9DD0-55DC-C76B-BF5E905EFB6C}"/>
              </a:ext>
            </a:extLst>
          </p:cNvPr>
          <p:cNvSpPr/>
          <p:nvPr/>
        </p:nvSpPr>
        <p:spPr>
          <a:xfrm>
            <a:off x="400050" y="746125"/>
            <a:ext cx="10629900" cy="17780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1814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1802" y="84289"/>
            <a:ext cx="8315002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135"/>
              </a:spcBef>
            </a:pPr>
            <a:r>
              <a:rPr lang="en-US" sz="2400" spc="-10" dirty="0"/>
              <a:t>Top 3 Product Categories Drive Over 70% of Revenue</a:t>
            </a:r>
            <a:endParaRPr sz="2400"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441717" y="746126"/>
            <a:ext cx="5391785" cy="5029200"/>
            <a:chOff x="387349" y="1012888"/>
            <a:chExt cx="5391785" cy="4801235"/>
          </a:xfrm>
        </p:grpSpPr>
        <p:sp>
          <p:nvSpPr>
            <p:cNvPr id="4" name="object 4"/>
            <p:cNvSpPr/>
            <p:nvPr/>
          </p:nvSpPr>
          <p:spPr>
            <a:xfrm>
              <a:off x="400049" y="1012888"/>
              <a:ext cx="5379085" cy="4801235"/>
            </a:xfrm>
            <a:custGeom>
              <a:avLst/>
              <a:gdLst/>
              <a:ahLst/>
              <a:cxnLst/>
              <a:rect l="l" t="t" r="r" b="b"/>
              <a:pathLst>
                <a:path w="5379085" h="4801235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w="5379085" h="4801235">
                  <a:moveTo>
                    <a:pt x="5378957" y="4801171"/>
                  </a:moveTo>
                  <a:lnTo>
                    <a:pt x="5268846" y="4801171"/>
                  </a:lnTo>
                  <a:lnTo>
                    <a:pt x="5275627" y="4799822"/>
                  </a:lnTo>
                  <a:lnTo>
                    <a:pt x="5288650" y="4794427"/>
                  </a:lnTo>
                  <a:lnTo>
                    <a:pt x="5313600" y="4761849"/>
                  </a:lnTo>
                  <a:lnTo>
                    <a:pt x="5314949" y="4755069"/>
                  </a:lnTo>
                  <a:lnTo>
                    <a:pt x="5314949" y="46101"/>
                  </a:lnTo>
                  <a:lnTo>
                    <a:pt x="5294398" y="10583"/>
                  </a:lnTo>
                  <a:lnTo>
                    <a:pt x="5268847" y="0"/>
                  </a:lnTo>
                  <a:lnTo>
                    <a:pt x="5378957" y="0"/>
                  </a:lnTo>
                  <a:lnTo>
                    <a:pt x="5378957" y="4801171"/>
                  </a:lnTo>
                  <a:close/>
                </a:path>
                <a:path w="5379085" h="4801235">
                  <a:moveTo>
                    <a:pt x="46102" y="4801171"/>
                  </a:moveTo>
                  <a:lnTo>
                    <a:pt x="0" y="4801171"/>
                  </a:lnTo>
                  <a:lnTo>
                    <a:pt x="0" y="4755069"/>
                  </a:lnTo>
                  <a:lnTo>
                    <a:pt x="1348" y="4761849"/>
                  </a:lnTo>
                  <a:lnTo>
                    <a:pt x="6742" y="4774872"/>
                  </a:lnTo>
                  <a:lnTo>
                    <a:pt x="10583" y="4780619"/>
                  </a:lnTo>
                  <a:lnTo>
                    <a:pt x="20550" y="4790587"/>
                  </a:lnTo>
                  <a:lnTo>
                    <a:pt x="26298" y="4794427"/>
                  </a:lnTo>
                  <a:lnTo>
                    <a:pt x="39321" y="4799822"/>
                  </a:lnTo>
                  <a:lnTo>
                    <a:pt x="46102" y="480117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7349" y="1012888"/>
              <a:ext cx="5314950" cy="4801235"/>
            </a:xfrm>
            <a:custGeom>
              <a:avLst/>
              <a:gdLst/>
              <a:ahLst/>
              <a:cxnLst/>
              <a:rect l="l" t="t" r="r" b="b"/>
              <a:pathLst>
                <a:path w="5314950" h="4801235">
                  <a:moveTo>
                    <a:pt x="5265290" y="4801171"/>
                  </a:moveTo>
                  <a:lnTo>
                    <a:pt x="49659" y="4801171"/>
                  </a:lnTo>
                  <a:lnTo>
                    <a:pt x="46203" y="4800830"/>
                  </a:lnTo>
                  <a:lnTo>
                    <a:pt x="10896" y="4780451"/>
                  </a:lnTo>
                  <a:lnTo>
                    <a:pt x="0" y="4751511"/>
                  </a:lnTo>
                  <a:lnTo>
                    <a:pt x="0" y="4748021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265290" y="0"/>
                  </a:lnTo>
                  <a:lnTo>
                    <a:pt x="5301850" y="18034"/>
                  </a:lnTo>
                  <a:lnTo>
                    <a:pt x="5314949" y="49659"/>
                  </a:lnTo>
                  <a:lnTo>
                    <a:pt x="5314949" y="4751511"/>
                  </a:lnTo>
                  <a:lnTo>
                    <a:pt x="5296914" y="4788071"/>
                  </a:lnTo>
                  <a:lnTo>
                    <a:pt x="5268746" y="4800830"/>
                  </a:lnTo>
                  <a:lnTo>
                    <a:pt x="5265290" y="4801171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827775" y="1012888"/>
            <a:ext cx="2786380" cy="1666875"/>
            <a:chOff x="5827775" y="1012888"/>
            <a:chExt cx="2786380" cy="1666875"/>
          </a:xfrm>
        </p:grpSpPr>
        <p:sp>
          <p:nvSpPr>
            <p:cNvPr id="12" name="object 12"/>
            <p:cNvSpPr/>
            <p:nvPr/>
          </p:nvSpPr>
          <p:spPr>
            <a:xfrm>
              <a:off x="5827775" y="1012888"/>
              <a:ext cx="2786380" cy="1666875"/>
            </a:xfrm>
            <a:custGeom>
              <a:avLst/>
              <a:gdLst/>
              <a:ahLst/>
              <a:cxnLst/>
              <a:rect l="l" t="t" r="r" b="b"/>
              <a:pathLst>
                <a:path w="2786379" h="1666875">
                  <a:moveTo>
                    <a:pt x="2785871" y="1666303"/>
                  </a:moveTo>
                  <a:lnTo>
                    <a:pt x="0" y="1666303"/>
                  </a:lnTo>
                  <a:lnTo>
                    <a:pt x="0" y="0"/>
                  </a:lnTo>
                  <a:lnTo>
                    <a:pt x="110489" y="0"/>
                  </a:lnTo>
                  <a:lnTo>
                    <a:pt x="103710" y="1348"/>
                  </a:lnTo>
                  <a:lnTo>
                    <a:pt x="90686" y="6742"/>
                  </a:lnTo>
                  <a:lnTo>
                    <a:pt x="65737" y="39321"/>
                  </a:lnTo>
                  <a:lnTo>
                    <a:pt x="64388" y="46101"/>
                  </a:lnTo>
                  <a:lnTo>
                    <a:pt x="64388" y="1539525"/>
                  </a:lnTo>
                  <a:lnTo>
                    <a:pt x="84939" y="1575042"/>
                  </a:lnTo>
                  <a:lnTo>
                    <a:pt x="110489" y="1585626"/>
                  </a:lnTo>
                  <a:lnTo>
                    <a:pt x="2785871" y="1585626"/>
                  </a:lnTo>
                  <a:lnTo>
                    <a:pt x="2785871" y="1666303"/>
                  </a:lnTo>
                  <a:close/>
                </a:path>
                <a:path w="2786379" h="1666875">
                  <a:moveTo>
                    <a:pt x="2785871" y="1585626"/>
                  </a:moveTo>
                  <a:lnTo>
                    <a:pt x="2675762" y="1585626"/>
                  </a:lnTo>
                  <a:lnTo>
                    <a:pt x="2682541" y="1584277"/>
                  </a:lnTo>
                  <a:lnTo>
                    <a:pt x="2695564" y="1578883"/>
                  </a:lnTo>
                  <a:lnTo>
                    <a:pt x="2720514" y="1546304"/>
                  </a:lnTo>
                  <a:lnTo>
                    <a:pt x="2721863" y="1539525"/>
                  </a:lnTo>
                  <a:lnTo>
                    <a:pt x="2721863" y="46101"/>
                  </a:lnTo>
                  <a:lnTo>
                    <a:pt x="2701312" y="10583"/>
                  </a:lnTo>
                  <a:lnTo>
                    <a:pt x="2675762" y="0"/>
                  </a:lnTo>
                  <a:lnTo>
                    <a:pt x="2785871" y="0"/>
                  </a:lnTo>
                  <a:lnTo>
                    <a:pt x="2785871" y="1585626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92164" y="1012888"/>
              <a:ext cx="2657475" cy="1586230"/>
            </a:xfrm>
            <a:custGeom>
              <a:avLst/>
              <a:gdLst/>
              <a:ahLst/>
              <a:cxnLst/>
              <a:rect l="l" t="t" r="r" b="b"/>
              <a:pathLst>
                <a:path w="2657475" h="1586230">
                  <a:moveTo>
                    <a:pt x="2607814" y="1585626"/>
                  </a:moveTo>
                  <a:lnTo>
                    <a:pt x="49659" y="1585626"/>
                  </a:lnTo>
                  <a:lnTo>
                    <a:pt x="46203" y="1585286"/>
                  </a:lnTo>
                  <a:lnTo>
                    <a:pt x="10896" y="1564906"/>
                  </a:lnTo>
                  <a:lnTo>
                    <a:pt x="0" y="1535966"/>
                  </a:lnTo>
                  <a:lnTo>
                    <a:pt x="0" y="1532477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2607814" y="0"/>
                  </a:lnTo>
                  <a:lnTo>
                    <a:pt x="2644374" y="18034"/>
                  </a:lnTo>
                  <a:lnTo>
                    <a:pt x="2657474" y="49659"/>
                  </a:lnTo>
                  <a:lnTo>
                    <a:pt x="2657474" y="1535966"/>
                  </a:lnTo>
                  <a:lnTo>
                    <a:pt x="2639439" y="1572526"/>
                  </a:lnTo>
                  <a:lnTo>
                    <a:pt x="2611270" y="1585286"/>
                  </a:lnTo>
                  <a:lnTo>
                    <a:pt x="2607814" y="1585626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8662415" y="1012887"/>
            <a:ext cx="2367915" cy="1666875"/>
            <a:chOff x="8662415" y="1012887"/>
            <a:chExt cx="2367915" cy="1666875"/>
          </a:xfrm>
        </p:grpSpPr>
        <p:sp>
          <p:nvSpPr>
            <p:cNvPr id="17" name="object 17"/>
            <p:cNvSpPr/>
            <p:nvPr/>
          </p:nvSpPr>
          <p:spPr>
            <a:xfrm>
              <a:off x="8662415" y="1012888"/>
              <a:ext cx="2367915" cy="1666875"/>
            </a:xfrm>
            <a:custGeom>
              <a:avLst/>
              <a:gdLst/>
              <a:ahLst/>
              <a:cxnLst/>
              <a:rect l="l" t="t" r="r" b="b"/>
              <a:pathLst>
                <a:path w="2367915" h="1666875">
                  <a:moveTo>
                    <a:pt x="2367533" y="1666303"/>
                  </a:moveTo>
                  <a:lnTo>
                    <a:pt x="0" y="1666303"/>
                  </a:lnTo>
                  <a:lnTo>
                    <a:pt x="0" y="0"/>
                  </a:lnTo>
                  <a:lnTo>
                    <a:pt x="110489" y="0"/>
                  </a:lnTo>
                  <a:lnTo>
                    <a:pt x="103710" y="1348"/>
                  </a:lnTo>
                  <a:lnTo>
                    <a:pt x="90686" y="6742"/>
                  </a:lnTo>
                  <a:lnTo>
                    <a:pt x="65736" y="39321"/>
                  </a:lnTo>
                  <a:lnTo>
                    <a:pt x="64388" y="46101"/>
                  </a:lnTo>
                  <a:lnTo>
                    <a:pt x="64388" y="1539525"/>
                  </a:lnTo>
                  <a:lnTo>
                    <a:pt x="84939" y="1575042"/>
                  </a:lnTo>
                  <a:lnTo>
                    <a:pt x="110490" y="1585626"/>
                  </a:lnTo>
                  <a:lnTo>
                    <a:pt x="2367533" y="1585626"/>
                  </a:lnTo>
                  <a:lnTo>
                    <a:pt x="2367533" y="1666303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726804" y="1012887"/>
              <a:ext cx="2303145" cy="1586230"/>
            </a:xfrm>
            <a:custGeom>
              <a:avLst/>
              <a:gdLst/>
              <a:ahLst/>
              <a:cxnLst/>
              <a:rect l="l" t="t" r="r" b="b"/>
              <a:pathLst>
                <a:path w="2303145" h="1586230">
                  <a:moveTo>
                    <a:pt x="2303145" y="1585626"/>
                  </a:moveTo>
                  <a:lnTo>
                    <a:pt x="49660" y="1585626"/>
                  </a:lnTo>
                  <a:lnTo>
                    <a:pt x="13099" y="1567591"/>
                  </a:lnTo>
                  <a:lnTo>
                    <a:pt x="0" y="1535967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60" y="0"/>
                  </a:lnTo>
                  <a:lnTo>
                    <a:pt x="2303145" y="0"/>
                  </a:lnTo>
                  <a:lnTo>
                    <a:pt x="2303145" y="1585626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03969" y="1367218"/>
              <a:ext cx="141731" cy="141731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9210997" y="1315542"/>
            <a:ext cx="1830705" cy="6001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103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ARPU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by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Product Category</a:t>
            </a:r>
            <a:endParaRPr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827775" y="2727959"/>
            <a:ext cx="2786380" cy="1716405"/>
            <a:chOff x="5827775" y="2727959"/>
            <a:chExt cx="2786380" cy="1716405"/>
          </a:xfrm>
        </p:grpSpPr>
        <p:sp>
          <p:nvSpPr>
            <p:cNvPr id="22" name="object 22"/>
            <p:cNvSpPr/>
            <p:nvPr/>
          </p:nvSpPr>
          <p:spPr>
            <a:xfrm>
              <a:off x="5827775" y="2727959"/>
              <a:ext cx="2786380" cy="1716405"/>
            </a:xfrm>
            <a:custGeom>
              <a:avLst/>
              <a:gdLst/>
              <a:ahLst/>
              <a:cxnLst/>
              <a:rect l="l" t="t" r="r" b="b"/>
              <a:pathLst>
                <a:path w="2786379" h="1716404">
                  <a:moveTo>
                    <a:pt x="2785871" y="1716023"/>
                  </a:moveTo>
                  <a:lnTo>
                    <a:pt x="0" y="1716023"/>
                  </a:lnTo>
                  <a:lnTo>
                    <a:pt x="0" y="0"/>
                  </a:lnTo>
                  <a:lnTo>
                    <a:pt x="2785871" y="0"/>
                  </a:lnTo>
                  <a:lnTo>
                    <a:pt x="2785871" y="47720"/>
                  </a:lnTo>
                  <a:lnTo>
                    <a:pt x="110489" y="47720"/>
                  </a:lnTo>
                  <a:lnTo>
                    <a:pt x="103710" y="49068"/>
                  </a:lnTo>
                  <a:lnTo>
                    <a:pt x="71131" y="74018"/>
                  </a:lnTo>
                  <a:lnTo>
                    <a:pt x="64388" y="93821"/>
                  </a:lnTo>
                  <a:lnTo>
                    <a:pt x="64388" y="1587245"/>
                  </a:lnTo>
                  <a:lnTo>
                    <a:pt x="84939" y="1622762"/>
                  </a:lnTo>
                  <a:lnTo>
                    <a:pt x="110489" y="1633346"/>
                  </a:lnTo>
                  <a:lnTo>
                    <a:pt x="2785871" y="1633346"/>
                  </a:lnTo>
                  <a:lnTo>
                    <a:pt x="2785871" y="1716023"/>
                  </a:lnTo>
                  <a:close/>
                </a:path>
                <a:path w="2786379" h="1716404">
                  <a:moveTo>
                    <a:pt x="2785871" y="1633346"/>
                  </a:moveTo>
                  <a:lnTo>
                    <a:pt x="2675762" y="1633346"/>
                  </a:lnTo>
                  <a:lnTo>
                    <a:pt x="2682541" y="1631997"/>
                  </a:lnTo>
                  <a:lnTo>
                    <a:pt x="2695564" y="1626603"/>
                  </a:lnTo>
                  <a:lnTo>
                    <a:pt x="2720514" y="1594024"/>
                  </a:lnTo>
                  <a:lnTo>
                    <a:pt x="2721863" y="1587245"/>
                  </a:lnTo>
                  <a:lnTo>
                    <a:pt x="2721863" y="93821"/>
                  </a:lnTo>
                  <a:lnTo>
                    <a:pt x="2701312" y="58303"/>
                  </a:lnTo>
                  <a:lnTo>
                    <a:pt x="2675762" y="47720"/>
                  </a:lnTo>
                  <a:lnTo>
                    <a:pt x="2785871" y="47720"/>
                  </a:lnTo>
                  <a:lnTo>
                    <a:pt x="2785871" y="1633346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92164" y="2775680"/>
              <a:ext cx="2657475" cy="1586230"/>
            </a:xfrm>
            <a:custGeom>
              <a:avLst/>
              <a:gdLst/>
              <a:ahLst/>
              <a:cxnLst/>
              <a:rect l="l" t="t" r="r" b="b"/>
              <a:pathLst>
                <a:path w="2657475" h="1586229">
                  <a:moveTo>
                    <a:pt x="2607814" y="1585626"/>
                  </a:moveTo>
                  <a:lnTo>
                    <a:pt x="49659" y="1585626"/>
                  </a:lnTo>
                  <a:lnTo>
                    <a:pt x="46203" y="1585286"/>
                  </a:lnTo>
                  <a:lnTo>
                    <a:pt x="10896" y="1564906"/>
                  </a:lnTo>
                  <a:lnTo>
                    <a:pt x="0" y="1535966"/>
                  </a:lnTo>
                  <a:lnTo>
                    <a:pt x="0" y="1532477"/>
                  </a:lnTo>
                  <a:lnTo>
                    <a:pt x="0" y="49659"/>
                  </a:lnTo>
                  <a:lnTo>
                    <a:pt x="18034" y="13098"/>
                  </a:lnTo>
                  <a:lnTo>
                    <a:pt x="49659" y="0"/>
                  </a:lnTo>
                  <a:lnTo>
                    <a:pt x="2607814" y="0"/>
                  </a:lnTo>
                  <a:lnTo>
                    <a:pt x="2644374" y="18034"/>
                  </a:lnTo>
                  <a:lnTo>
                    <a:pt x="2657474" y="49659"/>
                  </a:lnTo>
                  <a:lnTo>
                    <a:pt x="2657474" y="1535966"/>
                  </a:lnTo>
                  <a:lnTo>
                    <a:pt x="2639439" y="1572526"/>
                  </a:lnTo>
                  <a:lnTo>
                    <a:pt x="2611270" y="1585286"/>
                  </a:lnTo>
                  <a:lnTo>
                    <a:pt x="2607814" y="1585626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31337" y="3130010"/>
              <a:ext cx="141731" cy="141731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6262722" y="3108451"/>
            <a:ext cx="20580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Product </a:t>
            </a:r>
            <a:r>
              <a:rPr spc="-10" dirty="0">
                <a:latin typeface="Times New Roman"/>
                <a:cs typeface="Times New Roman"/>
              </a:rPr>
              <a:t>Distribution</a:t>
            </a:r>
            <a:endParaRPr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662415" y="2727959"/>
            <a:ext cx="2367915" cy="1716405"/>
            <a:chOff x="8662415" y="2727959"/>
            <a:chExt cx="2367915" cy="1716405"/>
          </a:xfrm>
        </p:grpSpPr>
        <p:sp>
          <p:nvSpPr>
            <p:cNvPr id="27" name="object 27"/>
            <p:cNvSpPr/>
            <p:nvPr/>
          </p:nvSpPr>
          <p:spPr>
            <a:xfrm>
              <a:off x="8662415" y="2727959"/>
              <a:ext cx="2367915" cy="1716405"/>
            </a:xfrm>
            <a:custGeom>
              <a:avLst/>
              <a:gdLst/>
              <a:ahLst/>
              <a:cxnLst/>
              <a:rect l="l" t="t" r="r" b="b"/>
              <a:pathLst>
                <a:path w="2367915" h="1716404">
                  <a:moveTo>
                    <a:pt x="2367533" y="1716023"/>
                  </a:moveTo>
                  <a:lnTo>
                    <a:pt x="0" y="1716023"/>
                  </a:lnTo>
                  <a:lnTo>
                    <a:pt x="0" y="0"/>
                  </a:lnTo>
                  <a:lnTo>
                    <a:pt x="2367533" y="0"/>
                  </a:lnTo>
                  <a:lnTo>
                    <a:pt x="2367533" y="47720"/>
                  </a:lnTo>
                  <a:lnTo>
                    <a:pt x="110489" y="47720"/>
                  </a:lnTo>
                  <a:lnTo>
                    <a:pt x="103710" y="49068"/>
                  </a:lnTo>
                  <a:lnTo>
                    <a:pt x="71130" y="74018"/>
                  </a:lnTo>
                  <a:lnTo>
                    <a:pt x="64388" y="93821"/>
                  </a:lnTo>
                  <a:lnTo>
                    <a:pt x="64388" y="1587245"/>
                  </a:lnTo>
                  <a:lnTo>
                    <a:pt x="84939" y="1622762"/>
                  </a:lnTo>
                  <a:lnTo>
                    <a:pt x="110491" y="1633346"/>
                  </a:lnTo>
                  <a:lnTo>
                    <a:pt x="2367533" y="1633346"/>
                  </a:lnTo>
                  <a:lnTo>
                    <a:pt x="2367533" y="1716023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26804" y="2775679"/>
              <a:ext cx="2303145" cy="1586230"/>
            </a:xfrm>
            <a:custGeom>
              <a:avLst/>
              <a:gdLst/>
              <a:ahLst/>
              <a:cxnLst/>
              <a:rect l="l" t="t" r="r" b="b"/>
              <a:pathLst>
                <a:path w="2303145" h="1586229">
                  <a:moveTo>
                    <a:pt x="2303145" y="1585626"/>
                  </a:moveTo>
                  <a:lnTo>
                    <a:pt x="49660" y="1585626"/>
                  </a:lnTo>
                  <a:lnTo>
                    <a:pt x="13099" y="1567591"/>
                  </a:lnTo>
                  <a:lnTo>
                    <a:pt x="0" y="1535967"/>
                  </a:lnTo>
                  <a:lnTo>
                    <a:pt x="0" y="49659"/>
                  </a:lnTo>
                  <a:lnTo>
                    <a:pt x="18034" y="13098"/>
                  </a:lnTo>
                  <a:lnTo>
                    <a:pt x="49660" y="0"/>
                  </a:lnTo>
                  <a:lnTo>
                    <a:pt x="2303145" y="0"/>
                  </a:lnTo>
                  <a:lnTo>
                    <a:pt x="2303145" y="1585626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03969" y="3130010"/>
              <a:ext cx="141731" cy="141731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9016392" y="3087191"/>
            <a:ext cx="2078355" cy="585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8265">
              <a:lnSpc>
                <a:spcPct val="1073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Percentage </a:t>
            </a:r>
            <a:r>
              <a:rPr spc="-10" dirty="0">
                <a:latin typeface="Times New Roman"/>
                <a:cs typeface="Times New Roman"/>
              </a:rPr>
              <a:t>Revenu </a:t>
            </a:r>
            <a:r>
              <a:rPr dirty="0">
                <a:latin typeface="Times New Roman"/>
                <a:cs typeface="Times New Roman"/>
              </a:rPr>
              <a:t>by Product </a:t>
            </a:r>
            <a:r>
              <a:rPr spc="-10" dirty="0">
                <a:latin typeface="Times New Roman"/>
                <a:cs typeface="Times New Roman"/>
              </a:rPr>
              <a:t>Category</a:t>
            </a:r>
            <a:endParaRPr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827775" y="4492751"/>
            <a:ext cx="2786380" cy="1321435"/>
            <a:chOff x="5827775" y="4492751"/>
            <a:chExt cx="2786380" cy="1321435"/>
          </a:xfrm>
        </p:grpSpPr>
        <p:sp>
          <p:nvSpPr>
            <p:cNvPr id="32" name="object 32"/>
            <p:cNvSpPr/>
            <p:nvPr/>
          </p:nvSpPr>
          <p:spPr>
            <a:xfrm>
              <a:off x="5827775" y="4492751"/>
              <a:ext cx="2786380" cy="1321435"/>
            </a:xfrm>
            <a:custGeom>
              <a:avLst/>
              <a:gdLst/>
              <a:ahLst/>
              <a:cxnLst/>
              <a:rect l="l" t="t" r="r" b="b"/>
              <a:pathLst>
                <a:path w="2786379" h="1321435">
                  <a:moveTo>
                    <a:pt x="64388" y="1321307"/>
                  </a:moveTo>
                  <a:lnTo>
                    <a:pt x="0" y="1321307"/>
                  </a:lnTo>
                  <a:lnTo>
                    <a:pt x="0" y="0"/>
                  </a:lnTo>
                  <a:lnTo>
                    <a:pt x="2785871" y="0"/>
                  </a:lnTo>
                  <a:lnTo>
                    <a:pt x="2785871" y="45719"/>
                  </a:lnTo>
                  <a:lnTo>
                    <a:pt x="110489" y="45719"/>
                  </a:lnTo>
                  <a:lnTo>
                    <a:pt x="103710" y="47068"/>
                  </a:lnTo>
                  <a:lnTo>
                    <a:pt x="71131" y="72017"/>
                  </a:lnTo>
                  <a:lnTo>
                    <a:pt x="64388" y="91821"/>
                  </a:lnTo>
                  <a:lnTo>
                    <a:pt x="64388" y="1321307"/>
                  </a:lnTo>
                  <a:close/>
                </a:path>
                <a:path w="2786379" h="1321435">
                  <a:moveTo>
                    <a:pt x="2785871" y="1321307"/>
                  </a:moveTo>
                  <a:lnTo>
                    <a:pt x="2721863" y="1321307"/>
                  </a:lnTo>
                  <a:lnTo>
                    <a:pt x="2721863" y="91821"/>
                  </a:lnTo>
                  <a:lnTo>
                    <a:pt x="2720514" y="85041"/>
                  </a:lnTo>
                  <a:lnTo>
                    <a:pt x="2695564" y="52462"/>
                  </a:lnTo>
                  <a:lnTo>
                    <a:pt x="2675762" y="45719"/>
                  </a:lnTo>
                  <a:lnTo>
                    <a:pt x="2785871" y="45719"/>
                  </a:lnTo>
                  <a:lnTo>
                    <a:pt x="2785871" y="1321307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892165" y="4538471"/>
              <a:ext cx="2657475" cy="1275715"/>
            </a:xfrm>
            <a:custGeom>
              <a:avLst/>
              <a:gdLst/>
              <a:ahLst/>
              <a:cxnLst/>
              <a:rect l="l" t="t" r="r" b="b"/>
              <a:pathLst>
                <a:path w="2657475" h="1275714">
                  <a:moveTo>
                    <a:pt x="2657475" y="1275588"/>
                  </a:moveTo>
                  <a:lnTo>
                    <a:pt x="0" y="1275588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2607815" y="0"/>
                  </a:lnTo>
                  <a:lnTo>
                    <a:pt x="2644374" y="18034"/>
                  </a:lnTo>
                  <a:lnTo>
                    <a:pt x="2657475" y="1275588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9329" y="4892801"/>
              <a:ext cx="141731" cy="141731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6407637" y="4849983"/>
            <a:ext cx="1768475" cy="585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390" marR="5080" indent="-60325">
              <a:lnSpc>
                <a:spcPct val="1073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Product </a:t>
            </a:r>
            <a:r>
              <a:rPr spc="-10" dirty="0">
                <a:latin typeface="Times New Roman"/>
                <a:cs typeface="Times New Roman"/>
              </a:rPr>
              <a:t>Category </a:t>
            </a:r>
            <a:r>
              <a:rPr dirty="0">
                <a:latin typeface="Times New Roman"/>
                <a:cs typeface="Times New Roman"/>
              </a:rPr>
              <a:t>and </a:t>
            </a:r>
            <a:r>
              <a:rPr spc="-10" dirty="0">
                <a:latin typeface="Times New Roman"/>
                <a:cs typeface="Times New Roman"/>
              </a:rPr>
              <a:t>Customers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64514" y="6079508"/>
            <a:ext cx="2976245" cy="19941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Walmart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Customer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Segmentation</a:t>
            </a:r>
            <a:r>
              <a:rPr sz="1200" spc="-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Analysis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972391" y="6079508"/>
            <a:ext cx="893444" cy="19941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Confidential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1" name="Picture 40" descr="A graph with blue and black bars&#10;&#10;AI-generated content may be incorrect.">
            <a:extLst>
              <a:ext uri="{FF2B5EF4-FFF2-40B4-BE49-F238E27FC236}">
                <a16:creationId xmlns:a16="http://schemas.microsoft.com/office/drawing/2014/main" id="{06F079D4-CA57-0139-1C21-B8031FCE94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4156" y="745386"/>
            <a:ext cx="2355793" cy="1852990"/>
          </a:xfrm>
          <a:prstGeom prst="rect">
            <a:avLst/>
          </a:prstGeom>
        </p:spPr>
      </p:pic>
      <p:pic>
        <p:nvPicPr>
          <p:cNvPr id="43" name="Picture 42" descr="A screenshot of a graph&#10;&#10;AI-generated content may be incorrect.">
            <a:extLst>
              <a:ext uri="{FF2B5EF4-FFF2-40B4-BE49-F238E27FC236}">
                <a16:creationId xmlns:a16="http://schemas.microsoft.com/office/drawing/2014/main" id="{C34F13A3-0A2E-422E-BF8B-F3B3D909AA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2563" y="2624379"/>
            <a:ext cx="2410181" cy="1710894"/>
          </a:xfrm>
          <a:prstGeom prst="rect">
            <a:avLst/>
          </a:prstGeom>
        </p:spPr>
      </p:pic>
      <p:pic>
        <p:nvPicPr>
          <p:cNvPr id="45" name="Picture 44" descr="A graph of a product category&#10;&#10;AI-generated content may be incorrect.">
            <a:extLst>
              <a:ext uri="{FF2B5EF4-FFF2-40B4-BE49-F238E27FC236}">
                <a16:creationId xmlns:a16="http://schemas.microsoft.com/office/drawing/2014/main" id="{D8F88579-EC0A-9D98-3A6B-AEE55DCDF9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1910" y="4383469"/>
            <a:ext cx="5138039" cy="1467262"/>
          </a:xfrm>
          <a:prstGeom prst="rect">
            <a:avLst/>
          </a:prstGeom>
        </p:spPr>
      </p:pic>
      <p:pic>
        <p:nvPicPr>
          <p:cNvPr id="47" name="Picture 46" descr="A graph with blue and white bars&#10;&#10;AI-generated content may be incorrect.">
            <a:extLst>
              <a:ext uri="{FF2B5EF4-FFF2-40B4-BE49-F238E27FC236}">
                <a16:creationId xmlns:a16="http://schemas.microsoft.com/office/drawing/2014/main" id="{D7F83780-98A7-1FB9-E0A7-069A20E2B9F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632" y="2648457"/>
            <a:ext cx="2646007" cy="1686625"/>
          </a:xfrm>
          <a:prstGeom prst="rect">
            <a:avLst/>
          </a:prstGeom>
        </p:spPr>
      </p:pic>
      <p:pic>
        <p:nvPicPr>
          <p:cNvPr id="49" name="Picture 48" descr="A graph with numbers and a red and blue bar&#10;&#10;AI-generated content may be incorrect.">
            <a:extLst>
              <a:ext uri="{FF2B5EF4-FFF2-40B4-BE49-F238E27FC236}">
                <a16:creationId xmlns:a16="http://schemas.microsoft.com/office/drawing/2014/main" id="{1F3E9E77-0096-A370-2136-12BAEA0C391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164" y="746126"/>
            <a:ext cx="2669343" cy="1852991"/>
          </a:xfrm>
          <a:prstGeom prst="rect">
            <a:avLst/>
          </a:prstGeom>
        </p:spPr>
      </p:pic>
      <p:sp>
        <p:nvSpPr>
          <p:cNvPr id="52" name="object 6"/>
          <p:cNvSpPr txBox="1"/>
          <p:nvPr/>
        </p:nvSpPr>
        <p:spPr>
          <a:xfrm>
            <a:off x="1829700" y="1005468"/>
            <a:ext cx="2618105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20" dirty="0">
                <a:solidFill>
                  <a:srgbClr val="0070CD"/>
                </a:solidFill>
                <a:latin typeface="Times New Roman"/>
                <a:cs typeface="Times New Roman"/>
              </a:rPr>
              <a:t>Top</a:t>
            </a:r>
            <a:r>
              <a:rPr sz="1050" b="1" spc="-45" dirty="0">
                <a:solidFill>
                  <a:srgbClr val="0070CD"/>
                </a:solidFill>
                <a:latin typeface="Times New Roman"/>
                <a:cs typeface="Times New Roman"/>
              </a:rPr>
              <a:t> </a:t>
            </a:r>
            <a:r>
              <a:rPr sz="1050" b="1" dirty="0">
                <a:solidFill>
                  <a:srgbClr val="0070CD"/>
                </a:solidFill>
                <a:latin typeface="Times New Roman"/>
                <a:cs typeface="Times New Roman"/>
              </a:rPr>
              <a:t>Performers</a:t>
            </a:r>
            <a:r>
              <a:rPr sz="1050" b="1" spc="-45" dirty="0">
                <a:solidFill>
                  <a:srgbClr val="0070CD"/>
                </a:solidFill>
                <a:latin typeface="Times New Roman"/>
                <a:cs typeface="Times New Roman"/>
              </a:rPr>
              <a:t> </a:t>
            </a:r>
            <a:r>
              <a:rPr sz="1050" b="1" dirty="0">
                <a:solidFill>
                  <a:srgbClr val="0070CD"/>
                </a:solidFill>
                <a:latin typeface="Times New Roman"/>
                <a:cs typeface="Times New Roman"/>
              </a:rPr>
              <a:t>Drive</a:t>
            </a:r>
            <a:r>
              <a:rPr sz="1050" b="1" spc="-45" dirty="0">
                <a:solidFill>
                  <a:srgbClr val="0070CD"/>
                </a:solidFill>
                <a:latin typeface="Times New Roman"/>
                <a:cs typeface="Times New Roman"/>
              </a:rPr>
              <a:t> </a:t>
            </a:r>
            <a:r>
              <a:rPr sz="1050" b="1" dirty="0">
                <a:solidFill>
                  <a:srgbClr val="0070CD"/>
                </a:solidFill>
                <a:latin typeface="Times New Roman"/>
                <a:cs typeface="Times New Roman"/>
              </a:rPr>
              <a:t>Majority</a:t>
            </a:r>
            <a:r>
              <a:rPr sz="1050" b="1" spc="-45" dirty="0">
                <a:solidFill>
                  <a:srgbClr val="0070CD"/>
                </a:solidFill>
                <a:latin typeface="Times New Roman"/>
                <a:cs typeface="Times New Roman"/>
              </a:rPr>
              <a:t> </a:t>
            </a:r>
            <a:r>
              <a:rPr sz="1050" b="1" spc="-10" dirty="0">
                <a:solidFill>
                  <a:srgbClr val="0070CD"/>
                </a:solidFill>
                <a:latin typeface="Times New Roman"/>
                <a:cs typeface="Times New Roman"/>
              </a:rPr>
              <a:t>Revenue:</a:t>
            </a:r>
            <a:endParaRPr sz="1050" dirty="0">
              <a:latin typeface="Times New Roman"/>
              <a:cs typeface="Times New Roman"/>
            </a:endParaRPr>
          </a:p>
        </p:txBody>
      </p:sp>
      <p:sp>
        <p:nvSpPr>
          <p:cNvPr id="53" name="object 8"/>
          <p:cNvSpPr txBox="1"/>
          <p:nvPr/>
        </p:nvSpPr>
        <p:spPr>
          <a:xfrm>
            <a:off x="1260633" y="1247035"/>
            <a:ext cx="3782060" cy="420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900"/>
              </a:lnSpc>
              <a:spcBef>
                <a:spcPts val="100"/>
              </a:spcBef>
            </a:pPr>
            <a:r>
              <a:rPr sz="1050" dirty="0">
                <a:latin typeface="Times New Roman"/>
                <a:cs typeface="Times New Roman"/>
              </a:rPr>
              <a:t>Just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3</a:t>
            </a:r>
            <a:r>
              <a:rPr sz="1050" spc="-1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product</a:t>
            </a:r>
            <a:r>
              <a:rPr sz="1050" spc="-1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categories</a:t>
            </a:r>
            <a:r>
              <a:rPr sz="1050" spc="-1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(1,</a:t>
            </a:r>
            <a:r>
              <a:rPr sz="1050" spc="-1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5,</a:t>
            </a:r>
            <a:r>
              <a:rPr sz="1050" spc="-1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8)</a:t>
            </a:r>
            <a:r>
              <a:rPr sz="1050" spc="-1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contribute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over</a:t>
            </a:r>
            <a:r>
              <a:rPr sz="1050" spc="-1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72%</a:t>
            </a:r>
            <a:r>
              <a:rPr sz="1050" spc="-1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of</a:t>
            </a:r>
            <a:r>
              <a:rPr sz="1050" spc="-1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total</a:t>
            </a:r>
            <a:r>
              <a:rPr sz="1050" spc="-15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revenue </a:t>
            </a:r>
            <a:r>
              <a:rPr sz="1050" dirty="0">
                <a:latin typeface="Times New Roman"/>
                <a:cs typeface="Times New Roman"/>
              </a:rPr>
              <a:t>Category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1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alone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accounts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for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37.5%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–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clear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flagship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category</a:t>
            </a:r>
            <a:endParaRPr sz="1050" dirty="0">
              <a:latin typeface="Times New Roman"/>
              <a:cs typeface="Times New Roman"/>
            </a:endParaRPr>
          </a:p>
        </p:txBody>
      </p:sp>
      <p:sp>
        <p:nvSpPr>
          <p:cNvPr id="54" name="object 9"/>
          <p:cNvSpPr txBox="1"/>
          <p:nvPr/>
        </p:nvSpPr>
        <p:spPr>
          <a:xfrm>
            <a:off x="1658694" y="1880088"/>
            <a:ext cx="2880995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0070CD"/>
                </a:solidFill>
                <a:latin typeface="Times New Roman"/>
                <a:cs typeface="Times New Roman"/>
              </a:rPr>
              <a:t>High</a:t>
            </a:r>
            <a:r>
              <a:rPr sz="1050" b="1" spc="-15" dirty="0">
                <a:solidFill>
                  <a:srgbClr val="0070CD"/>
                </a:solidFill>
                <a:latin typeface="Times New Roman"/>
                <a:cs typeface="Times New Roman"/>
              </a:rPr>
              <a:t> </a:t>
            </a:r>
            <a:r>
              <a:rPr sz="1050" b="1" dirty="0">
                <a:solidFill>
                  <a:srgbClr val="0070CD"/>
                </a:solidFill>
                <a:latin typeface="Times New Roman"/>
                <a:cs typeface="Times New Roman"/>
              </a:rPr>
              <a:t>Reach</a:t>
            </a:r>
            <a:r>
              <a:rPr sz="1050" b="1" spc="-10" dirty="0">
                <a:solidFill>
                  <a:srgbClr val="0070CD"/>
                </a:solidFill>
                <a:latin typeface="Times New Roman"/>
                <a:cs typeface="Times New Roman"/>
              </a:rPr>
              <a:t> </a:t>
            </a:r>
            <a:r>
              <a:rPr sz="1050" b="1" dirty="0">
                <a:solidFill>
                  <a:srgbClr val="0070CD"/>
                </a:solidFill>
                <a:latin typeface="Times New Roman"/>
                <a:cs typeface="Times New Roman"/>
              </a:rPr>
              <a:t>+</a:t>
            </a:r>
            <a:r>
              <a:rPr sz="1050" b="1" spc="-5" dirty="0">
                <a:solidFill>
                  <a:srgbClr val="0070CD"/>
                </a:solidFill>
                <a:latin typeface="Times New Roman"/>
                <a:cs typeface="Times New Roman"/>
              </a:rPr>
              <a:t> </a:t>
            </a:r>
            <a:r>
              <a:rPr sz="1050" b="1" spc="-10" dirty="0">
                <a:solidFill>
                  <a:srgbClr val="0070CD"/>
                </a:solidFill>
                <a:latin typeface="Times New Roman"/>
                <a:cs typeface="Times New Roman"/>
              </a:rPr>
              <a:t>High</a:t>
            </a:r>
            <a:r>
              <a:rPr sz="1050" b="1" spc="-65" dirty="0">
                <a:solidFill>
                  <a:srgbClr val="0070CD"/>
                </a:solidFill>
                <a:latin typeface="Times New Roman"/>
                <a:cs typeface="Times New Roman"/>
              </a:rPr>
              <a:t> </a:t>
            </a:r>
            <a:r>
              <a:rPr sz="1050" b="1" dirty="0">
                <a:solidFill>
                  <a:srgbClr val="0070CD"/>
                </a:solidFill>
                <a:latin typeface="Times New Roman"/>
                <a:cs typeface="Times New Roman"/>
              </a:rPr>
              <a:t>ARPU</a:t>
            </a:r>
            <a:r>
              <a:rPr sz="1050" b="1" spc="-10" dirty="0">
                <a:solidFill>
                  <a:srgbClr val="0070CD"/>
                </a:solidFill>
                <a:latin typeface="Times New Roman"/>
                <a:cs typeface="Times New Roman"/>
              </a:rPr>
              <a:t> </a:t>
            </a:r>
            <a:r>
              <a:rPr sz="1050" b="1" dirty="0">
                <a:solidFill>
                  <a:srgbClr val="0070CD"/>
                </a:solidFill>
                <a:latin typeface="Times New Roman"/>
                <a:cs typeface="Times New Roman"/>
              </a:rPr>
              <a:t>=</a:t>
            </a:r>
            <a:r>
              <a:rPr sz="1050" b="1" spc="-10" dirty="0">
                <a:solidFill>
                  <a:srgbClr val="0070CD"/>
                </a:solidFill>
                <a:latin typeface="Times New Roman"/>
                <a:cs typeface="Times New Roman"/>
              </a:rPr>
              <a:t> </a:t>
            </a:r>
            <a:r>
              <a:rPr sz="1050" b="1" dirty="0">
                <a:solidFill>
                  <a:srgbClr val="0070CD"/>
                </a:solidFill>
                <a:latin typeface="Times New Roman"/>
                <a:cs typeface="Times New Roman"/>
              </a:rPr>
              <a:t>Hero</a:t>
            </a:r>
            <a:r>
              <a:rPr sz="1050" b="1" spc="-5" dirty="0">
                <a:solidFill>
                  <a:srgbClr val="0070CD"/>
                </a:solidFill>
                <a:latin typeface="Times New Roman"/>
                <a:cs typeface="Times New Roman"/>
              </a:rPr>
              <a:t> </a:t>
            </a:r>
            <a:r>
              <a:rPr sz="1050" b="1" spc="-10" dirty="0">
                <a:solidFill>
                  <a:srgbClr val="0070CD"/>
                </a:solidFill>
                <a:latin typeface="Times New Roman"/>
                <a:cs typeface="Times New Roman"/>
              </a:rPr>
              <a:t>Categories:</a:t>
            </a:r>
            <a:endParaRPr sz="1050" dirty="0">
              <a:latin typeface="Times New Roman"/>
              <a:cs typeface="Times New Roman"/>
            </a:endParaRPr>
          </a:p>
        </p:txBody>
      </p:sp>
      <p:sp>
        <p:nvSpPr>
          <p:cNvPr id="55" name="object 10"/>
          <p:cNvSpPr txBox="1"/>
          <p:nvPr/>
        </p:nvSpPr>
        <p:spPr>
          <a:xfrm>
            <a:off x="1937798" y="2093566"/>
            <a:ext cx="2428875" cy="902811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050" dirty="0">
                <a:latin typeface="Times New Roman"/>
                <a:cs typeface="Times New Roman"/>
              </a:rPr>
              <a:t>Categories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1,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5,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and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8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have:</a:t>
            </a:r>
            <a:endParaRPr sz="1050" dirty="0">
              <a:latin typeface="Times New Roman"/>
              <a:cs typeface="Times New Roman"/>
            </a:endParaRPr>
          </a:p>
          <a:p>
            <a:pPr marL="720725" marR="5080">
              <a:lnSpc>
                <a:spcPct val="132900"/>
              </a:lnSpc>
              <a:spcBef>
                <a:spcPts val="204"/>
              </a:spcBef>
            </a:pPr>
            <a:r>
              <a:rPr sz="1050" dirty="0">
                <a:latin typeface="Times New Roman"/>
                <a:cs typeface="Times New Roman"/>
              </a:rPr>
              <a:t>Highest</a:t>
            </a:r>
            <a:r>
              <a:rPr sz="1050" spc="-3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customer</a:t>
            </a:r>
            <a:r>
              <a:rPr sz="1050" spc="-3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reach</a:t>
            </a:r>
            <a:r>
              <a:rPr sz="1050" spc="-30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(96%+) Highest</a:t>
            </a:r>
            <a:r>
              <a:rPr sz="1050" spc="-6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ARPU</a:t>
            </a:r>
            <a:r>
              <a:rPr sz="1050" spc="-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(</a:t>
            </a:r>
            <a:r>
              <a:rPr sz="1050" spc="145" dirty="0">
                <a:latin typeface="Times New Roman"/>
                <a:cs typeface="Times New Roman"/>
              </a:rPr>
              <a:t>  </a:t>
            </a:r>
            <a:r>
              <a:rPr sz="1050" spc="-10" dirty="0">
                <a:latin typeface="Times New Roman"/>
                <a:cs typeface="Times New Roman"/>
              </a:rPr>
              <a:t>2–3.6L) </a:t>
            </a:r>
            <a:r>
              <a:rPr sz="1050" dirty="0">
                <a:latin typeface="Times New Roman"/>
                <a:cs typeface="Times New Roman"/>
              </a:rPr>
              <a:t>Strong</a:t>
            </a:r>
            <a:r>
              <a:rPr sz="1050" spc="-3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SKU</a:t>
            </a:r>
            <a:r>
              <a:rPr sz="1050" spc="-30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presence</a:t>
            </a:r>
            <a:endParaRPr sz="1050" dirty="0">
              <a:latin typeface="Times New Roman"/>
              <a:cs typeface="Times New Roman"/>
            </a:endParaRPr>
          </a:p>
        </p:txBody>
      </p:sp>
      <p:sp>
        <p:nvSpPr>
          <p:cNvPr id="56" name="object 11"/>
          <p:cNvSpPr txBox="1"/>
          <p:nvPr/>
        </p:nvSpPr>
        <p:spPr>
          <a:xfrm>
            <a:off x="2188066" y="3449494"/>
            <a:ext cx="173926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70CD"/>
                </a:solidFill>
                <a:latin typeface="Times New Roman"/>
                <a:cs typeface="Times New Roman"/>
              </a:rPr>
              <a:t>SKU</a:t>
            </a:r>
            <a:r>
              <a:rPr sz="1200" b="1" spc="-35" dirty="0">
                <a:solidFill>
                  <a:srgbClr val="0070CD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070CD"/>
                </a:solidFill>
                <a:latin typeface="Times New Roman"/>
                <a:cs typeface="Times New Roman"/>
              </a:rPr>
              <a:t>Optimization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57" name="object 13"/>
          <p:cNvSpPr txBox="1"/>
          <p:nvPr/>
        </p:nvSpPr>
        <p:spPr>
          <a:xfrm>
            <a:off x="1051718" y="3719671"/>
            <a:ext cx="4199890" cy="1002966"/>
          </a:xfrm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050" dirty="0">
                <a:latin typeface="Times New Roman"/>
                <a:cs typeface="Times New Roman"/>
              </a:rPr>
              <a:t>Category</a:t>
            </a:r>
            <a:r>
              <a:rPr sz="1050" spc="-3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8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has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the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widest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SKU</a:t>
            </a:r>
            <a:r>
              <a:rPr sz="1050" spc="-1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base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but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slightly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lower</a:t>
            </a:r>
            <a:r>
              <a:rPr sz="1050" spc="-6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ARPU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than</a:t>
            </a:r>
            <a:r>
              <a:rPr sz="1050" spc="-1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Category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spc="-50" dirty="0">
                <a:latin typeface="Times New Roman"/>
                <a:cs typeface="Times New Roman"/>
              </a:rPr>
              <a:t>1</a:t>
            </a:r>
            <a:endParaRPr sz="1050" dirty="0">
              <a:latin typeface="Times New Roman"/>
              <a:cs typeface="Times New Roman"/>
            </a:endParaRPr>
          </a:p>
          <a:p>
            <a:pPr marL="12700" marR="278765">
              <a:lnSpc>
                <a:spcPct val="105200"/>
              </a:lnSpc>
              <a:spcBef>
                <a:spcPts val="345"/>
              </a:spcBef>
            </a:pPr>
            <a:r>
              <a:rPr sz="1050" dirty="0">
                <a:latin typeface="Times New Roman"/>
                <a:cs typeface="Times New Roman"/>
              </a:rPr>
              <a:t>Long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tail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of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categories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contributes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minimal</a:t>
            </a:r>
            <a:r>
              <a:rPr sz="1050" spc="-1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revenue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and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can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be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pruned</a:t>
            </a:r>
            <a:r>
              <a:rPr sz="1050" spc="-15" dirty="0">
                <a:latin typeface="Times New Roman"/>
                <a:cs typeface="Times New Roman"/>
              </a:rPr>
              <a:t> </a:t>
            </a:r>
            <a:r>
              <a:rPr sz="1050" spc="-25" dirty="0">
                <a:latin typeface="Times New Roman"/>
                <a:cs typeface="Times New Roman"/>
              </a:rPr>
              <a:t>or </a:t>
            </a:r>
            <a:r>
              <a:rPr sz="1050" spc="-10" dirty="0">
                <a:latin typeface="Times New Roman"/>
                <a:cs typeface="Times New Roman"/>
              </a:rPr>
              <a:t>repositioned</a:t>
            </a:r>
            <a:endParaRPr sz="10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050" dirty="0">
              <a:latin typeface="Times New Roman"/>
              <a:cs typeface="Times New Roman"/>
            </a:endParaRPr>
          </a:p>
          <a:p>
            <a:pPr marR="179705" algn="ctr">
              <a:lnSpc>
                <a:spcPct val="100000"/>
              </a:lnSpc>
            </a:pPr>
            <a:r>
              <a:rPr sz="1100" b="1" dirty="0">
                <a:solidFill>
                  <a:srgbClr val="0070CD"/>
                </a:solidFill>
                <a:latin typeface="Times New Roman"/>
                <a:cs typeface="Times New Roman"/>
              </a:rPr>
              <a:t>Strategic</a:t>
            </a:r>
            <a:r>
              <a:rPr sz="1100" b="1" spc="-40" dirty="0">
                <a:solidFill>
                  <a:srgbClr val="0070CD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0070CD"/>
                </a:solidFill>
                <a:latin typeface="Times New Roman"/>
                <a:cs typeface="Times New Roman"/>
              </a:rPr>
              <a:t>Focus</a:t>
            </a:r>
            <a:r>
              <a:rPr sz="1100" b="1" spc="-70" dirty="0">
                <a:solidFill>
                  <a:srgbClr val="0070CD"/>
                </a:solidFill>
                <a:latin typeface="Times New Roman"/>
                <a:cs typeface="Times New Roman"/>
              </a:rPr>
              <a:t> </a:t>
            </a:r>
            <a:r>
              <a:rPr sz="1100" b="1" spc="-10" dirty="0">
                <a:solidFill>
                  <a:srgbClr val="0070CD"/>
                </a:solidFill>
                <a:latin typeface="Times New Roman"/>
                <a:cs typeface="Times New Roman"/>
              </a:rPr>
              <a:t>Areas: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58" name="object 14"/>
          <p:cNvSpPr txBox="1"/>
          <p:nvPr/>
        </p:nvSpPr>
        <p:spPr>
          <a:xfrm>
            <a:off x="1051718" y="4791519"/>
            <a:ext cx="4095750" cy="809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2069">
              <a:lnSpc>
                <a:spcPct val="132900"/>
              </a:lnSpc>
              <a:spcBef>
                <a:spcPts val="100"/>
              </a:spcBef>
            </a:pPr>
            <a:r>
              <a:rPr sz="1050" dirty="0">
                <a:latin typeface="Times New Roman"/>
                <a:cs typeface="Times New Roman"/>
              </a:rPr>
              <a:t>Double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down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on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Categories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1,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5,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8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with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promotions,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cross-</a:t>
            </a:r>
            <a:r>
              <a:rPr sz="1050" dirty="0">
                <a:latin typeface="Times New Roman"/>
                <a:cs typeface="Times New Roman"/>
              </a:rPr>
              <a:t>sells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&amp;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visibility </a:t>
            </a:r>
            <a:r>
              <a:rPr sz="1050" dirty="0">
                <a:latin typeface="Times New Roman"/>
                <a:cs typeface="Times New Roman"/>
              </a:rPr>
              <a:t>Rationalize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low-</a:t>
            </a:r>
            <a:r>
              <a:rPr sz="1050" dirty="0">
                <a:latin typeface="Times New Roman"/>
                <a:cs typeface="Times New Roman"/>
              </a:rPr>
              <a:t>performing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SKUs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(e.g.,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Categories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9,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19,</a:t>
            </a:r>
            <a:r>
              <a:rPr sz="1050" spc="-25" dirty="0">
                <a:latin typeface="Times New Roman"/>
                <a:cs typeface="Times New Roman"/>
              </a:rPr>
              <a:t> 20)</a:t>
            </a:r>
            <a:endParaRPr sz="1050" dirty="0">
              <a:latin typeface="Times New Roman"/>
              <a:cs typeface="Times New Roman"/>
            </a:endParaRPr>
          </a:p>
          <a:p>
            <a:pPr marL="12700" marR="5080">
              <a:lnSpc>
                <a:spcPct val="105200"/>
              </a:lnSpc>
              <a:spcBef>
                <a:spcPts val="345"/>
              </a:spcBef>
            </a:pPr>
            <a:r>
              <a:rPr sz="1050" dirty="0">
                <a:latin typeface="Times New Roman"/>
                <a:cs typeface="Times New Roman"/>
              </a:rPr>
              <a:t>Explore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growth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potential</a:t>
            </a:r>
            <a:r>
              <a:rPr sz="1050" spc="-1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in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mid-tier</a:t>
            </a:r>
            <a:r>
              <a:rPr sz="1050" spc="-6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ARPU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categories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with</a:t>
            </a:r>
            <a:r>
              <a:rPr sz="1050" spc="-1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good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reach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(e.g., </a:t>
            </a:r>
            <a:r>
              <a:rPr sz="1050" dirty="0">
                <a:latin typeface="Times New Roman"/>
                <a:cs typeface="Times New Roman"/>
              </a:rPr>
              <a:t>Category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2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&amp;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spc="-25" dirty="0">
                <a:latin typeface="Times New Roman"/>
                <a:cs typeface="Times New Roman"/>
              </a:rPr>
              <a:t>6)</a:t>
            </a:r>
            <a:endParaRPr sz="1050" dirty="0">
              <a:latin typeface="Times New Roman"/>
              <a:cs typeface="Times New Roman"/>
            </a:endParaRPr>
          </a:p>
        </p:txBody>
      </p:sp>
      <p:sp>
        <p:nvSpPr>
          <p:cNvPr id="59" name="object 7"/>
          <p:cNvSpPr/>
          <p:nvPr/>
        </p:nvSpPr>
        <p:spPr>
          <a:xfrm>
            <a:off x="1147858" y="1338534"/>
            <a:ext cx="1426210" cy="1603375"/>
          </a:xfrm>
          <a:custGeom>
            <a:avLst/>
            <a:gdLst/>
            <a:ahLst/>
            <a:cxnLst/>
            <a:rect l="l" t="t" r="r" b="b"/>
            <a:pathLst>
              <a:path w="1426210" h="1603375">
                <a:moveTo>
                  <a:pt x="35445" y="230314"/>
                </a:moveTo>
                <a:lnTo>
                  <a:pt x="20066" y="212598"/>
                </a:lnTo>
                <a:lnTo>
                  <a:pt x="15379" y="212598"/>
                </a:lnTo>
                <a:lnTo>
                  <a:pt x="0" y="227965"/>
                </a:lnTo>
                <a:lnTo>
                  <a:pt x="0" y="232664"/>
                </a:lnTo>
                <a:lnTo>
                  <a:pt x="15379" y="248031"/>
                </a:lnTo>
                <a:lnTo>
                  <a:pt x="20066" y="248031"/>
                </a:lnTo>
                <a:lnTo>
                  <a:pt x="35445" y="230314"/>
                </a:lnTo>
                <a:close/>
              </a:path>
              <a:path w="1426210" h="1603375">
                <a:moveTo>
                  <a:pt x="35445" y="17716"/>
                </a:moveTo>
                <a:lnTo>
                  <a:pt x="20066" y="0"/>
                </a:lnTo>
                <a:lnTo>
                  <a:pt x="15379" y="0"/>
                </a:lnTo>
                <a:lnTo>
                  <a:pt x="0" y="15367"/>
                </a:lnTo>
                <a:lnTo>
                  <a:pt x="0" y="20066"/>
                </a:lnTo>
                <a:lnTo>
                  <a:pt x="15379" y="35433"/>
                </a:lnTo>
                <a:lnTo>
                  <a:pt x="20066" y="35433"/>
                </a:lnTo>
                <a:lnTo>
                  <a:pt x="35445" y="17716"/>
                </a:lnTo>
                <a:close/>
              </a:path>
              <a:path w="1426210" h="1603375">
                <a:moveTo>
                  <a:pt x="717524" y="918908"/>
                </a:moveTo>
                <a:lnTo>
                  <a:pt x="702157" y="903541"/>
                </a:lnTo>
                <a:lnTo>
                  <a:pt x="697458" y="903541"/>
                </a:lnTo>
                <a:lnTo>
                  <a:pt x="682091" y="918908"/>
                </a:lnTo>
                <a:lnTo>
                  <a:pt x="682091" y="923607"/>
                </a:lnTo>
                <a:lnTo>
                  <a:pt x="697458" y="938974"/>
                </a:lnTo>
                <a:lnTo>
                  <a:pt x="702157" y="938974"/>
                </a:lnTo>
                <a:lnTo>
                  <a:pt x="717524" y="923607"/>
                </a:lnTo>
                <a:lnTo>
                  <a:pt x="717524" y="921258"/>
                </a:lnTo>
                <a:lnTo>
                  <a:pt x="717524" y="918908"/>
                </a:lnTo>
                <a:close/>
              </a:path>
              <a:path w="1426210" h="1603375">
                <a:moveTo>
                  <a:pt x="1426184" y="1567903"/>
                </a:moveTo>
                <a:lnTo>
                  <a:pt x="1390751" y="1567903"/>
                </a:lnTo>
                <a:lnTo>
                  <a:pt x="1390751" y="1603336"/>
                </a:lnTo>
                <a:lnTo>
                  <a:pt x="1426184" y="1603336"/>
                </a:lnTo>
                <a:lnTo>
                  <a:pt x="1426184" y="1567903"/>
                </a:lnTo>
                <a:close/>
              </a:path>
              <a:path w="1426210" h="1603375">
                <a:moveTo>
                  <a:pt x="1426184" y="1355305"/>
                </a:moveTo>
                <a:lnTo>
                  <a:pt x="1390751" y="1355305"/>
                </a:lnTo>
                <a:lnTo>
                  <a:pt x="1390751" y="1390738"/>
                </a:lnTo>
                <a:lnTo>
                  <a:pt x="1426184" y="1390738"/>
                </a:lnTo>
                <a:lnTo>
                  <a:pt x="1426184" y="1355305"/>
                </a:lnTo>
                <a:close/>
              </a:path>
              <a:path w="1426210" h="1603375">
                <a:moveTo>
                  <a:pt x="1426184" y="1142707"/>
                </a:moveTo>
                <a:lnTo>
                  <a:pt x="1390751" y="1142707"/>
                </a:lnTo>
                <a:lnTo>
                  <a:pt x="1390751" y="1178140"/>
                </a:lnTo>
                <a:lnTo>
                  <a:pt x="1426184" y="1178140"/>
                </a:lnTo>
                <a:lnTo>
                  <a:pt x="1426184" y="11427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60" name="object 12"/>
          <p:cNvSpPr/>
          <p:nvPr/>
        </p:nvSpPr>
        <p:spPr>
          <a:xfrm>
            <a:off x="931532" y="3865244"/>
            <a:ext cx="35560" cy="1532890"/>
          </a:xfrm>
          <a:custGeom>
            <a:avLst/>
            <a:gdLst/>
            <a:ahLst/>
            <a:cxnLst/>
            <a:rect l="l" t="t" r="r" b="b"/>
            <a:pathLst>
              <a:path w="35559" h="1532889">
                <a:moveTo>
                  <a:pt x="35445" y="1514767"/>
                </a:moveTo>
                <a:lnTo>
                  <a:pt x="20066" y="1497050"/>
                </a:lnTo>
                <a:lnTo>
                  <a:pt x="15379" y="1497050"/>
                </a:lnTo>
                <a:lnTo>
                  <a:pt x="0" y="1512417"/>
                </a:lnTo>
                <a:lnTo>
                  <a:pt x="0" y="1517116"/>
                </a:lnTo>
                <a:lnTo>
                  <a:pt x="15379" y="1532483"/>
                </a:lnTo>
                <a:lnTo>
                  <a:pt x="20066" y="1532483"/>
                </a:lnTo>
                <a:lnTo>
                  <a:pt x="35445" y="1514767"/>
                </a:lnTo>
                <a:close/>
              </a:path>
              <a:path w="35559" h="1532889">
                <a:moveTo>
                  <a:pt x="35445" y="1302169"/>
                </a:moveTo>
                <a:lnTo>
                  <a:pt x="20066" y="1284452"/>
                </a:lnTo>
                <a:lnTo>
                  <a:pt x="15379" y="1284452"/>
                </a:lnTo>
                <a:lnTo>
                  <a:pt x="0" y="1299819"/>
                </a:lnTo>
                <a:lnTo>
                  <a:pt x="0" y="1304518"/>
                </a:lnTo>
                <a:lnTo>
                  <a:pt x="15379" y="1319885"/>
                </a:lnTo>
                <a:lnTo>
                  <a:pt x="20066" y="1319885"/>
                </a:lnTo>
                <a:lnTo>
                  <a:pt x="35445" y="1302169"/>
                </a:lnTo>
                <a:close/>
              </a:path>
              <a:path w="35559" h="1532889">
                <a:moveTo>
                  <a:pt x="35445" y="1089571"/>
                </a:moveTo>
                <a:lnTo>
                  <a:pt x="20066" y="1071854"/>
                </a:lnTo>
                <a:lnTo>
                  <a:pt x="15379" y="1071854"/>
                </a:lnTo>
                <a:lnTo>
                  <a:pt x="0" y="1087221"/>
                </a:lnTo>
                <a:lnTo>
                  <a:pt x="0" y="1091920"/>
                </a:lnTo>
                <a:lnTo>
                  <a:pt x="15379" y="1107287"/>
                </a:lnTo>
                <a:lnTo>
                  <a:pt x="20066" y="1107287"/>
                </a:lnTo>
                <a:lnTo>
                  <a:pt x="35445" y="1089571"/>
                </a:lnTo>
                <a:close/>
              </a:path>
              <a:path w="35559" h="1532889">
                <a:moveTo>
                  <a:pt x="35445" y="230314"/>
                </a:moveTo>
                <a:lnTo>
                  <a:pt x="20066" y="212598"/>
                </a:lnTo>
                <a:lnTo>
                  <a:pt x="15379" y="212598"/>
                </a:lnTo>
                <a:lnTo>
                  <a:pt x="0" y="227965"/>
                </a:lnTo>
                <a:lnTo>
                  <a:pt x="0" y="232664"/>
                </a:lnTo>
                <a:lnTo>
                  <a:pt x="15379" y="248031"/>
                </a:lnTo>
                <a:lnTo>
                  <a:pt x="20066" y="248031"/>
                </a:lnTo>
                <a:lnTo>
                  <a:pt x="35445" y="230314"/>
                </a:lnTo>
                <a:close/>
              </a:path>
              <a:path w="35559" h="1532889">
                <a:moveTo>
                  <a:pt x="35445" y="17716"/>
                </a:moveTo>
                <a:lnTo>
                  <a:pt x="20066" y="0"/>
                </a:lnTo>
                <a:lnTo>
                  <a:pt x="15379" y="0"/>
                </a:lnTo>
                <a:lnTo>
                  <a:pt x="0" y="15367"/>
                </a:lnTo>
                <a:lnTo>
                  <a:pt x="0" y="20066"/>
                </a:lnTo>
                <a:lnTo>
                  <a:pt x="15379" y="35433"/>
                </a:lnTo>
                <a:lnTo>
                  <a:pt x="20066" y="35433"/>
                </a:lnTo>
                <a:lnTo>
                  <a:pt x="35445" y="177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2">
            <a:extLst>
              <a:ext uri="{FF2B5EF4-FFF2-40B4-BE49-F238E27FC236}">
                <a16:creationId xmlns:a16="http://schemas.microsoft.com/office/drawing/2014/main" id="{868EC0BD-6420-841B-2B11-348F800A1A9A}"/>
              </a:ext>
            </a:extLst>
          </p:cNvPr>
          <p:cNvSpPr/>
          <p:nvPr/>
        </p:nvSpPr>
        <p:spPr>
          <a:xfrm>
            <a:off x="411802" y="556737"/>
            <a:ext cx="10629900" cy="17780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5215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DC6BC-89D6-3E13-218F-1AF3BFBFE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5230-B5D0-D519-3FF1-36B67CF07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2843530"/>
            <a:ext cx="8610600" cy="1523494"/>
          </a:xfrm>
        </p:spPr>
        <p:txBody>
          <a:bodyPr/>
          <a:lstStyle/>
          <a:p>
            <a:pPr algn="ctr"/>
            <a:r>
              <a:rPr lang="en-US" sz="3600" dirty="0"/>
              <a:t>Customer Segmentation</a:t>
            </a:r>
            <a:br>
              <a:rPr lang="en-US" sz="3600" dirty="0"/>
            </a:br>
            <a:r>
              <a:rPr lang="en-IN" sz="2700" dirty="0">
                <a:solidFill>
                  <a:srgbClr val="666666"/>
                </a:solidFill>
              </a:rPr>
              <a:t>Who Likes What?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C75E994C-4E45-66C6-D56A-689B40A6AD31}"/>
              </a:ext>
            </a:extLst>
          </p:cNvPr>
          <p:cNvSpPr/>
          <p:nvPr/>
        </p:nvSpPr>
        <p:spPr>
          <a:xfrm>
            <a:off x="400050" y="746125"/>
            <a:ext cx="10629900" cy="17780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8404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0049" y="676274"/>
            <a:ext cx="10629900" cy="17780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7348" y="197719"/>
            <a:ext cx="7461251" cy="37317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pc="-10" dirty="0"/>
              <a:t>Young Males Are More </a:t>
            </a:r>
            <a:r>
              <a:rPr lang="en-US" spc="-10" dirty="0" err="1"/>
              <a:t>Likey</a:t>
            </a:r>
            <a:r>
              <a:rPr lang="en-US" spc="-10" dirty="0"/>
              <a:t> to Be High Spender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400049" y="871156"/>
            <a:ext cx="10629900" cy="2695575"/>
            <a:chOff x="400049" y="871156"/>
            <a:chExt cx="10629900" cy="2695575"/>
          </a:xfrm>
        </p:grpSpPr>
        <p:sp>
          <p:nvSpPr>
            <p:cNvPr id="5" name="object 5"/>
            <p:cNvSpPr/>
            <p:nvPr/>
          </p:nvSpPr>
          <p:spPr>
            <a:xfrm>
              <a:off x="400049" y="871156"/>
              <a:ext cx="10629900" cy="2695575"/>
            </a:xfrm>
            <a:custGeom>
              <a:avLst/>
              <a:gdLst/>
              <a:ahLst/>
              <a:cxnLst/>
              <a:rect l="l" t="t" r="r" b="b"/>
              <a:pathLst>
                <a:path w="10629900" h="2695575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w="10629900" h="2695575">
                  <a:moveTo>
                    <a:pt x="10629899" y="46104"/>
                  </a:moveTo>
                  <a:lnTo>
                    <a:pt x="10609347" y="10583"/>
                  </a:lnTo>
                  <a:lnTo>
                    <a:pt x="10583797" y="0"/>
                  </a:lnTo>
                  <a:lnTo>
                    <a:pt x="10629899" y="0"/>
                  </a:lnTo>
                  <a:lnTo>
                    <a:pt x="10629899" y="46104"/>
                  </a:lnTo>
                  <a:close/>
                </a:path>
                <a:path w="10629900" h="2695575">
                  <a:moveTo>
                    <a:pt x="10629899" y="2695003"/>
                  </a:moveTo>
                  <a:lnTo>
                    <a:pt x="0" y="2695003"/>
                  </a:lnTo>
                  <a:lnTo>
                    <a:pt x="0" y="2531649"/>
                  </a:lnTo>
                  <a:lnTo>
                    <a:pt x="1348" y="2538428"/>
                  </a:lnTo>
                  <a:lnTo>
                    <a:pt x="6742" y="2551451"/>
                  </a:lnTo>
                  <a:lnTo>
                    <a:pt x="39321" y="2576401"/>
                  </a:lnTo>
                  <a:lnTo>
                    <a:pt x="46101" y="2577750"/>
                  </a:lnTo>
                  <a:lnTo>
                    <a:pt x="10629899" y="2577750"/>
                  </a:lnTo>
                  <a:lnTo>
                    <a:pt x="10629899" y="2695003"/>
                  </a:lnTo>
                  <a:close/>
                </a:path>
                <a:path w="10629900" h="2695575">
                  <a:moveTo>
                    <a:pt x="10629899" y="2577750"/>
                  </a:moveTo>
                  <a:lnTo>
                    <a:pt x="10583797" y="2577750"/>
                  </a:lnTo>
                  <a:lnTo>
                    <a:pt x="10590576" y="2576401"/>
                  </a:lnTo>
                  <a:lnTo>
                    <a:pt x="10603599" y="2571007"/>
                  </a:lnTo>
                  <a:lnTo>
                    <a:pt x="10628550" y="2538428"/>
                  </a:lnTo>
                  <a:lnTo>
                    <a:pt x="10629899" y="2531649"/>
                  </a:lnTo>
                  <a:lnTo>
                    <a:pt x="10629899" y="257775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0049" y="871156"/>
              <a:ext cx="10629900" cy="2578100"/>
            </a:xfrm>
            <a:custGeom>
              <a:avLst/>
              <a:gdLst/>
              <a:ahLst/>
              <a:cxnLst/>
              <a:rect l="l" t="t" r="r" b="b"/>
              <a:pathLst>
                <a:path w="10629900" h="2578100">
                  <a:moveTo>
                    <a:pt x="10580239" y="2577750"/>
                  </a:moveTo>
                  <a:lnTo>
                    <a:pt x="49659" y="2577750"/>
                  </a:lnTo>
                  <a:lnTo>
                    <a:pt x="46203" y="2577410"/>
                  </a:lnTo>
                  <a:lnTo>
                    <a:pt x="10896" y="2557030"/>
                  </a:lnTo>
                  <a:lnTo>
                    <a:pt x="0" y="2528090"/>
                  </a:lnTo>
                  <a:lnTo>
                    <a:pt x="0" y="2524601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10580239" y="0"/>
                  </a:lnTo>
                  <a:lnTo>
                    <a:pt x="10616800" y="18034"/>
                  </a:lnTo>
                  <a:lnTo>
                    <a:pt x="10629898" y="49659"/>
                  </a:lnTo>
                  <a:lnTo>
                    <a:pt x="10629898" y="2528090"/>
                  </a:lnTo>
                  <a:lnTo>
                    <a:pt x="10611863" y="2564650"/>
                  </a:lnTo>
                  <a:lnTo>
                    <a:pt x="10583695" y="2577410"/>
                  </a:lnTo>
                  <a:lnTo>
                    <a:pt x="10580239" y="2577750"/>
                  </a:lnTo>
                  <a:close/>
                </a:path>
              </a:pathLst>
            </a:custGeom>
            <a:solidFill>
              <a:srgbClr val="F5F5F5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800544" y="1017905"/>
            <a:ext cx="382905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004B90"/>
                </a:solidFill>
                <a:latin typeface="Arial"/>
                <a:cs typeface="Arial"/>
              </a:rPr>
              <a:t>Age Distribution by Spending </a:t>
            </a:r>
            <a:r>
              <a:rPr sz="1600" b="1" spc="-10" dirty="0">
                <a:solidFill>
                  <a:srgbClr val="004B90"/>
                </a:solidFill>
                <a:latin typeface="Arial"/>
                <a:cs typeface="Arial"/>
              </a:rPr>
              <a:t>Category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4505" y="1584832"/>
            <a:ext cx="146367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0070CD"/>
                </a:solidFill>
                <a:latin typeface="Arial"/>
                <a:cs typeface="Arial"/>
              </a:rPr>
              <a:t>High </a:t>
            </a:r>
            <a:r>
              <a:rPr sz="1600" b="1" spc="-10" dirty="0">
                <a:solidFill>
                  <a:srgbClr val="0070CD"/>
                </a:solidFill>
                <a:latin typeface="Arial"/>
                <a:cs typeface="Arial"/>
              </a:rPr>
              <a:t>Spenders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52015" y="1584832"/>
            <a:ext cx="141795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666666"/>
                </a:solidFill>
                <a:latin typeface="Arial"/>
                <a:cs typeface="Arial"/>
              </a:rPr>
              <a:t>Low </a:t>
            </a:r>
            <a:r>
              <a:rPr sz="1600" b="1" spc="-10" dirty="0">
                <a:solidFill>
                  <a:srgbClr val="666666"/>
                </a:solidFill>
                <a:latin typeface="Arial"/>
                <a:cs typeface="Arial"/>
              </a:rPr>
              <a:t>Spenders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00050" y="3541775"/>
            <a:ext cx="10629900" cy="2494280"/>
            <a:chOff x="400050" y="3541775"/>
            <a:chExt cx="10629900" cy="2494280"/>
          </a:xfrm>
        </p:grpSpPr>
        <p:sp>
          <p:nvSpPr>
            <p:cNvPr id="11" name="object 11"/>
            <p:cNvSpPr/>
            <p:nvPr/>
          </p:nvSpPr>
          <p:spPr>
            <a:xfrm>
              <a:off x="400050" y="3541775"/>
              <a:ext cx="10629900" cy="130810"/>
            </a:xfrm>
            <a:custGeom>
              <a:avLst/>
              <a:gdLst/>
              <a:ahLst/>
              <a:cxnLst/>
              <a:rect l="l" t="t" r="r" b="b"/>
              <a:pathLst>
                <a:path w="10629900" h="130810">
                  <a:moveTo>
                    <a:pt x="0" y="130400"/>
                  </a:moveTo>
                  <a:lnTo>
                    <a:pt x="0" y="0"/>
                  </a:lnTo>
                  <a:lnTo>
                    <a:pt x="10629899" y="0"/>
                  </a:lnTo>
                  <a:lnTo>
                    <a:pt x="10629899" y="84296"/>
                  </a:lnTo>
                  <a:lnTo>
                    <a:pt x="46101" y="84296"/>
                  </a:lnTo>
                  <a:lnTo>
                    <a:pt x="39321" y="85644"/>
                  </a:lnTo>
                  <a:lnTo>
                    <a:pt x="6742" y="110594"/>
                  </a:lnTo>
                  <a:lnTo>
                    <a:pt x="1348" y="123617"/>
                  </a:lnTo>
                  <a:lnTo>
                    <a:pt x="0" y="130400"/>
                  </a:lnTo>
                  <a:close/>
                </a:path>
                <a:path w="10629900" h="130810">
                  <a:moveTo>
                    <a:pt x="10629899" y="130400"/>
                  </a:moveTo>
                  <a:lnTo>
                    <a:pt x="10609347" y="94879"/>
                  </a:lnTo>
                  <a:lnTo>
                    <a:pt x="10583797" y="84296"/>
                  </a:lnTo>
                  <a:lnTo>
                    <a:pt x="10629899" y="84296"/>
                  </a:lnTo>
                  <a:lnTo>
                    <a:pt x="10629899" y="13040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0050" y="3626071"/>
              <a:ext cx="10629900" cy="2409825"/>
            </a:xfrm>
            <a:custGeom>
              <a:avLst/>
              <a:gdLst/>
              <a:ahLst/>
              <a:cxnLst/>
              <a:rect l="l" t="t" r="r" b="b"/>
              <a:pathLst>
                <a:path w="10629900" h="2409825">
                  <a:moveTo>
                    <a:pt x="10629900" y="2409444"/>
                  </a:moveTo>
                  <a:lnTo>
                    <a:pt x="0" y="2409444"/>
                  </a:lnTo>
                  <a:lnTo>
                    <a:pt x="0" y="49659"/>
                  </a:lnTo>
                  <a:lnTo>
                    <a:pt x="18034" y="13098"/>
                  </a:lnTo>
                  <a:lnTo>
                    <a:pt x="49659" y="0"/>
                  </a:lnTo>
                  <a:lnTo>
                    <a:pt x="10580240" y="0"/>
                  </a:lnTo>
                  <a:lnTo>
                    <a:pt x="10616800" y="18034"/>
                  </a:lnTo>
                  <a:lnTo>
                    <a:pt x="10629900" y="2409444"/>
                  </a:lnTo>
                  <a:close/>
                </a:path>
              </a:pathLst>
            </a:custGeom>
            <a:solidFill>
              <a:srgbClr val="F5F5F5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15430" y="3772820"/>
            <a:ext cx="279908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004B90"/>
                </a:solidFill>
                <a:latin typeface="Arial"/>
                <a:cs typeface="Arial"/>
              </a:rPr>
              <a:t>Gender &amp; Spending </a:t>
            </a:r>
            <a:r>
              <a:rPr sz="1600" b="1" spc="-10" dirty="0">
                <a:solidFill>
                  <a:srgbClr val="004B90"/>
                </a:solidFill>
                <a:latin typeface="Arial"/>
                <a:cs typeface="Arial"/>
              </a:rPr>
              <a:t>Patterns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87089" y="2027745"/>
            <a:ext cx="3423920" cy="1085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Ages 26-35: </a:t>
            </a:r>
            <a:r>
              <a:rPr sz="1600" b="1" dirty="0">
                <a:solidFill>
                  <a:srgbClr val="0070CD"/>
                </a:solidFill>
                <a:latin typeface="Arial"/>
                <a:cs typeface="Arial"/>
              </a:rPr>
              <a:t>1.25x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over-</a:t>
            </a:r>
            <a:r>
              <a:rPr sz="1600" spc="-10" dirty="0">
                <a:solidFill>
                  <a:srgbClr val="333333"/>
                </a:solidFill>
                <a:latin typeface="Arial"/>
                <a:cs typeface="Arial"/>
              </a:rPr>
              <a:t>represented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67100"/>
              </a:lnSpc>
            </a:pP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Ages 36-45: </a:t>
            </a:r>
            <a:r>
              <a:rPr sz="1600" b="1" dirty="0">
                <a:solidFill>
                  <a:srgbClr val="0070CD"/>
                </a:solidFill>
                <a:latin typeface="Arial"/>
                <a:cs typeface="Arial"/>
              </a:rPr>
              <a:t>1.15x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over-</a:t>
            </a:r>
            <a:r>
              <a:rPr sz="1600" spc="-10" dirty="0">
                <a:solidFill>
                  <a:srgbClr val="333333"/>
                </a:solidFill>
                <a:latin typeface="Arial"/>
                <a:cs typeface="Arial"/>
              </a:rPr>
              <a:t>represented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Ages 18-25: </a:t>
            </a:r>
            <a:r>
              <a:rPr sz="1600" b="1" dirty="0">
                <a:solidFill>
                  <a:srgbClr val="0070CD"/>
                </a:solidFill>
                <a:latin typeface="Arial"/>
                <a:cs typeface="Arial"/>
              </a:rPr>
              <a:t>0.92x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under-</a:t>
            </a:r>
            <a:r>
              <a:rPr sz="1600" spc="-10" dirty="0">
                <a:solidFill>
                  <a:srgbClr val="333333"/>
                </a:solidFill>
                <a:latin typeface="Arial"/>
                <a:cs typeface="Arial"/>
              </a:rPr>
              <a:t>represented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81479" y="1917194"/>
            <a:ext cx="111125" cy="124841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9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9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9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02039" y="2027745"/>
            <a:ext cx="3423920" cy="1085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Ages 55+: </a:t>
            </a:r>
            <a:r>
              <a:rPr sz="1600" b="1" dirty="0">
                <a:solidFill>
                  <a:srgbClr val="0070CD"/>
                </a:solidFill>
                <a:latin typeface="Arial"/>
                <a:cs typeface="Arial"/>
              </a:rPr>
              <a:t>1.38x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over-</a:t>
            </a:r>
            <a:r>
              <a:rPr sz="1600" spc="-10" dirty="0">
                <a:solidFill>
                  <a:srgbClr val="333333"/>
                </a:solidFill>
                <a:latin typeface="Arial"/>
                <a:cs typeface="Arial"/>
              </a:rPr>
              <a:t>represented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67100"/>
              </a:lnSpc>
            </a:pP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Ages 18-25: </a:t>
            </a:r>
            <a:r>
              <a:rPr sz="1600" b="1" dirty="0">
                <a:solidFill>
                  <a:srgbClr val="0070CD"/>
                </a:solidFill>
                <a:latin typeface="Arial"/>
                <a:cs typeface="Arial"/>
              </a:rPr>
              <a:t>1.17x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over-</a:t>
            </a:r>
            <a:r>
              <a:rPr sz="1600" spc="-10" dirty="0">
                <a:solidFill>
                  <a:srgbClr val="333333"/>
                </a:solidFill>
                <a:latin typeface="Arial"/>
                <a:cs typeface="Arial"/>
              </a:rPr>
              <a:t>represented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Ages 26-35: </a:t>
            </a:r>
            <a:r>
              <a:rPr sz="1600" b="1" dirty="0">
                <a:solidFill>
                  <a:srgbClr val="0070CD"/>
                </a:solidFill>
                <a:latin typeface="Arial"/>
                <a:cs typeface="Arial"/>
              </a:rPr>
              <a:t>0.75x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under-</a:t>
            </a:r>
            <a:r>
              <a:rPr sz="1600" spc="-10" dirty="0">
                <a:solidFill>
                  <a:srgbClr val="333333"/>
                </a:solidFill>
                <a:latin typeface="Arial"/>
                <a:cs typeface="Arial"/>
              </a:rPr>
              <a:t>represented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96429" y="1917194"/>
            <a:ext cx="111125" cy="124841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9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9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9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23423" y="4105004"/>
            <a:ext cx="2947670" cy="176276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555"/>
              </a:spcBef>
            </a:pPr>
            <a:r>
              <a:rPr sz="1600" b="1" spc="-10" dirty="0">
                <a:solidFill>
                  <a:srgbClr val="333333"/>
                </a:solidFill>
                <a:latin typeface="Arial"/>
                <a:cs typeface="Arial"/>
              </a:rPr>
              <a:t>Males</a:t>
            </a:r>
            <a:endParaRPr sz="1600">
              <a:latin typeface="Arial"/>
              <a:cs typeface="Arial"/>
            </a:endParaRPr>
          </a:p>
          <a:p>
            <a:pPr marR="93980" algn="ctr">
              <a:lnSpc>
                <a:spcPct val="100000"/>
              </a:lnSpc>
              <a:spcBef>
                <a:spcPts val="570"/>
              </a:spcBef>
            </a:pPr>
            <a:r>
              <a:rPr sz="1900" b="1" spc="-10" dirty="0">
                <a:solidFill>
                  <a:srgbClr val="0070CD"/>
                </a:solidFill>
                <a:latin typeface="Arial"/>
                <a:cs typeface="Arial"/>
              </a:rPr>
              <a:t>1.09x</a:t>
            </a:r>
            <a:endParaRPr sz="1900">
              <a:latin typeface="Arial"/>
              <a:cs typeface="Arial"/>
            </a:endParaRPr>
          </a:p>
          <a:p>
            <a:pPr marR="93980" algn="ctr">
              <a:lnSpc>
                <a:spcPct val="100000"/>
              </a:lnSpc>
              <a:spcBef>
                <a:spcPts val="530"/>
              </a:spcBef>
            </a:pP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more likely to be high </a:t>
            </a:r>
            <a:r>
              <a:rPr sz="1600" spc="-10" dirty="0">
                <a:solidFill>
                  <a:srgbClr val="333333"/>
                </a:solidFill>
                <a:latin typeface="Arial"/>
                <a:cs typeface="Arial"/>
              </a:rPr>
              <a:t>spenders</a:t>
            </a:r>
            <a:endParaRPr sz="160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  <a:spcBef>
                <a:spcPts val="869"/>
              </a:spcBef>
            </a:pP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Over-indexed in tech </a:t>
            </a:r>
            <a:r>
              <a:rPr sz="1600" spc="-10" dirty="0">
                <a:solidFill>
                  <a:srgbClr val="333333"/>
                </a:solidFill>
                <a:latin typeface="Arial"/>
                <a:cs typeface="Arial"/>
              </a:rPr>
              <a:t>products</a:t>
            </a:r>
            <a:endParaRPr sz="160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  <a:spcBef>
                <a:spcPts val="1290"/>
              </a:spcBef>
            </a:pP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Higher average basket </a:t>
            </a:r>
            <a:r>
              <a:rPr sz="1600" spc="-20" dirty="0">
                <a:solidFill>
                  <a:srgbClr val="333333"/>
                </a:solidFill>
                <a:latin typeface="Arial"/>
                <a:cs typeface="Arial"/>
              </a:rPr>
              <a:t>size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21553" y="5079589"/>
            <a:ext cx="111125" cy="84074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9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9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78096" y="4105004"/>
            <a:ext cx="2958465" cy="176276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R="184150" algn="ctr">
              <a:lnSpc>
                <a:spcPct val="100000"/>
              </a:lnSpc>
              <a:spcBef>
                <a:spcPts val="555"/>
              </a:spcBef>
            </a:pPr>
            <a:r>
              <a:rPr sz="1600" b="1" spc="-10" dirty="0">
                <a:solidFill>
                  <a:srgbClr val="333333"/>
                </a:solidFill>
                <a:latin typeface="Arial"/>
                <a:cs typeface="Arial"/>
              </a:rPr>
              <a:t>Females</a:t>
            </a:r>
            <a:endParaRPr sz="1600">
              <a:latin typeface="Arial"/>
              <a:cs typeface="Arial"/>
            </a:endParaRPr>
          </a:p>
          <a:p>
            <a:pPr marR="184150" algn="ctr">
              <a:lnSpc>
                <a:spcPct val="100000"/>
              </a:lnSpc>
              <a:spcBef>
                <a:spcPts val="570"/>
              </a:spcBef>
            </a:pPr>
            <a:r>
              <a:rPr sz="1900" b="1" spc="-10" dirty="0">
                <a:solidFill>
                  <a:srgbClr val="666666"/>
                </a:solidFill>
                <a:latin typeface="Arial"/>
                <a:cs typeface="Arial"/>
              </a:rPr>
              <a:t>1.20x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more likely to be low </a:t>
            </a:r>
            <a:r>
              <a:rPr sz="1600" spc="-10" dirty="0">
                <a:solidFill>
                  <a:srgbClr val="333333"/>
                </a:solidFill>
                <a:latin typeface="Arial"/>
                <a:cs typeface="Arial"/>
              </a:rPr>
              <a:t>spenders</a:t>
            </a:r>
            <a:endParaRPr sz="1600">
              <a:latin typeface="Arial"/>
              <a:cs typeface="Arial"/>
            </a:endParaRPr>
          </a:p>
          <a:p>
            <a:pPr marL="125730">
              <a:lnSpc>
                <a:spcPct val="100000"/>
              </a:lnSpc>
              <a:spcBef>
                <a:spcPts val="869"/>
              </a:spcBef>
            </a:pP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Higher frequency of </a:t>
            </a:r>
            <a:r>
              <a:rPr sz="1600" spc="-10" dirty="0">
                <a:solidFill>
                  <a:srgbClr val="333333"/>
                </a:solidFill>
                <a:latin typeface="Arial"/>
                <a:cs typeface="Arial"/>
              </a:rPr>
              <a:t>visits</a:t>
            </a:r>
            <a:endParaRPr sz="1600">
              <a:latin typeface="Arial"/>
              <a:cs typeface="Arial"/>
            </a:endParaRPr>
          </a:p>
          <a:p>
            <a:pPr marL="125730">
              <a:lnSpc>
                <a:spcPct val="100000"/>
              </a:lnSpc>
              <a:spcBef>
                <a:spcPts val="1290"/>
              </a:spcBef>
            </a:pP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More small-basket </a:t>
            </a:r>
            <a:r>
              <a:rPr sz="1600" spc="-10" dirty="0">
                <a:solidFill>
                  <a:srgbClr val="333333"/>
                </a:solidFill>
                <a:latin typeface="Arial"/>
                <a:cs typeface="Arial"/>
              </a:rPr>
              <a:t>transactions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85706" y="5079589"/>
            <a:ext cx="111125" cy="84074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9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9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r>
              <a:rPr dirty="0"/>
              <a:t>Walmart</a:t>
            </a:r>
            <a:r>
              <a:rPr spc="5" dirty="0"/>
              <a:t> </a:t>
            </a:r>
            <a:r>
              <a:rPr dirty="0"/>
              <a:t>Customer</a:t>
            </a:r>
            <a:r>
              <a:rPr spc="10" dirty="0"/>
              <a:t> </a:t>
            </a:r>
            <a:r>
              <a:rPr dirty="0"/>
              <a:t>Segmentation</a:t>
            </a:r>
            <a:r>
              <a:rPr spc="5" dirty="0"/>
              <a:t> </a:t>
            </a:r>
            <a:r>
              <a:rPr dirty="0"/>
              <a:t>&amp;</a:t>
            </a:r>
            <a:r>
              <a:rPr spc="10" dirty="0"/>
              <a:t> </a:t>
            </a:r>
            <a:r>
              <a:rPr spc="-10" dirty="0"/>
              <a:t>Insights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r>
              <a:rPr dirty="0"/>
              <a:t>May</a:t>
            </a:r>
            <a:r>
              <a:rPr spc="15" dirty="0"/>
              <a:t>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0049" y="720566"/>
            <a:ext cx="10629900" cy="17780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7348" y="197719"/>
            <a:ext cx="8756651" cy="37317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P</a:t>
            </a:r>
            <a:r>
              <a:rPr lang="en-US" dirty="0"/>
              <a:t>remium Buyers Cluster Around Categories 9 and 18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400049" y="915447"/>
            <a:ext cx="3608070" cy="5076190"/>
            <a:chOff x="400049" y="915447"/>
            <a:chExt cx="3608070" cy="5076190"/>
          </a:xfrm>
        </p:grpSpPr>
        <p:sp>
          <p:nvSpPr>
            <p:cNvPr id="5" name="object 5"/>
            <p:cNvSpPr/>
            <p:nvPr/>
          </p:nvSpPr>
          <p:spPr>
            <a:xfrm>
              <a:off x="400049" y="915447"/>
              <a:ext cx="3608070" cy="5076190"/>
            </a:xfrm>
            <a:custGeom>
              <a:avLst/>
              <a:gdLst/>
              <a:ahLst/>
              <a:cxnLst/>
              <a:rect l="l" t="t" r="r" b="b"/>
              <a:pathLst>
                <a:path w="3608070" h="507619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w="3608070" h="5076190">
                  <a:moveTo>
                    <a:pt x="3608069" y="5075777"/>
                  </a:moveTo>
                  <a:lnTo>
                    <a:pt x="3461763" y="5075777"/>
                  </a:lnTo>
                  <a:lnTo>
                    <a:pt x="3468544" y="5074427"/>
                  </a:lnTo>
                  <a:lnTo>
                    <a:pt x="3481567" y="5069033"/>
                  </a:lnTo>
                  <a:lnTo>
                    <a:pt x="3506517" y="5036454"/>
                  </a:lnTo>
                  <a:lnTo>
                    <a:pt x="3507866" y="5029674"/>
                  </a:lnTo>
                  <a:lnTo>
                    <a:pt x="3507866" y="46101"/>
                  </a:lnTo>
                  <a:lnTo>
                    <a:pt x="3487315" y="10583"/>
                  </a:lnTo>
                  <a:lnTo>
                    <a:pt x="3461765" y="0"/>
                  </a:lnTo>
                  <a:lnTo>
                    <a:pt x="3608069" y="0"/>
                  </a:lnTo>
                  <a:lnTo>
                    <a:pt x="3608069" y="5075777"/>
                  </a:lnTo>
                  <a:close/>
                </a:path>
                <a:path w="3608070" h="5076190">
                  <a:moveTo>
                    <a:pt x="46102" y="5075777"/>
                  </a:moveTo>
                  <a:lnTo>
                    <a:pt x="0" y="5075777"/>
                  </a:lnTo>
                  <a:lnTo>
                    <a:pt x="0" y="5029675"/>
                  </a:lnTo>
                  <a:lnTo>
                    <a:pt x="1348" y="5036454"/>
                  </a:lnTo>
                  <a:lnTo>
                    <a:pt x="6742" y="5049477"/>
                  </a:lnTo>
                  <a:lnTo>
                    <a:pt x="10583" y="5055225"/>
                  </a:lnTo>
                  <a:lnTo>
                    <a:pt x="20550" y="5065192"/>
                  </a:lnTo>
                  <a:lnTo>
                    <a:pt x="26298" y="5069033"/>
                  </a:lnTo>
                  <a:lnTo>
                    <a:pt x="39321" y="5074427"/>
                  </a:lnTo>
                  <a:lnTo>
                    <a:pt x="46102" y="507577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0049" y="915447"/>
              <a:ext cx="3508375" cy="5076190"/>
            </a:xfrm>
            <a:custGeom>
              <a:avLst/>
              <a:gdLst/>
              <a:ahLst/>
              <a:cxnLst/>
              <a:rect l="l" t="t" r="r" b="b"/>
              <a:pathLst>
                <a:path w="3508375" h="5076190">
                  <a:moveTo>
                    <a:pt x="3458207" y="5075776"/>
                  </a:moveTo>
                  <a:lnTo>
                    <a:pt x="49659" y="5075776"/>
                  </a:lnTo>
                  <a:lnTo>
                    <a:pt x="46203" y="5075435"/>
                  </a:lnTo>
                  <a:lnTo>
                    <a:pt x="10896" y="5055056"/>
                  </a:lnTo>
                  <a:lnTo>
                    <a:pt x="0" y="5026117"/>
                  </a:lnTo>
                  <a:lnTo>
                    <a:pt x="0" y="5022627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3458207" y="0"/>
                  </a:lnTo>
                  <a:lnTo>
                    <a:pt x="3494767" y="18034"/>
                  </a:lnTo>
                  <a:lnTo>
                    <a:pt x="3507866" y="49659"/>
                  </a:lnTo>
                  <a:lnTo>
                    <a:pt x="3507866" y="5026117"/>
                  </a:lnTo>
                  <a:lnTo>
                    <a:pt x="3489831" y="5062677"/>
                  </a:lnTo>
                  <a:lnTo>
                    <a:pt x="3461663" y="5075435"/>
                  </a:lnTo>
                  <a:lnTo>
                    <a:pt x="3458207" y="5075776"/>
                  </a:lnTo>
                  <a:close/>
                </a:path>
              </a:pathLst>
            </a:custGeom>
            <a:solidFill>
              <a:srgbClr val="F5F5F5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7215" y="1951862"/>
              <a:ext cx="3154045" cy="2241550"/>
            </a:xfrm>
            <a:custGeom>
              <a:avLst/>
              <a:gdLst/>
              <a:ahLst/>
              <a:cxnLst/>
              <a:rect l="l" t="t" r="r" b="b"/>
              <a:pathLst>
                <a:path w="3154045" h="2241550">
                  <a:moveTo>
                    <a:pt x="3153537" y="2232279"/>
                  </a:moveTo>
                  <a:lnTo>
                    <a:pt x="0" y="2232279"/>
                  </a:lnTo>
                  <a:lnTo>
                    <a:pt x="0" y="2241143"/>
                  </a:lnTo>
                  <a:lnTo>
                    <a:pt x="3153537" y="2241143"/>
                  </a:lnTo>
                  <a:lnTo>
                    <a:pt x="3153537" y="2232279"/>
                  </a:lnTo>
                  <a:close/>
                </a:path>
                <a:path w="3154045" h="2241550">
                  <a:moveTo>
                    <a:pt x="3153537" y="0"/>
                  </a:moveTo>
                  <a:lnTo>
                    <a:pt x="0" y="0"/>
                  </a:lnTo>
                  <a:lnTo>
                    <a:pt x="0" y="8864"/>
                  </a:lnTo>
                  <a:lnTo>
                    <a:pt x="3153537" y="8864"/>
                  </a:lnTo>
                  <a:lnTo>
                    <a:pt x="3153537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33581" y="1071054"/>
            <a:ext cx="304101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dirty="0">
                <a:solidFill>
                  <a:srgbClr val="004B90"/>
                </a:solidFill>
                <a:latin typeface="Arial"/>
                <a:cs typeface="Arial"/>
              </a:rPr>
              <a:t>Category</a:t>
            </a:r>
            <a:r>
              <a:rPr sz="1750" b="1" spc="-100" dirty="0">
                <a:solidFill>
                  <a:srgbClr val="004B90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004B90"/>
                </a:solidFill>
                <a:latin typeface="Arial"/>
                <a:cs typeface="Arial"/>
              </a:rPr>
              <a:t>Performance</a:t>
            </a:r>
            <a:r>
              <a:rPr sz="1750" b="1" spc="-95" dirty="0">
                <a:solidFill>
                  <a:srgbClr val="004B90"/>
                </a:solidFill>
                <a:latin typeface="Arial"/>
                <a:cs typeface="Arial"/>
              </a:rPr>
              <a:t> </a:t>
            </a:r>
            <a:r>
              <a:rPr sz="1750" b="1" spc="-10" dirty="0">
                <a:solidFill>
                  <a:srgbClr val="004B90"/>
                </a:solidFill>
                <a:latin typeface="Arial"/>
                <a:cs typeface="Arial"/>
              </a:rPr>
              <a:t>Index</a:t>
            </a:r>
            <a:endParaRPr sz="17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6039" y="1544970"/>
            <a:ext cx="2936240" cy="3181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b="1" dirty="0">
                <a:solidFill>
                  <a:srgbClr val="333333"/>
                </a:solidFill>
                <a:latin typeface="Arial"/>
                <a:cs typeface="Arial"/>
              </a:rPr>
              <a:t>High</a:t>
            </a:r>
            <a:r>
              <a:rPr sz="1900" b="1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333333"/>
                </a:solidFill>
                <a:latin typeface="Arial"/>
                <a:cs typeface="Arial"/>
              </a:rPr>
              <a:t>Spender</a:t>
            </a:r>
            <a:r>
              <a:rPr sz="1900" b="1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333333"/>
                </a:solidFill>
                <a:latin typeface="Arial"/>
                <a:cs typeface="Arial"/>
              </a:rPr>
              <a:t>Categories</a:t>
            </a:r>
            <a:endParaRPr sz="1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3167" y="3777249"/>
            <a:ext cx="2881630" cy="3181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b="1" dirty="0">
                <a:solidFill>
                  <a:srgbClr val="333333"/>
                </a:solidFill>
                <a:latin typeface="Arial"/>
                <a:cs typeface="Arial"/>
              </a:rPr>
              <a:t>Low</a:t>
            </a:r>
            <a:r>
              <a:rPr sz="1900" b="1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333333"/>
                </a:solidFill>
                <a:latin typeface="Arial"/>
                <a:cs typeface="Arial"/>
              </a:rPr>
              <a:t>Spender</a:t>
            </a:r>
            <a:r>
              <a:rPr sz="1900" b="1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333333"/>
                </a:solidFill>
                <a:latin typeface="Arial"/>
                <a:cs typeface="Arial"/>
              </a:rPr>
              <a:t>Categories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983735" y="915447"/>
            <a:ext cx="7046595" cy="5076190"/>
            <a:chOff x="3983735" y="915447"/>
            <a:chExt cx="7046595" cy="5076190"/>
          </a:xfrm>
        </p:grpSpPr>
        <p:sp>
          <p:nvSpPr>
            <p:cNvPr id="12" name="object 12"/>
            <p:cNvSpPr/>
            <p:nvPr/>
          </p:nvSpPr>
          <p:spPr>
            <a:xfrm>
              <a:off x="3983735" y="915447"/>
              <a:ext cx="147955" cy="5076190"/>
            </a:xfrm>
            <a:custGeom>
              <a:avLst/>
              <a:gdLst/>
              <a:ahLst/>
              <a:cxnLst/>
              <a:rect l="l" t="t" r="r" b="b"/>
              <a:pathLst>
                <a:path w="147954" h="5076190">
                  <a:moveTo>
                    <a:pt x="147448" y="5075777"/>
                  </a:moveTo>
                  <a:lnTo>
                    <a:pt x="0" y="5075777"/>
                  </a:lnTo>
                  <a:lnTo>
                    <a:pt x="0" y="0"/>
                  </a:lnTo>
                  <a:lnTo>
                    <a:pt x="147446" y="0"/>
                  </a:lnTo>
                  <a:lnTo>
                    <a:pt x="140667" y="1348"/>
                  </a:lnTo>
                  <a:lnTo>
                    <a:pt x="127643" y="6742"/>
                  </a:lnTo>
                  <a:lnTo>
                    <a:pt x="102694" y="39321"/>
                  </a:lnTo>
                  <a:lnTo>
                    <a:pt x="101345" y="46101"/>
                  </a:lnTo>
                  <a:lnTo>
                    <a:pt x="101345" y="5029674"/>
                  </a:lnTo>
                  <a:lnTo>
                    <a:pt x="121896" y="5065192"/>
                  </a:lnTo>
                  <a:lnTo>
                    <a:pt x="140667" y="5074427"/>
                  </a:lnTo>
                  <a:lnTo>
                    <a:pt x="147448" y="507577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85081" y="915447"/>
              <a:ext cx="6944995" cy="5076190"/>
            </a:xfrm>
            <a:custGeom>
              <a:avLst/>
              <a:gdLst/>
              <a:ahLst/>
              <a:cxnLst/>
              <a:rect l="l" t="t" r="r" b="b"/>
              <a:pathLst>
                <a:path w="6944995" h="5076190">
                  <a:moveTo>
                    <a:pt x="6944868" y="5075777"/>
                  </a:moveTo>
                  <a:lnTo>
                    <a:pt x="49659" y="5075777"/>
                  </a:lnTo>
                  <a:lnTo>
                    <a:pt x="46203" y="5075436"/>
                  </a:lnTo>
                  <a:lnTo>
                    <a:pt x="10895" y="5055056"/>
                  </a:lnTo>
                  <a:lnTo>
                    <a:pt x="0" y="5026117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6944868" y="0"/>
                  </a:lnTo>
                  <a:lnTo>
                    <a:pt x="6944868" y="5075777"/>
                  </a:lnTo>
                  <a:close/>
                </a:path>
              </a:pathLst>
            </a:custGeom>
            <a:solidFill>
              <a:srgbClr val="F5F5F5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60519" y="1347215"/>
              <a:ext cx="6869430" cy="3868420"/>
            </a:xfrm>
            <a:custGeom>
              <a:avLst/>
              <a:gdLst/>
              <a:ahLst/>
              <a:cxnLst/>
              <a:rect l="l" t="t" r="r" b="b"/>
              <a:pathLst>
                <a:path w="6869430" h="3868420">
                  <a:moveTo>
                    <a:pt x="6869429" y="3867911"/>
                  </a:moveTo>
                  <a:lnTo>
                    <a:pt x="0" y="3867911"/>
                  </a:lnTo>
                  <a:lnTo>
                    <a:pt x="0" y="0"/>
                  </a:lnTo>
                  <a:lnTo>
                    <a:pt x="6869429" y="0"/>
                  </a:lnTo>
                  <a:lnTo>
                    <a:pt x="6869429" y="82010"/>
                  </a:lnTo>
                  <a:lnTo>
                    <a:pt x="147828" y="82010"/>
                  </a:lnTo>
                  <a:lnTo>
                    <a:pt x="141048" y="83358"/>
                  </a:lnTo>
                  <a:lnTo>
                    <a:pt x="108468" y="108308"/>
                  </a:lnTo>
                  <a:lnTo>
                    <a:pt x="101726" y="128114"/>
                  </a:lnTo>
                  <a:lnTo>
                    <a:pt x="101726" y="3703223"/>
                  </a:lnTo>
                  <a:lnTo>
                    <a:pt x="122277" y="3738741"/>
                  </a:lnTo>
                  <a:lnTo>
                    <a:pt x="147828" y="3749325"/>
                  </a:lnTo>
                  <a:lnTo>
                    <a:pt x="6869429" y="3749325"/>
                  </a:lnTo>
                  <a:lnTo>
                    <a:pt x="6869429" y="3867911"/>
                  </a:lnTo>
                  <a:close/>
                </a:path>
                <a:path w="6869430" h="3868420">
                  <a:moveTo>
                    <a:pt x="6869429" y="128114"/>
                  </a:moveTo>
                  <a:lnTo>
                    <a:pt x="6848877" y="92593"/>
                  </a:lnTo>
                  <a:lnTo>
                    <a:pt x="6823327" y="82010"/>
                  </a:lnTo>
                  <a:lnTo>
                    <a:pt x="6869429" y="82010"/>
                  </a:lnTo>
                  <a:lnTo>
                    <a:pt x="6869429" y="128114"/>
                  </a:lnTo>
                  <a:close/>
                </a:path>
                <a:path w="6869430" h="3868420">
                  <a:moveTo>
                    <a:pt x="6869429" y="3749325"/>
                  </a:moveTo>
                  <a:lnTo>
                    <a:pt x="6823327" y="3749325"/>
                  </a:lnTo>
                  <a:lnTo>
                    <a:pt x="6830106" y="3747976"/>
                  </a:lnTo>
                  <a:lnTo>
                    <a:pt x="6843129" y="3742581"/>
                  </a:lnTo>
                  <a:lnTo>
                    <a:pt x="6868080" y="3710003"/>
                  </a:lnTo>
                  <a:lnTo>
                    <a:pt x="6869429" y="3703223"/>
                  </a:lnTo>
                  <a:lnTo>
                    <a:pt x="6869429" y="3749325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62247" y="1429225"/>
              <a:ext cx="6767830" cy="3667760"/>
            </a:xfrm>
            <a:custGeom>
              <a:avLst/>
              <a:gdLst/>
              <a:ahLst/>
              <a:cxnLst/>
              <a:rect l="l" t="t" r="r" b="b"/>
              <a:pathLst>
                <a:path w="6767830" h="3667760">
                  <a:moveTo>
                    <a:pt x="6718043" y="3667315"/>
                  </a:moveTo>
                  <a:lnTo>
                    <a:pt x="49659" y="3667315"/>
                  </a:lnTo>
                  <a:lnTo>
                    <a:pt x="46203" y="3666974"/>
                  </a:lnTo>
                  <a:lnTo>
                    <a:pt x="10896" y="3646595"/>
                  </a:lnTo>
                  <a:lnTo>
                    <a:pt x="0" y="3614166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6718043" y="0"/>
                  </a:lnTo>
                  <a:lnTo>
                    <a:pt x="6754604" y="18034"/>
                  </a:lnTo>
                  <a:lnTo>
                    <a:pt x="6767703" y="49659"/>
                  </a:lnTo>
                  <a:lnTo>
                    <a:pt x="6767703" y="3617656"/>
                  </a:lnTo>
                  <a:lnTo>
                    <a:pt x="6749666" y="3654215"/>
                  </a:lnTo>
                  <a:lnTo>
                    <a:pt x="6718043" y="3667315"/>
                  </a:lnTo>
                  <a:close/>
                </a:path>
              </a:pathLst>
            </a:custGeom>
            <a:solidFill>
              <a:srgbClr val="F5F5F5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635170" y="1062196"/>
            <a:ext cx="402209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b="1" dirty="0">
                <a:solidFill>
                  <a:srgbClr val="004B90"/>
                </a:solidFill>
                <a:latin typeface="Arial"/>
                <a:cs typeface="Arial"/>
              </a:rPr>
              <a:t>Category</a:t>
            </a:r>
            <a:r>
              <a:rPr sz="1300" b="1" spc="65" dirty="0">
                <a:solidFill>
                  <a:srgbClr val="004B90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04B90"/>
                </a:solidFill>
                <a:latin typeface="Arial"/>
                <a:cs typeface="Arial"/>
              </a:rPr>
              <a:t>Distribution</a:t>
            </a:r>
            <a:r>
              <a:rPr sz="1300" b="1" spc="5" dirty="0">
                <a:solidFill>
                  <a:srgbClr val="004B90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04B90"/>
                </a:solidFill>
                <a:latin typeface="Arial"/>
                <a:cs typeface="Arial"/>
              </a:rPr>
              <a:t>Across</a:t>
            </a:r>
            <a:r>
              <a:rPr sz="1300" b="1" spc="65" dirty="0">
                <a:solidFill>
                  <a:srgbClr val="004B90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04B90"/>
                </a:solidFill>
                <a:latin typeface="Arial"/>
                <a:cs typeface="Arial"/>
              </a:rPr>
              <a:t>Spending</a:t>
            </a:r>
            <a:r>
              <a:rPr sz="1300" b="1" spc="65" dirty="0">
                <a:solidFill>
                  <a:srgbClr val="004B90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004B90"/>
                </a:solidFill>
                <a:latin typeface="Arial"/>
                <a:cs typeface="Arial"/>
              </a:rPr>
              <a:t>Segments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4439412" y="1606390"/>
          <a:ext cx="6405243" cy="3301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4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4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4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Category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7589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0070CD"/>
                    </a:solidFill>
                  </a:tcPr>
                </a:tc>
                <a:tc>
                  <a:txBody>
                    <a:bodyPr/>
                    <a:lstStyle/>
                    <a:p>
                      <a:pPr marL="71120" marR="101600">
                        <a:lnSpc>
                          <a:spcPct val="107300"/>
                        </a:lnSpc>
                        <a:spcBef>
                          <a:spcPts val="434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High</a:t>
                      </a:r>
                      <a:r>
                        <a:rPr sz="1300" b="1" spc="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Spender Index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0070CD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189865">
                        <a:lnSpc>
                          <a:spcPct val="107300"/>
                        </a:lnSpc>
                        <a:spcBef>
                          <a:spcPts val="434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Mid</a:t>
                      </a:r>
                      <a:r>
                        <a:rPr sz="1300" b="1" spc="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Spender Index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0070CD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137795">
                        <a:lnSpc>
                          <a:spcPct val="107300"/>
                        </a:lnSpc>
                        <a:spcBef>
                          <a:spcPts val="434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Low</a:t>
                      </a:r>
                      <a:r>
                        <a:rPr sz="1300" b="1" spc="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Spender Index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0070CD"/>
                    </a:solidFill>
                  </a:tcPr>
                </a:tc>
                <a:tc>
                  <a:txBody>
                    <a:bodyPr/>
                    <a:lstStyle/>
                    <a:p>
                      <a:pPr marL="78105" marR="477520">
                        <a:lnSpc>
                          <a:spcPct val="107300"/>
                        </a:lnSpc>
                        <a:spcBef>
                          <a:spcPts val="434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Strategic Focus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0070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0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Category</a:t>
                      </a:r>
                      <a:r>
                        <a:rPr sz="1300" spc="5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6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7589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00" b="1" spc="-10" dirty="0">
                          <a:solidFill>
                            <a:srgbClr val="0070CD"/>
                          </a:solidFill>
                          <a:latin typeface="Arial"/>
                          <a:cs typeface="Arial"/>
                        </a:rPr>
                        <a:t>1.10x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7589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0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0.97x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7589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0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0.93x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7589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524510">
                        <a:lnSpc>
                          <a:spcPct val="111800"/>
                        </a:lnSpc>
                        <a:spcBef>
                          <a:spcPts val="365"/>
                        </a:spcBef>
                      </a:pPr>
                      <a:r>
                        <a:rPr sz="130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Premium Products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455"/>
                        </a:spcBef>
                      </a:pPr>
                      <a:r>
                        <a:rPr sz="130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Category</a:t>
                      </a:r>
                      <a:r>
                        <a:rPr sz="1300" spc="5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2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18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8478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EBEBEB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455"/>
                        </a:spcBef>
                      </a:pPr>
                      <a:r>
                        <a:rPr sz="1300" b="1" spc="-10" dirty="0">
                          <a:solidFill>
                            <a:srgbClr val="0070CD"/>
                          </a:solidFill>
                          <a:latin typeface="Arial"/>
                          <a:cs typeface="Arial"/>
                        </a:rPr>
                        <a:t>1.13x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8478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EBEBEB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455"/>
                        </a:spcBef>
                      </a:pPr>
                      <a:r>
                        <a:rPr sz="130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0.98x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8478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EBEBEB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455"/>
                        </a:spcBef>
                      </a:pPr>
                      <a:r>
                        <a:rPr sz="130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0.89x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8478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EBEBEB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8105" marR="524510">
                        <a:lnSpc>
                          <a:spcPct val="111800"/>
                        </a:lnSpc>
                        <a:spcBef>
                          <a:spcPts val="365"/>
                        </a:spcBef>
                      </a:pPr>
                      <a:r>
                        <a:rPr sz="130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Premium Products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EBEBEB">
                        <a:alpha val="501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585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30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Category</a:t>
                      </a:r>
                      <a:r>
                        <a:rPr sz="1300" spc="5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6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30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1.03x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30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1.05x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30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0.92x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30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Mixed</a:t>
                      </a:r>
                      <a:r>
                        <a:rPr sz="1300" spc="3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Strategy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455"/>
                        </a:spcBef>
                      </a:pPr>
                      <a:r>
                        <a:rPr sz="130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Category</a:t>
                      </a:r>
                      <a:r>
                        <a:rPr sz="1300" spc="5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2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19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8478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EBEBEB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455"/>
                        </a:spcBef>
                      </a:pPr>
                      <a:r>
                        <a:rPr sz="130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0.42x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8478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EBEBEB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455"/>
                        </a:spcBef>
                      </a:pPr>
                      <a:r>
                        <a:rPr sz="130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0.62x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8478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EBEBEB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455"/>
                        </a:spcBef>
                      </a:pPr>
                      <a:r>
                        <a:rPr sz="1300" b="1" spc="-10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3.96x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8478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EBEBEB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8105" marR="430530">
                        <a:lnSpc>
                          <a:spcPct val="111800"/>
                        </a:lnSpc>
                        <a:spcBef>
                          <a:spcPts val="365"/>
                        </a:spcBef>
                      </a:pPr>
                      <a:r>
                        <a:rPr sz="130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Value Campaign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EBEBEB">
                        <a:alpha val="501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0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Category</a:t>
                      </a:r>
                      <a:r>
                        <a:rPr sz="1300" spc="5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2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20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7589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0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0.45x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7589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0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0.68x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7589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00" b="1" spc="-10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3.87x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7589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430530">
                        <a:lnSpc>
                          <a:spcPct val="107300"/>
                        </a:lnSpc>
                        <a:spcBef>
                          <a:spcPts val="434"/>
                        </a:spcBef>
                      </a:pPr>
                      <a:r>
                        <a:rPr sz="130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Value Campaign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4701732" y="5214943"/>
            <a:ext cx="5888990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i="1" dirty="0">
                <a:solidFill>
                  <a:srgbClr val="333333"/>
                </a:solidFill>
                <a:latin typeface="Arial"/>
                <a:cs typeface="Arial"/>
              </a:rPr>
              <a:t>Index</a:t>
            </a:r>
            <a:r>
              <a:rPr sz="1050" i="1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333333"/>
                </a:solidFill>
                <a:latin typeface="Arial"/>
                <a:cs typeface="Arial"/>
              </a:rPr>
              <a:t>values</a:t>
            </a:r>
            <a:r>
              <a:rPr sz="1050" i="1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333333"/>
                </a:solidFill>
                <a:latin typeface="Arial"/>
                <a:cs typeface="Arial"/>
              </a:rPr>
              <a:t>represent</a:t>
            </a:r>
            <a:r>
              <a:rPr sz="1050" i="1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333333"/>
                </a:solidFill>
                <a:latin typeface="Arial"/>
                <a:cs typeface="Arial"/>
              </a:rPr>
              <a:t>ratio</a:t>
            </a:r>
            <a:r>
              <a:rPr sz="1050" i="1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sz="1050" i="1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333333"/>
                </a:solidFill>
                <a:latin typeface="Arial"/>
                <a:cs typeface="Arial"/>
              </a:rPr>
              <a:t>category</a:t>
            </a:r>
            <a:r>
              <a:rPr sz="1050" i="1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333333"/>
                </a:solidFill>
                <a:latin typeface="Arial"/>
                <a:cs typeface="Arial"/>
              </a:rPr>
              <a:t>presence</a:t>
            </a:r>
            <a:r>
              <a:rPr sz="1050" i="1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sz="1050" i="1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333333"/>
                </a:solidFill>
                <a:latin typeface="Arial"/>
                <a:cs typeface="Arial"/>
              </a:rPr>
              <a:t>each</a:t>
            </a:r>
            <a:r>
              <a:rPr sz="1050" i="1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333333"/>
                </a:solidFill>
                <a:latin typeface="Arial"/>
                <a:cs typeface="Arial"/>
              </a:rPr>
              <a:t>spending</a:t>
            </a:r>
            <a:r>
              <a:rPr sz="1050" i="1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333333"/>
                </a:solidFill>
                <a:latin typeface="Arial"/>
                <a:cs typeface="Arial"/>
              </a:rPr>
              <a:t>segment</a:t>
            </a:r>
            <a:r>
              <a:rPr sz="1050" i="1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333333"/>
                </a:solidFill>
                <a:latin typeface="Arial"/>
                <a:cs typeface="Arial"/>
              </a:rPr>
              <a:t>vs.</a:t>
            </a:r>
            <a:r>
              <a:rPr sz="1050" i="1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333333"/>
                </a:solidFill>
                <a:latin typeface="Arial"/>
                <a:cs typeface="Arial"/>
              </a:rPr>
              <a:t>overall</a:t>
            </a:r>
            <a:r>
              <a:rPr sz="1050" i="1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50" i="1" spc="-10" dirty="0">
                <a:solidFill>
                  <a:srgbClr val="333333"/>
                </a:solidFill>
                <a:latin typeface="Arial"/>
                <a:cs typeface="Arial"/>
              </a:rPr>
              <a:t>population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4514" y="2072036"/>
            <a:ext cx="118745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96699" y="2054320"/>
            <a:ext cx="2475865" cy="132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8905">
              <a:lnSpc>
                <a:spcPct val="106300"/>
              </a:lnSpc>
              <a:spcBef>
                <a:spcPts val="100"/>
              </a:spcBef>
            </a:pP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Category</a:t>
            </a:r>
            <a:r>
              <a:rPr sz="1750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9:</a:t>
            </a:r>
            <a:r>
              <a:rPr sz="1750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0070CD"/>
                </a:solidFill>
                <a:latin typeface="Arial"/>
                <a:cs typeface="Arial"/>
              </a:rPr>
              <a:t>1.10x</a:t>
            </a:r>
            <a:r>
              <a:rPr sz="1750" b="1" spc="-45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750" spc="-10" dirty="0">
                <a:solidFill>
                  <a:srgbClr val="333333"/>
                </a:solidFill>
                <a:latin typeface="Arial"/>
                <a:cs typeface="Arial"/>
              </a:rPr>
              <a:t>over- indexed</a:t>
            </a:r>
            <a:endParaRPr sz="1750">
              <a:latin typeface="Arial"/>
              <a:cs typeface="Arial"/>
            </a:endParaRPr>
          </a:p>
          <a:p>
            <a:pPr marL="12700" marR="5080">
              <a:lnSpc>
                <a:spcPct val="109600"/>
              </a:lnSpc>
              <a:spcBef>
                <a:spcPts val="1185"/>
              </a:spcBef>
            </a:pP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Category</a:t>
            </a:r>
            <a:r>
              <a:rPr sz="1750" spc="-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18:</a:t>
            </a:r>
            <a:r>
              <a:rPr sz="1750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0070CD"/>
                </a:solidFill>
                <a:latin typeface="Arial"/>
                <a:cs typeface="Arial"/>
              </a:rPr>
              <a:t>1.13x</a:t>
            </a:r>
            <a:r>
              <a:rPr sz="1750" b="1" spc="-50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750" spc="-10" dirty="0">
                <a:solidFill>
                  <a:srgbClr val="333333"/>
                </a:solidFill>
                <a:latin typeface="Arial"/>
                <a:cs typeface="Arial"/>
              </a:rPr>
              <a:t>over- indexed</a:t>
            </a:r>
            <a:endParaRPr sz="17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4514" y="2798413"/>
            <a:ext cx="118745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4514" y="4304315"/>
            <a:ext cx="118745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96699" y="4286599"/>
            <a:ext cx="2475865" cy="132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100"/>
              </a:spcBef>
            </a:pP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Category</a:t>
            </a:r>
            <a:r>
              <a:rPr sz="1750" spc="-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19:</a:t>
            </a:r>
            <a:r>
              <a:rPr sz="1750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0070CD"/>
                </a:solidFill>
                <a:latin typeface="Arial"/>
                <a:cs typeface="Arial"/>
              </a:rPr>
              <a:t>3.96x</a:t>
            </a:r>
            <a:r>
              <a:rPr sz="1750" b="1" spc="-50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750" spc="-10" dirty="0">
                <a:solidFill>
                  <a:srgbClr val="333333"/>
                </a:solidFill>
                <a:latin typeface="Arial"/>
                <a:cs typeface="Arial"/>
              </a:rPr>
              <a:t>over- indexed</a:t>
            </a:r>
            <a:endParaRPr sz="1750">
              <a:latin typeface="Arial"/>
              <a:cs typeface="Arial"/>
            </a:endParaRPr>
          </a:p>
          <a:p>
            <a:pPr marL="12700" marR="5080">
              <a:lnSpc>
                <a:spcPct val="109600"/>
              </a:lnSpc>
              <a:spcBef>
                <a:spcPts val="1185"/>
              </a:spcBef>
            </a:pP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Category</a:t>
            </a:r>
            <a:r>
              <a:rPr sz="1750" spc="-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20:</a:t>
            </a:r>
            <a:r>
              <a:rPr sz="1750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0070CD"/>
                </a:solidFill>
                <a:latin typeface="Arial"/>
                <a:cs typeface="Arial"/>
              </a:rPr>
              <a:t>3.87x</a:t>
            </a:r>
            <a:r>
              <a:rPr sz="1750" b="1" spc="-50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750" spc="-10" dirty="0">
                <a:solidFill>
                  <a:srgbClr val="333333"/>
                </a:solidFill>
                <a:latin typeface="Arial"/>
                <a:cs typeface="Arial"/>
              </a:rPr>
              <a:t>over- indexed</a:t>
            </a:r>
            <a:endParaRPr sz="17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4514" y="5030692"/>
            <a:ext cx="118745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r>
              <a:rPr dirty="0"/>
              <a:t>Walmart</a:t>
            </a:r>
            <a:r>
              <a:rPr spc="5" dirty="0"/>
              <a:t> </a:t>
            </a:r>
            <a:r>
              <a:rPr dirty="0"/>
              <a:t>Customer</a:t>
            </a:r>
            <a:r>
              <a:rPr spc="10" dirty="0"/>
              <a:t> </a:t>
            </a:r>
            <a:r>
              <a:rPr dirty="0"/>
              <a:t>Segmentation</a:t>
            </a:r>
            <a:r>
              <a:rPr spc="5" dirty="0"/>
              <a:t> </a:t>
            </a:r>
            <a:r>
              <a:rPr dirty="0"/>
              <a:t>&amp;</a:t>
            </a:r>
            <a:r>
              <a:rPr spc="10" dirty="0"/>
              <a:t> </a:t>
            </a:r>
            <a:r>
              <a:rPr spc="-10" dirty="0"/>
              <a:t>Insights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r>
              <a:rPr dirty="0"/>
              <a:t>May</a:t>
            </a:r>
            <a:r>
              <a:rPr spc="15" dirty="0"/>
              <a:t>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349" y="197719"/>
            <a:ext cx="6151880" cy="37317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dirty="0"/>
              <a:t>Higher </a:t>
            </a:r>
            <a:r>
              <a:rPr dirty="0"/>
              <a:t>City</a:t>
            </a:r>
            <a:r>
              <a:rPr spc="-95" dirty="0"/>
              <a:t> </a:t>
            </a:r>
            <a:r>
              <a:rPr spc="-25" dirty="0"/>
              <a:t>Tenure</a:t>
            </a:r>
            <a:r>
              <a:rPr lang="en-US" spc="-25" dirty="0"/>
              <a:t> More Likely to Spend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400049" y="871156"/>
            <a:ext cx="5415915" cy="5164455"/>
            <a:chOff x="400049" y="871156"/>
            <a:chExt cx="5415915" cy="5164455"/>
          </a:xfrm>
        </p:grpSpPr>
        <p:sp>
          <p:nvSpPr>
            <p:cNvPr id="4" name="object 4"/>
            <p:cNvSpPr/>
            <p:nvPr/>
          </p:nvSpPr>
          <p:spPr>
            <a:xfrm>
              <a:off x="400049" y="871156"/>
              <a:ext cx="5415915" cy="5164455"/>
            </a:xfrm>
            <a:custGeom>
              <a:avLst/>
              <a:gdLst/>
              <a:ahLst/>
              <a:cxnLst/>
              <a:rect l="l" t="t" r="r" b="b"/>
              <a:pathLst>
                <a:path w="5415915" h="5164455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w="5415915" h="5164455">
                  <a:moveTo>
                    <a:pt x="5415533" y="5164359"/>
                  </a:moveTo>
                  <a:lnTo>
                    <a:pt x="5268844" y="5164359"/>
                  </a:lnTo>
                  <a:lnTo>
                    <a:pt x="5275627" y="5163010"/>
                  </a:lnTo>
                  <a:lnTo>
                    <a:pt x="5288650" y="5157616"/>
                  </a:lnTo>
                  <a:lnTo>
                    <a:pt x="5313600" y="5125037"/>
                  </a:lnTo>
                  <a:lnTo>
                    <a:pt x="5314949" y="5118257"/>
                  </a:lnTo>
                  <a:lnTo>
                    <a:pt x="5314949" y="46101"/>
                  </a:lnTo>
                  <a:lnTo>
                    <a:pt x="5294398" y="10583"/>
                  </a:lnTo>
                  <a:lnTo>
                    <a:pt x="5268847" y="0"/>
                  </a:lnTo>
                  <a:lnTo>
                    <a:pt x="5415533" y="0"/>
                  </a:lnTo>
                  <a:lnTo>
                    <a:pt x="5415533" y="5164359"/>
                  </a:lnTo>
                  <a:close/>
                </a:path>
                <a:path w="5415915" h="5164455">
                  <a:moveTo>
                    <a:pt x="46104" y="5164359"/>
                  </a:moveTo>
                  <a:lnTo>
                    <a:pt x="0" y="5164359"/>
                  </a:lnTo>
                  <a:lnTo>
                    <a:pt x="0" y="5118258"/>
                  </a:lnTo>
                  <a:lnTo>
                    <a:pt x="1348" y="5125037"/>
                  </a:lnTo>
                  <a:lnTo>
                    <a:pt x="6742" y="5138060"/>
                  </a:lnTo>
                  <a:lnTo>
                    <a:pt x="10583" y="5143808"/>
                  </a:lnTo>
                  <a:lnTo>
                    <a:pt x="20550" y="5153775"/>
                  </a:lnTo>
                  <a:lnTo>
                    <a:pt x="26298" y="5157616"/>
                  </a:lnTo>
                  <a:lnTo>
                    <a:pt x="39321" y="5163010"/>
                  </a:lnTo>
                  <a:lnTo>
                    <a:pt x="46104" y="5164359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0049" y="871156"/>
              <a:ext cx="5314950" cy="5164455"/>
            </a:xfrm>
            <a:custGeom>
              <a:avLst/>
              <a:gdLst/>
              <a:ahLst/>
              <a:cxnLst/>
              <a:rect l="l" t="t" r="r" b="b"/>
              <a:pathLst>
                <a:path w="5314950" h="5164455">
                  <a:moveTo>
                    <a:pt x="5265290" y="5164359"/>
                  </a:moveTo>
                  <a:lnTo>
                    <a:pt x="49659" y="5164359"/>
                  </a:lnTo>
                  <a:lnTo>
                    <a:pt x="46203" y="5164018"/>
                  </a:lnTo>
                  <a:lnTo>
                    <a:pt x="10896" y="5143639"/>
                  </a:lnTo>
                  <a:lnTo>
                    <a:pt x="0" y="5114699"/>
                  </a:lnTo>
                  <a:lnTo>
                    <a:pt x="0" y="5111210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265290" y="0"/>
                  </a:lnTo>
                  <a:lnTo>
                    <a:pt x="5301850" y="18034"/>
                  </a:lnTo>
                  <a:lnTo>
                    <a:pt x="5314949" y="49659"/>
                  </a:lnTo>
                  <a:lnTo>
                    <a:pt x="5314949" y="5114699"/>
                  </a:lnTo>
                  <a:lnTo>
                    <a:pt x="5296914" y="5151259"/>
                  </a:lnTo>
                  <a:lnTo>
                    <a:pt x="5268746" y="5164018"/>
                  </a:lnTo>
                  <a:lnTo>
                    <a:pt x="5265290" y="5164359"/>
                  </a:lnTo>
                  <a:close/>
                </a:path>
              </a:pathLst>
            </a:custGeom>
            <a:solidFill>
              <a:srgbClr val="F5F5F5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7214" y="3670363"/>
              <a:ext cx="4960620" cy="2188210"/>
            </a:xfrm>
            <a:custGeom>
              <a:avLst/>
              <a:gdLst/>
              <a:ahLst/>
              <a:cxnLst/>
              <a:rect l="l" t="t" r="r" b="b"/>
              <a:pathLst>
                <a:path w="4960620" h="2188210">
                  <a:moveTo>
                    <a:pt x="4922202" y="2187987"/>
                  </a:moveTo>
                  <a:lnTo>
                    <a:pt x="38417" y="2187987"/>
                  </a:lnTo>
                  <a:lnTo>
                    <a:pt x="32768" y="2186863"/>
                  </a:lnTo>
                  <a:lnTo>
                    <a:pt x="1123" y="2155219"/>
                  </a:lnTo>
                  <a:lnTo>
                    <a:pt x="0" y="2149569"/>
                  </a:lnTo>
                  <a:lnTo>
                    <a:pt x="0" y="2143696"/>
                  </a:lnTo>
                  <a:lnTo>
                    <a:pt x="0" y="38417"/>
                  </a:lnTo>
                  <a:lnTo>
                    <a:pt x="21915" y="5618"/>
                  </a:lnTo>
                  <a:lnTo>
                    <a:pt x="38417" y="0"/>
                  </a:lnTo>
                  <a:lnTo>
                    <a:pt x="4922202" y="0"/>
                  </a:lnTo>
                  <a:lnTo>
                    <a:pt x="4955001" y="21915"/>
                  </a:lnTo>
                  <a:lnTo>
                    <a:pt x="4960619" y="38417"/>
                  </a:lnTo>
                  <a:lnTo>
                    <a:pt x="4960619" y="2149569"/>
                  </a:lnTo>
                  <a:lnTo>
                    <a:pt x="4938704" y="2182367"/>
                  </a:lnTo>
                  <a:lnTo>
                    <a:pt x="4927851" y="2186863"/>
                  </a:lnTo>
                  <a:lnTo>
                    <a:pt x="4922202" y="2187987"/>
                  </a:lnTo>
                  <a:close/>
                </a:path>
              </a:pathLst>
            </a:custGeom>
            <a:solidFill>
              <a:srgbClr val="0070CD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85279" y="3772820"/>
            <a:ext cx="4544695" cy="17583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0070CD"/>
                </a:solidFill>
                <a:latin typeface="Arial"/>
                <a:cs typeface="Arial"/>
              </a:rPr>
              <a:t>Loyalty Program </a:t>
            </a:r>
            <a:r>
              <a:rPr sz="1600" b="1" spc="-10" dirty="0">
                <a:solidFill>
                  <a:srgbClr val="0070CD"/>
                </a:solidFill>
                <a:latin typeface="Arial"/>
                <a:cs typeface="Arial"/>
              </a:rPr>
              <a:t>Opportunity</a:t>
            </a:r>
            <a:endParaRPr sz="1600">
              <a:latin typeface="Arial"/>
              <a:cs typeface="Arial"/>
            </a:endParaRPr>
          </a:p>
          <a:p>
            <a:pPr marL="12065" marR="5080" indent="-635" algn="ctr">
              <a:lnSpc>
                <a:spcPct val="109000"/>
              </a:lnSpc>
              <a:spcBef>
                <a:spcPts val="1255"/>
              </a:spcBef>
            </a:pP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Customers in their 3rd year of city </a:t>
            </a:r>
            <a:r>
              <a:rPr sz="1600" spc="-10" dirty="0">
                <a:solidFill>
                  <a:srgbClr val="333333"/>
                </a:solidFill>
                <a:latin typeface="Arial"/>
                <a:cs typeface="Arial"/>
              </a:rPr>
              <a:t>residence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represent a key transition point to higher </a:t>
            </a:r>
            <a:r>
              <a:rPr sz="1600" spc="-10" dirty="0">
                <a:solidFill>
                  <a:srgbClr val="333333"/>
                </a:solidFill>
                <a:latin typeface="Arial"/>
                <a:cs typeface="Arial"/>
              </a:rPr>
              <a:t>spending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behaviors.</a:t>
            </a:r>
            <a:r>
              <a:rPr sz="1600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This suggests targeting 2nd-</a:t>
            </a:r>
            <a:r>
              <a:rPr sz="1600" spc="-20" dirty="0">
                <a:solidFill>
                  <a:srgbClr val="333333"/>
                </a:solidFill>
                <a:latin typeface="Arial"/>
                <a:cs typeface="Arial"/>
              </a:rPr>
              <a:t>year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residents</a:t>
            </a: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for</a:t>
            </a: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loyalty</a:t>
            </a: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program upgrades</a:t>
            </a: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333333"/>
                </a:solidFill>
                <a:latin typeface="Arial"/>
                <a:cs typeface="Arial"/>
              </a:rPr>
              <a:t>to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accelerate</a:t>
            </a:r>
            <a:r>
              <a:rPr sz="16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this </a:t>
            </a:r>
            <a:r>
              <a:rPr sz="1600" spc="-10" dirty="0">
                <a:solidFill>
                  <a:srgbClr val="333333"/>
                </a:solidFill>
                <a:latin typeface="Arial"/>
                <a:cs typeface="Arial"/>
              </a:rPr>
              <a:t>shift.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791200" y="871156"/>
            <a:ext cx="5238750" cy="5164455"/>
            <a:chOff x="5791200" y="871156"/>
            <a:chExt cx="5238750" cy="5164455"/>
          </a:xfrm>
        </p:grpSpPr>
        <p:sp>
          <p:nvSpPr>
            <p:cNvPr id="9" name="object 9"/>
            <p:cNvSpPr/>
            <p:nvPr/>
          </p:nvSpPr>
          <p:spPr>
            <a:xfrm>
              <a:off x="5791200" y="871156"/>
              <a:ext cx="147320" cy="5164455"/>
            </a:xfrm>
            <a:custGeom>
              <a:avLst/>
              <a:gdLst/>
              <a:ahLst/>
              <a:cxnLst/>
              <a:rect l="l" t="t" r="r" b="b"/>
              <a:pathLst>
                <a:path w="147320" h="5164455">
                  <a:moveTo>
                    <a:pt x="147069" y="5164359"/>
                  </a:moveTo>
                  <a:lnTo>
                    <a:pt x="0" y="5164359"/>
                  </a:lnTo>
                  <a:lnTo>
                    <a:pt x="0" y="0"/>
                  </a:lnTo>
                  <a:lnTo>
                    <a:pt x="147065" y="0"/>
                  </a:lnTo>
                  <a:lnTo>
                    <a:pt x="140286" y="1348"/>
                  </a:lnTo>
                  <a:lnTo>
                    <a:pt x="127262" y="6742"/>
                  </a:lnTo>
                  <a:lnTo>
                    <a:pt x="102313" y="39321"/>
                  </a:lnTo>
                  <a:lnTo>
                    <a:pt x="100964" y="46101"/>
                  </a:lnTo>
                  <a:lnTo>
                    <a:pt x="100964" y="5118257"/>
                  </a:lnTo>
                  <a:lnTo>
                    <a:pt x="121515" y="5153775"/>
                  </a:lnTo>
                  <a:lnTo>
                    <a:pt x="140286" y="5163010"/>
                  </a:lnTo>
                  <a:lnTo>
                    <a:pt x="147069" y="5164359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92165" y="871156"/>
              <a:ext cx="5137785" cy="5164455"/>
            </a:xfrm>
            <a:custGeom>
              <a:avLst/>
              <a:gdLst/>
              <a:ahLst/>
              <a:cxnLst/>
              <a:rect l="l" t="t" r="r" b="b"/>
              <a:pathLst>
                <a:path w="5137784" h="5164455">
                  <a:moveTo>
                    <a:pt x="5137785" y="5164359"/>
                  </a:moveTo>
                  <a:lnTo>
                    <a:pt x="49658" y="5164359"/>
                  </a:lnTo>
                  <a:lnTo>
                    <a:pt x="46203" y="5164018"/>
                  </a:lnTo>
                  <a:lnTo>
                    <a:pt x="10896" y="5143639"/>
                  </a:lnTo>
                  <a:lnTo>
                    <a:pt x="0" y="5114699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137785" y="0"/>
                  </a:lnTo>
                  <a:lnTo>
                    <a:pt x="5137785" y="5164359"/>
                  </a:lnTo>
                  <a:close/>
                </a:path>
              </a:pathLst>
            </a:custGeom>
            <a:solidFill>
              <a:srgbClr val="F5F5F5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069329" y="2616231"/>
              <a:ext cx="4960620" cy="177165"/>
            </a:xfrm>
            <a:custGeom>
              <a:avLst/>
              <a:gdLst/>
              <a:ahLst/>
              <a:cxnLst/>
              <a:rect l="l" t="t" r="r" b="b"/>
              <a:pathLst>
                <a:path w="4960620" h="177164">
                  <a:moveTo>
                    <a:pt x="4937569" y="177164"/>
                  </a:moveTo>
                  <a:lnTo>
                    <a:pt x="23050" y="177164"/>
                  </a:lnTo>
                  <a:lnTo>
                    <a:pt x="19660" y="176490"/>
                  </a:lnTo>
                  <a:lnTo>
                    <a:pt x="0" y="154114"/>
                  </a:lnTo>
                  <a:lnTo>
                    <a:pt x="0" y="150590"/>
                  </a:lnTo>
                  <a:lnTo>
                    <a:pt x="0" y="23050"/>
                  </a:lnTo>
                  <a:lnTo>
                    <a:pt x="23050" y="0"/>
                  </a:lnTo>
                  <a:lnTo>
                    <a:pt x="4937569" y="0"/>
                  </a:lnTo>
                  <a:lnTo>
                    <a:pt x="4960620" y="23050"/>
                  </a:lnTo>
                  <a:lnTo>
                    <a:pt x="4960620" y="154114"/>
                  </a:lnTo>
                  <a:lnTo>
                    <a:pt x="4940958" y="176490"/>
                  </a:lnTo>
                  <a:lnTo>
                    <a:pt x="4937569" y="177164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69329" y="3138868"/>
              <a:ext cx="4960620" cy="177165"/>
            </a:xfrm>
            <a:custGeom>
              <a:avLst/>
              <a:gdLst/>
              <a:ahLst/>
              <a:cxnLst/>
              <a:rect l="l" t="t" r="r" b="b"/>
              <a:pathLst>
                <a:path w="4960620" h="177164">
                  <a:moveTo>
                    <a:pt x="4937569" y="177164"/>
                  </a:moveTo>
                  <a:lnTo>
                    <a:pt x="23050" y="177164"/>
                  </a:lnTo>
                  <a:lnTo>
                    <a:pt x="19660" y="176490"/>
                  </a:lnTo>
                  <a:lnTo>
                    <a:pt x="0" y="154114"/>
                  </a:lnTo>
                  <a:lnTo>
                    <a:pt x="0" y="150590"/>
                  </a:lnTo>
                  <a:lnTo>
                    <a:pt x="0" y="23050"/>
                  </a:lnTo>
                  <a:lnTo>
                    <a:pt x="23050" y="0"/>
                  </a:lnTo>
                  <a:lnTo>
                    <a:pt x="4937569" y="0"/>
                  </a:lnTo>
                  <a:lnTo>
                    <a:pt x="4960620" y="23050"/>
                  </a:lnTo>
                  <a:lnTo>
                    <a:pt x="4960620" y="154114"/>
                  </a:lnTo>
                  <a:lnTo>
                    <a:pt x="4940958" y="176490"/>
                  </a:lnTo>
                  <a:lnTo>
                    <a:pt x="4937569" y="177164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69329" y="3661504"/>
              <a:ext cx="4960620" cy="177165"/>
            </a:xfrm>
            <a:custGeom>
              <a:avLst/>
              <a:gdLst/>
              <a:ahLst/>
              <a:cxnLst/>
              <a:rect l="l" t="t" r="r" b="b"/>
              <a:pathLst>
                <a:path w="4960620" h="177164">
                  <a:moveTo>
                    <a:pt x="4937569" y="177164"/>
                  </a:moveTo>
                  <a:lnTo>
                    <a:pt x="23050" y="177164"/>
                  </a:lnTo>
                  <a:lnTo>
                    <a:pt x="19660" y="176490"/>
                  </a:lnTo>
                  <a:lnTo>
                    <a:pt x="0" y="154114"/>
                  </a:lnTo>
                  <a:lnTo>
                    <a:pt x="0" y="150590"/>
                  </a:lnTo>
                  <a:lnTo>
                    <a:pt x="0" y="23050"/>
                  </a:lnTo>
                  <a:lnTo>
                    <a:pt x="23050" y="0"/>
                  </a:lnTo>
                  <a:lnTo>
                    <a:pt x="4937569" y="0"/>
                  </a:lnTo>
                  <a:lnTo>
                    <a:pt x="4960620" y="23050"/>
                  </a:lnTo>
                  <a:lnTo>
                    <a:pt x="4960620" y="154114"/>
                  </a:lnTo>
                  <a:lnTo>
                    <a:pt x="4940958" y="176490"/>
                  </a:lnTo>
                  <a:lnTo>
                    <a:pt x="4937569" y="177164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69329" y="4184141"/>
              <a:ext cx="4960620" cy="177165"/>
            </a:xfrm>
            <a:custGeom>
              <a:avLst/>
              <a:gdLst/>
              <a:ahLst/>
              <a:cxnLst/>
              <a:rect l="l" t="t" r="r" b="b"/>
              <a:pathLst>
                <a:path w="4960620" h="177164">
                  <a:moveTo>
                    <a:pt x="4937569" y="177164"/>
                  </a:moveTo>
                  <a:lnTo>
                    <a:pt x="23050" y="177164"/>
                  </a:lnTo>
                  <a:lnTo>
                    <a:pt x="19660" y="176490"/>
                  </a:lnTo>
                  <a:lnTo>
                    <a:pt x="0" y="154114"/>
                  </a:lnTo>
                  <a:lnTo>
                    <a:pt x="0" y="150590"/>
                  </a:lnTo>
                  <a:lnTo>
                    <a:pt x="0" y="23050"/>
                  </a:lnTo>
                  <a:lnTo>
                    <a:pt x="23050" y="0"/>
                  </a:lnTo>
                  <a:lnTo>
                    <a:pt x="4937569" y="0"/>
                  </a:lnTo>
                  <a:lnTo>
                    <a:pt x="4960620" y="23050"/>
                  </a:lnTo>
                  <a:lnTo>
                    <a:pt x="4960620" y="154114"/>
                  </a:lnTo>
                  <a:lnTo>
                    <a:pt x="4940958" y="176490"/>
                  </a:lnTo>
                  <a:lnTo>
                    <a:pt x="4937569" y="177164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7399" y="1491233"/>
              <a:ext cx="132874" cy="13287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67555" y="1491233"/>
              <a:ext cx="132873" cy="13287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07709" y="1491233"/>
              <a:ext cx="132874" cy="13287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47865" y="1491233"/>
              <a:ext cx="132873" cy="132873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64514" y="1411211"/>
            <a:ext cx="11112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4514" y="2084438"/>
            <a:ext cx="11112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0124" y="1017905"/>
            <a:ext cx="4671060" cy="227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672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004B90"/>
                </a:solidFill>
                <a:latin typeface="Arial"/>
                <a:cs typeface="Arial"/>
              </a:rPr>
              <a:t>City Residence &amp; Spending </a:t>
            </a:r>
            <a:r>
              <a:rPr sz="1600" b="1" spc="-10" dirty="0">
                <a:solidFill>
                  <a:srgbClr val="004B90"/>
                </a:solidFill>
                <a:latin typeface="Arial"/>
                <a:cs typeface="Arial"/>
              </a:rPr>
              <a:t>Patterns</a:t>
            </a:r>
            <a:endParaRPr sz="1600">
              <a:latin typeface="Arial"/>
              <a:cs typeface="Arial"/>
            </a:endParaRPr>
          </a:p>
          <a:p>
            <a:pPr marL="12700" marR="403225">
              <a:lnSpc>
                <a:spcPct val="109000"/>
              </a:lnSpc>
              <a:spcBef>
                <a:spcPts val="975"/>
              </a:spcBef>
            </a:pPr>
            <a:r>
              <a:rPr sz="1600" b="1" dirty="0">
                <a:solidFill>
                  <a:srgbClr val="0070CD"/>
                </a:solidFill>
                <a:latin typeface="Arial"/>
                <a:cs typeface="Arial"/>
              </a:rPr>
              <a:t>3-Year</a:t>
            </a:r>
            <a:r>
              <a:rPr sz="1600" b="1" spc="-15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70CD"/>
                </a:solidFill>
                <a:latin typeface="Arial"/>
                <a:cs typeface="Arial"/>
              </a:rPr>
              <a:t>Residents:</a:t>
            </a:r>
            <a:r>
              <a:rPr sz="1600" b="1" spc="-15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1.08x</a:t>
            </a:r>
            <a:r>
              <a:rPr sz="16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more</a:t>
            </a:r>
            <a:r>
              <a:rPr sz="16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likely</a:t>
            </a:r>
            <a:r>
              <a:rPr sz="16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6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be</a:t>
            </a:r>
            <a:r>
              <a:rPr sz="16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333333"/>
                </a:solidFill>
                <a:latin typeface="Arial"/>
                <a:cs typeface="Arial"/>
              </a:rPr>
              <a:t>high </a:t>
            </a:r>
            <a:r>
              <a:rPr sz="1600" spc="-10" dirty="0">
                <a:solidFill>
                  <a:srgbClr val="333333"/>
                </a:solidFill>
                <a:latin typeface="Arial"/>
                <a:cs typeface="Arial"/>
              </a:rPr>
              <a:t>spenders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9000"/>
              </a:lnSpc>
              <a:spcBef>
                <a:spcPts val="1115"/>
              </a:spcBef>
            </a:pPr>
            <a:r>
              <a:rPr sz="1600" b="1" dirty="0">
                <a:solidFill>
                  <a:srgbClr val="0070CD"/>
                </a:solidFill>
                <a:latin typeface="Arial"/>
                <a:cs typeface="Arial"/>
              </a:rPr>
              <a:t>4+</a:t>
            </a:r>
            <a:r>
              <a:rPr sz="1600" b="1" spc="-55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70CD"/>
                </a:solidFill>
                <a:latin typeface="Arial"/>
                <a:cs typeface="Arial"/>
              </a:rPr>
              <a:t>Year</a:t>
            </a:r>
            <a:r>
              <a:rPr sz="1600" b="1" spc="-15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70CD"/>
                </a:solidFill>
                <a:latin typeface="Arial"/>
                <a:cs typeface="Arial"/>
              </a:rPr>
              <a:t>Residents:</a:t>
            </a:r>
            <a:r>
              <a:rPr sz="1600" b="1" spc="-15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1.05x</a:t>
            </a:r>
            <a:r>
              <a:rPr sz="16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over-represented</a:t>
            </a:r>
            <a:r>
              <a:rPr sz="16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sz="16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333333"/>
                </a:solidFill>
                <a:latin typeface="Arial"/>
                <a:cs typeface="Arial"/>
              </a:rPr>
              <a:t>mid- </a:t>
            </a:r>
            <a:r>
              <a:rPr sz="1600" spc="-10" dirty="0">
                <a:solidFill>
                  <a:srgbClr val="333333"/>
                </a:solidFill>
                <a:latin typeface="Arial"/>
                <a:cs typeface="Arial"/>
              </a:rPr>
              <a:t>spending</a:t>
            </a:r>
            <a:endParaRPr sz="1600">
              <a:latin typeface="Arial"/>
              <a:cs typeface="Arial"/>
            </a:endParaRPr>
          </a:p>
          <a:p>
            <a:pPr marL="12700" marR="59690">
              <a:lnSpc>
                <a:spcPct val="109000"/>
              </a:lnSpc>
              <a:spcBef>
                <a:spcPts val="1115"/>
              </a:spcBef>
            </a:pPr>
            <a:r>
              <a:rPr sz="1600" b="1" dirty="0">
                <a:solidFill>
                  <a:srgbClr val="0070CD"/>
                </a:solidFill>
                <a:latin typeface="Arial"/>
                <a:cs typeface="Arial"/>
              </a:rPr>
              <a:t>New</a:t>
            </a:r>
            <a:r>
              <a:rPr sz="1600" b="1" spc="-60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70CD"/>
                </a:solidFill>
                <a:latin typeface="Arial"/>
                <a:cs typeface="Arial"/>
              </a:rPr>
              <a:t>Arrivals (0-2 years):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Slightly over-indexed </a:t>
            </a:r>
            <a:r>
              <a:rPr sz="1600" spc="-25" dirty="0">
                <a:solidFill>
                  <a:srgbClr val="333333"/>
                </a:solidFill>
                <a:latin typeface="Arial"/>
                <a:cs typeface="Arial"/>
              </a:rPr>
              <a:t>as </a:t>
            </a:r>
            <a:r>
              <a:rPr sz="1600" dirty="0">
                <a:solidFill>
                  <a:srgbClr val="333333"/>
                </a:solidFill>
                <a:latin typeface="Arial"/>
                <a:cs typeface="Arial"/>
              </a:rPr>
              <a:t>low </a:t>
            </a:r>
            <a:r>
              <a:rPr sz="1600" spc="-10" dirty="0">
                <a:solidFill>
                  <a:srgbClr val="333333"/>
                </a:solidFill>
                <a:latin typeface="Arial"/>
                <a:cs typeface="Arial"/>
              </a:rPr>
              <a:t>spenders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4514" y="2757665"/>
            <a:ext cx="11112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50278" y="1027406"/>
            <a:ext cx="4897410" cy="1424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184150" algn="ctr">
              <a:lnSpc>
                <a:spcPct val="100000"/>
              </a:lnSpc>
              <a:spcBef>
                <a:spcPts val="90"/>
              </a:spcBef>
            </a:pPr>
            <a:r>
              <a:rPr sz="1750" b="1" dirty="0">
                <a:solidFill>
                  <a:srgbClr val="004B90"/>
                </a:solidFill>
                <a:latin typeface="Arial"/>
                <a:cs typeface="Arial"/>
              </a:rPr>
              <a:t>Spending</a:t>
            </a:r>
            <a:r>
              <a:rPr sz="1750" b="1" spc="-60" dirty="0">
                <a:solidFill>
                  <a:srgbClr val="004B90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004B90"/>
                </a:solidFill>
                <a:latin typeface="Arial"/>
                <a:cs typeface="Arial"/>
              </a:rPr>
              <a:t>Index</a:t>
            </a:r>
            <a:r>
              <a:rPr sz="1750" b="1" spc="-55" dirty="0">
                <a:solidFill>
                  <a:srgbClr val="004B90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004B90"/>
                </a:solidFill>
                <a:latin typeface="Arial"/>
                <a:cs typeface="Arial"/>
              </a:rPr>
              <a:t>by</a:t>
            </a:r>
            <a:r>
              <a:rPr sz="1750" b="1" spc="-80" dirty="0">
                <a:solidFill>
                  <a:srgbClr val="004B90"/>
                </a:solidFill>
                <a:latin typeface="Arial"/>
                <a:cs typeface="Arial"/>
              </a:rPr>
              <a:t> </a:t>
            </a:r>
            <a:r>
              <a:rPr sz="1750" b="1" spc="-10" dirty="0">
                <a:solidFill>
                  <a:srgbClr val="004B90"/>
                </a:solidFill>
                <a:latin typeface="Arial"/>
                <a:cs typeface="Arial"/>
              </a:rPr>
              <a:t>Years</a:t>
            </a:r>
            <a:r>
              <a:rPr sz="1750" b="1" spc="-55" dirty="0">
                <a:solidFill>
                  <a:srgbClr val="004B90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004B90"/>
                </a:solidFill>
                <a:latin typeface="Arial"/>
                <a:cs typeface="Arial"/>
              </a:rPr>
              <a:t>in</a:t>
            </a:r>
            <a:r>
              <a:rPr sz="1750" b="1" spc="-55" dirty="0">
                <a:solidFill>
                  <a:srgbClr val="004B90"/>
                </a:solidFill>
                <a:latin typeface="Arial"/>
                <a:cs typeface="Arial"/>
              </a:rPr>
              <a:t> </a:t>
            </a:r>
            <a:r>
              <a:rPr sz="1750" b="1" spc="-20" dirty="0">
                <a:solidFill>
                  <a:srgbClr val="004B90"/>
                </a:solidFill>
                <a:latin typeface="Arial"/>
                <a:cs typeface="Arial"/>
              </a:rPr>
              <a:t>City</a:t>
            </a:r>
            <a:endParaRPr sz="17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50" dirty="0">
              <a:latin typeface="Arial"/>
              <a:cs typeface="Arial"/>
            </a:endParaRPr>
          </a:p>
          <a:p>
            <a:pPr marR="218440" algn="ctr">
              <a:lnSpc>
                <a:spcPct val="100000"/>
              </a:lnSpc>
              <a:tabLst>
                <a:tab pos="1239520" algn="l"/>
                <a:tab pos="2578100" algn="l"/>
                <a:tab pos="3754120" algn="l"/>
              </a:tabLst>
            </a:pPr>
            <a:r>
              <a:rPr sz="1750" spc="-10" dirty="0">
                <a:solidFill>
                  <a:srgbClr val="333333"/>
                </a:solidFill>
                <a:latin typeface="Arial"/>
                <a:cs typeface="Arial"/>
              </a:rPr>
              <a:t>0-</a:t>
            </a: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175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spc="-10" dirty="0">
                <a:solidFill>
                  <a:srgbClr val="333333"/>
                </a:solidFill>
                <a:latin typeface="Arial"/>
                <a:cs typeface="Arial"/>
              </a:rPr>
              <a:t>Years</a:t>
            </a: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	</a:t>
            </a:r>
            <a:r>
              <a:rPr sz="1750" spc="-10" dirty="0">
                <a:solidFill>
                  <a:srgbClr val="333333"/>
                </a:solidFill>
                <a:latin typeface="Arial"/>
                <a:cs typeface="Arial"/>
              </a:rPr>
              <a:t>1-</a:t>
            </a: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2</a:t>
            </a:r>
            <a:r>
              <a:rPr sz="175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spc="-20" dirty="0">
                <a:solidFill>
                  <a:srgbClr val="333333"/>
                </a:solidFill>
                <a:latin typeface="Arial"/>
                <a:cs typeface="Arial"/>
              </a:rPr>
              <a:t>Years</a:t>
            </a: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	3</a:t>
            </a:r>
            <a:r>
              <a:rPr sz="175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spc="-10" dirty="0">
                <a:solidFill>
                  <a:srgbClr val="333333"/>
                </a:solidFill>
                <a:latin typeface="Arial"/>
                <a:cs typeface="Arial"/>
              </a:rPr>
              <a:t>Years</a:t>
            </a: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	4+</a:t>
            </a:r>
            <a:r>
              <a:rPr sz="175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spc="-10" dirty="0">
                <a:solidFill>
                  <a:srgbClr val="333333"/>
                </a:solidFill>
                <a:latin typeface="Arial"/>
                <a:cs typeface="Arial"/>
              </a:rPr>
              <a:t>Years</a:t>
            </a:r>
            <a:endParaRPr sz="1750" dirty="0">
              <a:latin typeface="Arial"/>
              <a:cs typeface="Arial"/>
            </a:endParaRPr>
          </a:p>
          <a:p>
            <a:pPr marL="786765" marR="971550" algn="ctr">
              <a:lnSpc>
                <a:spcPct val="245000"/>
              </a:lnSpc>
              <a:spcBef>
                <a:spcPts val="560"/>
              </a:spcBef>
            </a:pPr>
            <a:endParaRPr sz="12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r>
              <a:rPr dirty="0"/>
              <a:t>Walmart</a:t>
            </a:r>
            <a:r>
              <a:rPr spc="5" dirty="0"/>
              <a:t> </a:t>
            </a:r>
            <a:r>
              <a:rPr dirty="0"/>
              <a:t>Customer</a:t>
            </a:r>
            <a:r>
              <a:rPr spc="10" dirty="0"/>
              <a:t> </a:t>
            </a:r>
            <a:r>
              <a:rPr dirty="0"/>
              <a:t>Segmentation</a:t>
            </a:r>
            <a:r>
              <a:rPr spc="5" dirty="0"/>
              <a:t> </a:t>
            </a:r>
            <a:r>
              <a:rPr dirty="0"/>
              <a:t>&amp;</a:t>
            </a:r>
            <a:r>
              <a:rPr spc="10" dirty="0"/>
              <a:t> </a:t>
            </a:r>
            <a:r>
              <a:rPr spc="-10" dirty="0"/>
              <a:t>Insights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r>
              <a:rPr dirty="0"/>
              <a:t>May</a:t>
            </a:r>
            <a:r>
              <a:rPr spc="15" dirty="0"/>
              <a:t> </a:t>
            </a:r>
            <a:r>
              <a:rPr spc="-20" dirty="0"/>
              <a:t>2025</a:t>
            </a:r>
          </a:p>
        </p:txBody>
      </p:sp>
      <p:pic>
        <p:nvPicPr>
          <p:cNvPr id="33" name="Picture 32" descr="A screenshot of a graph&#10;&#10;AI-generated content may be incorrect.">
            <a:extLst>
              <a:ext uri="{FF2B5EF4-FFF2-40B4-BE49-F238E27FC236}">
                <a16:creationId xmlns:a16="http://schemas.microsoft.com/office/drawing/2014/main" id="{0AE28F76-A480-3136-B900-125D57AFFE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014" y="2567399"/>
            <a:ext cx="5012517" cy="21882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0049" y="693991"/>
            <a:ext cx="10629900" cy="17780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7349" y="197719"/>
            <a:ext cx="6693654" cy="37317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Oc</a:t>
            </a:r>
            <a:r>
              <a:rPr lang="en-US" spc="-10" dirty="0"/>
              <a:t>cupation 5 and 20 lead in Premium Spend</a:t>
            </a:r>
            <a:endParaRPr spc="-20" dirty="0"/>
          </a:p>
        </p:txBody>
      </p:sp>
      <p:grpSp>
        <p:nvGrpSpPr>
          <p:cNvPr id="4" name="object 4"/>
          <p:cNvGrpSpPr/>
          <p:nvPr/>
        </p:nvGrpSpPr>
        <p:grpSpPr>
          <a:xfrm>
            <a:off x="400049" y="888872"/>
            <a:ext cx="5415915" cy="5129530"/>
            <a:chOff x="400049" y="888872"/>
            <a:chExt cx="5415915" cy="5129530"/>
          </a:xfrm>
        </p:grpSpPr>
        <p:sp>
          <p:nvSpPr>
            <p:cNvPr id="5" name="object 5"/>
            <p:cNvSpPr/>
            <p:nvPr/>
          </p:nvSpPr>
          <p:spPr>
            <a:xfrm>
              <a:off x="400049" y="888872"/>
              <a:ext cx="5415915" cy="5129530"/>
            </a:xfrm>
            <a:custGeom>
              <a:avLst/>
              <a:gdLst/>
              <a:ahLst/>
              <a:cxnLst/>
              <a:rect l="l" t="t" r="r" b="b"/>
              <a:pathLst>
                <a:path w="5415915" h="512953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w="5415915" h="5129530">
                  <a:moveTo>
                    <a:pt x="5415533" y="5128926"/>
                  </a:moveTo>
                  <a:lnTo>
                    <a:pt x="5268844" y="5128926"/>
                  </a:lnTo>
                  <a:lnTo>
                    <a:pt x="5275627" y="5127577"/>
                  </a:lnTo>
                  <a:lnTo>
                    <a:pt x="5288650" y="5122182"/>
                  </a:lnTo>
                  <a:lnTo>
                    <a:pt x="5313600" y="5089604"/>
                  </a:lnTo>
                  <a:lnTo>
                    <a:pt x="5314949" y="5082824"/>
                  </a:lnTo>
                  <a:lnTo>
                    <a:pt x="5314949" y="46101"/>
                  </a:lnTo>
                  <a:lnTo>
                    <a:pt x="5294398" y="10583"/>
                  </a:lnTo>
                  <a:lnTo>
                    <a:pt x="5268847" y="0"/>
                  </a:lnTo>
                  <a:lnTo>
                    <a:pt x="5415533" y="0"/>
                  </a:lnTo>
                  <a:lnTo>
                    <a:pt x="5415533" y="5128926"/>
                  </a:lnTo>
                  <a:close/>
                </a:path>
                <a:path w="5415915" h="5129530">
                  <a:moveTo>
                    <a:pt x="46104" y="5128926"/>
                  </a:moveTo>
                  <a:lnTo>
                    <a:pt x="0" y="5128926"/>
                  </a:lnTo>
                  <a:lnTo>
                    <a:pt x="0" y="5082825"/>
                  </a:lnTo>
                  <a:lnTo>
                    <a:pt x="1348" y="5089604"/>
                  </a:lnTo>
                  <a:lnTo>
                    <a:pt x="6742" y="5102627"/>
                  </a:lnTo>
                  <a:lnTo>
                    <a:pt x="10583" y="5108375"/>
                  </a:lnTo>
                  <a:lnTo>
                    <a:pt x="20550" y="5118342"/>
                  </a:lnTo>
                  <a:lnTo>
                    <a:pt x="26298" y="5122182"/>
                  </a:lnTo>
                  <a:lnTo>
                    <a:pt x="39321" y="5127577"/>
                  </a:lnTo>
                  <a:lnTo>
                    <a:pt x="46104" y="512892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0049" y="888872"/>
              <a:ext cx="5314950" cy="5129530"/>
            </a:xfrm>
            <a:custGeom>
              <a:avLst/>
              <a:gdLst/>
              <a:ahLst/>
              <a:cxnLst/>
              <a:rect l="l" t="t" r="r" b="b"/>
              <a:pathLst>
                <a:path w="5314950" h="5129530">
                  <a:moveTo>
                    <a:pt x="5265290" y="5128926"/>
                  </a:moveTo>
                  <a:lnTo>
                    <a:pt x="49659" y="5128926"/>
                  </a:lnTo>
                  <a:lnTo>
                    <a:pt x="46203" y="5128585"/>
                  </a:lnTo>
                  <a:lnTo>
                    <a:pt x="10896" y="5108206"/>
                  </a:lnTo>
                  <a:lnTo>
                    <a:pt x="0" y="5079266"/>
                  </a:lnTo>
                  <a:lnTo>
                    <a:pt x="0" y="5075777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265290" y="0"/>
                  </a:lnTo>
                  <a:lnTo>
                    <a:pt x="5301850" y="18034"/>
                  </a:lnTo>
                  <a:lnTo>
                    <a:pt x="5314949" y="49659"/>
                  </a:lnTo>
                  <a:lnTo>
                    <a:pt x="5314949" y="5079266"/>
                  </a:lnTo>
                  <a:lnTo>
                    <a:pt x="5296914" y="5115826"/>
                  </a:lnTo>
                  <a:lnTo>
                    <a:pt x="5268746" y="5128585"/>
                  </a:lnTo>
                  <a:lnTo>
                    <a:pt x="5265290" y="5128926"/>
                  </a:lnTo>
                  <a:close/>
                </a:path>
              </a:pathLst>
            </a:custGeom>
            <a:solidFill>
              <a:srgbClr val="F5F5F5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7214" y="1721548"/>
              <a:ext cx="4960620" cy="177165"/>
            </a:xfrm>
            <a:custGeom>
              <a:avLst/>
              <a:gdLst/>
              <a:ahLst/>
              <a:cxnLst/>
              <a:rect l="l" t="t" r="r" b="b"/>
              <a:pathLst>
                <a:path w="4960620" h="177164">
                  <a:moveTo>
                    <a:pt x="4937569" y="177164"/>
                  </a:moveTo>
                  <a:lnTo>
                    <a:pt x="23050" y="177164"/>
                  </a:lnTo>
                  <a:lnTo>
                    <a:pt x="19660" y="176490"/>
                  </a:lnTo>
                  <a:lnTo>
                    <a:pt x="0" y="154114"/>
                  </a:lnTo>
                  <a:lnTo>
                    <a:pt x="0" y="150590"/>
                  </a:lnTo>
                  <a:lnTo>
                    <a:pt x="0" y="23050"/>
                  </a:lnTo>
                  <a:lnTo>
                    <a:pt x="23050" y="0"/>
                  </a:lnTo>
                  <a:lnTo>
                    <a:pt x="4937569" y="0"/>
                  </a:lnTo>
                  <a:lnTo>
                    <a:pt x="4960619" y="23050"/>
                  </a:lnTo>
                  <a:lnTo>
                    <a:pt x="4960619" y="154114"/>
                  </a:lnTo>
                  <a:lnTo>
                    <a:pt x="4940958" y="176490"/>
                  </a:lnTo>
                  <a:lnTo>
                    <a:pt x="4937569" y="177164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7214" y="1721548"/>
              <a:ext cx="5137785" cy="177165"/>
            </a:xfrm>
            <a:custGeom>
              <a:avLst/>
              <a:gdLst/>
              <a:ahLst/>
              <a:cxnLst/>
              <a:rect l="l" t="t" r="r" b="b"/>
              <a:pathLst>
                <a:path w="5137785" h="177164">
                  <a:moveTo>
                    <a:pt x="5137784" y="177165"/>
                  </a:moveTo>
                  <a:lnTo>
                    <a:pt x="23050" y="177164"/>
                  </a:lnTo>
                  <a:lnTo>
                    <a:pt x="0" y="154114"/>
                  </a:lnTo>
                  <a:lnTo>
                    <a:pt x="0" y="23050"/>
                  </a:lnTo>
                  <a:lnTo>
                    <a:pt x="23050" y="0"/>
                  </a:lnTo>
                  <a:lnTo>
                    <a:pt x="5137784" y="0"/>
                  </a:lnTo>
                  <a:lnTo>
                    <a:pt x="5137784" y="177165"/>
                  </a:lnTo>
                  <a:close/>
                </a:path>
              </a:pathLst>
            </a:custGeom>
            <a:solidFill>
              <a:srgbClr val="0070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7214" y="2244184"/>
              <a:ext cx="4960620" cy="177165"/>
            </a:xfrm>
            <a:custGeom>
              <a:avLst/>
              <a:gdLst/>
              <a:ahLst/>
              <a:cxnLst/>
              <a:rect l="l" t="t" r="r" b="b"/>
              <a:pathLst>
                <a:path w="4960620" h="177164">
                  <a:moveTo>
                    <a:pt x="4937569" y="177164"/>
                  </a:moveTo>
                  <a:lnTo>
                    <a:pt x="23050" y="177164"/>
                  </a:lnTo>
                  <a:lnTo>
                    <a:pt x="19660" y="176490"/>
                  </a:lnTo>
                  <a:lnTo>
                    <a:pt x="0" y="154114"/>
                  </a:lnTo>
                  <a:lnTo>
                    <a:pt x="0" y="150590"/>
                  </a:lnTo>
                  <a:lnTo>
                    <a:pt x="0" y="23050"/>
                  </a:lnTo>
                  <a:lnTo>
                    <a:pt x="23050" y="0"/>
                  </a:lnTo>
                  <a:lnTo>
                    <a:pt x="4937569" y="0"/>
                  </a:lnTo>
                  <a:lnTo>
                    <a:pt x="4960619" y="23050"/>
                  </a:lnTo>
                  <a:lnTo>
                    <a:pt x="4960619" y="154114"/>
                  </a:lnTo>
                  <a:lnTo>
                    <a:pt x="4940958" y="176490"/>
                  </a:lnTo>
                  <a:lnTo>
                    <a:pt x="4937569" y="177164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7214" y="2244184"/>
              <a:ext cx="5137785" cy="177165"/>
            </a:xfrm>
            <a:custGeom>
              <a:avLst/>
              <a:gdLst/>
              <a:ahLst/>
              <a:cxnLst/>
              <a:rect l="l" t="t" r="r" b="b"/>
              <a:pathLst>
                <a:path w="5137785" h="177164">
                  <a:moveTo>
                    <a:pt x="5137784" y="177165"/>
                  </a:moveTo>
                  <a:lnTo>
                    <a:pt x="23050" y="177164"/>
                  </a:lnTo>
                  <a:lnTo>
                    <a:pt x="0" y="154114"/>
                  </a:lnTo>
                  <a:lnTo>
                    <a:pt x="0" y="23050"/>
                  </a:lnTo>
                  <a:lnTo>
                    <a:pt x="23050" y="0"/>
                  </a:lnTo>
                  <a:lnTo>
                    <a:pt x="5137784" y="0"/>
                  </a:lnTo>
                  <a:lnTo>
                    <a:pt x="5137784" y="177165"/>
                  </a:lnTo>
                  <a:close/>
                </a:path>
              </a:pathLst>
            </a:custGeom>
            <a:solidFill>
              <a:srgbClr val="0070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7214" y="2766821"/>
              <a:ext cx="4960620" cy="177165"/>
            </a:xfrm>
            <a:custGeom>
              <a:avLst/>
              <a:gdLst/>
              <a:ahLst/>
              <a:cxnLst/>
              <a:rect l="l" t="t" r="r" b="b"/>
              <a:pathLst>
                <a:path w="4960620" h="177164">
                  <a:moveTo>
                    <a:pt x="4937569" y="177164"/>
                  </a:moveTo>
                  <a:lnTo>
                    <a:pt x="23050" y="177164"/>
                  </a:lnTo>
                  <a:lnTo>
                    <a:pt x="19660" y="176490"/>
                  </a:lnTo>
                  <a:lnTo>
                    <a:pt x="0" y="154114"/>
                  </a:lnTo>
                  <a:lnTo>
                    <a:pt x="0" y="150590"/>
                  </a:lnTo>
                  <a:lnTo>
                    <a:pt x="0" y="23050"/>
                  </a:lnTo>
                  <a:lnTo>
                    <a:pt x="23050" y="0"/>
                  </a:lnTo>
                  <a:lnTo>
                    <a:pt x="4937569" y="0"/>
                  </a:lnTo>
                  <a:lnTo>
                    <a:pt x="4960619" y="23050"/>
                  </a:lnTo>
                  <a:lnTo>
                    <a:pt x="4960619" y="154114"/>
                  </a:lnTo>
                  <a:lnTo>
                    <a:pt x="4940958" y="176490"/>
                  </a:lnTo>
                  <a:lnTo>
                    <a:pt x="4937569" y="177164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7214" y="2766821"/>
              <a:ext cx="5137785" cy="177165"/>
            </a:xfrm>
            <a:custGeom>
              <a:avLst/>
              <a:gdLst/>
              <a:ahLst/>
              <a:cxnLst/>
              <a:rect l="l" t="t" r="r" b="b"/>
              <a:pathLst>
                <a:path w="5137785" h="177164">
                  <a:moveTo>
                    <a:pt x="5137784" y="177165"/>
                  </a:moveTo>
                  <a:lnTo>
                    <a:pt x="23050" y="177164"/>
                  </a:lnTo>
                  <a:lnTo>
                    <a:pt x="0" y="154114"/>
                  </a:lnTo>
                  <a:lnTo>
                    <a:pt x="0" y="23050"/>
                  </a:lnTo>
                  <a:lnTo>
                    <a:pt x="23050" y="0"/>
                  </a:lnTo>
                  <a:lnTo>
                    <a:pt x="5137784" y="0"/>
                  </a:lnTo>
                  <a:lnTo>
                    <a:pt x="5137784" y="177165"/>
                  </a:lnTo>
                  <a:close/>
                </a:path>
              </a:pathLst>
            </a:custGeom>
            <a:solidFill>
              <a:srgbClr val="0070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7214" y="3289458"/>
              <a:ext cx="4960620" cy="177165"/>
            </a:xfrm>
            <a:custGeom>
              <a:avLst/>
              <a:gdLst/>
              <a:ahLst/>
              <a:cxnLst/>
              <a:rect l="l" t="t" r="r" b="b"/>
              <a:pathLst>
                <a:path w="4960620" h="177164">
                  <a:moveTo>
                    <a:pt x="4937569" y="177165"/>
                  </a:moveTo>
                  <a:lnTo>
                    <a:pt x="23050" y="177165"/>
                  </a:lnTo>
                  <a:lnTo>
                    <a:pt x="19660" y="176490"/>
                  </a:lnTo>
                  <a:lnTo>
                    <a:pt x="0" y="154114"/>
                  </a:lnTo>
                  <a:lnTo>
                    <a:pt x="0" y="150590"/>
                  </a:lnTo>
                  <a:lnTo>
                    <a:pt x="0" y="23050"/>
                  </a:lnTo>
                  <a:lnTo>
                    <a:pt x="23050" y="0"/>
                  </a:lnTo>
                  <a:lnTo>
                    <a:pt x="4937569" y="0"/>
                  </a:lnTo>
                  <a:lnTo>
                    <a:pt x="4960619" y="23050"/>
                  </a:lnTo>
                  <a:lnTo>
                    <a:pt x="4960619" y="154114"/>
                  </a:lnTo>
                  <a:lnTo>
                    <a:pt x="4940958" y="176490"/>
                  </a:lnTo>
                  <a:lnTo>
                    <a:pt x="4937569" y="177165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7214" y="3289458"/>
              <a:ext cx="5137785" cy="177165"/>
            </a:xfrm>
            <a:custGeom>
              <a:avLst/>
              <a:gdLst/>
              <a:ahLst/>
              <a:cxnLst/>
              <a:rect l="l" t="t" r="r" b="b"/>
              <a:pathLst>
                <a:path w="5137785" h="177164">
                  <a:moveTo>
                    <a:pt x="5137784" y="177165"/>
                  </a:moveTo>
                  <a:lnTo>
                    <a:pt x="23050" y="177165"/>
                  </a:lnTo>
                  <a:lnTo>
                    <a:pt x="19660" y="176490"/>
                  </a:lnTo>
                  <a:lnTo>
                    <a:pt x="0" y="154114"/>
                  </a:lnTo>
                  <a:lnTo>
                    <a:pt x="0" y="23050"/>
                  </a:lnTo>
                  <a:lnTo>
                    <a:pt x="23050" y="0"/>
                  </a:lnTo>
                  <a:lnTo>
                    <a:pt x="5137784" y="0"/>
                  </a:lnTo>
                  <a:lnTo>
                    <a:pt x="5137784" y="177165"/>
                  </a:lnTo>
                  <a:close/>
                </a:path>
              </a:pathLst>
            </a:custGeom>
            <a:solidFill>
              <a:srgbClr val="0070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7214" y="3812095"/>
              <a:ext cx="4960620" cy="177165"/>
            </a:xfrm>
            <a:custGeom>
              <a:avLst/>
              <a:gdLst/>
              <a:ahLst/>
              <a:cxnLst/>
              <a:rect l="l" t="t" r="r" b="b"/>
              <a:pathLst>
                <a:path w="4960620" h="177164">
                  <a:moveTo>
                    <a:pt x="4937569" y="177164"/>
                  </a:moveTo>
                  <a:lnTo>
                    <a:pt x="23050" y="177164"/>
                  </a:lnTo>
                  <a:lnTo>
                    <a:pt x="19660" y="176490"/>
                  </a:lnTo>
                  <a:lnTo>
                    <a:pt x="0" y="154114"/>
                  </a:lnTo>
                  <a:lnTo>
                    <a:pt x="0" y="150590"/>
                  </a:lnTo>
                  <a:lnTo>
                    <a:pt x="0" y="23050"/>
                  </a:lnTo>
                  <a:lnTo>
                    <a:pt x="23050" y="0"/>
                  </a:lnTo>
                  <a:lnTo>
                    <a:pt x="4937569" y="0"/>
                  </a:lnTo>
                  <a:lnTo>
                    <a:pt x="4960619" y="23050"/>
                  </a:lnTo>
                  <a:lnTo>
                    <a:pt x="4960619" y="154114"/>
                  </a:lnTo>
                  <a:lnTo>
                    <a:pt x="4940958" y="176490"/>
                  </a:lnTo>
                  <a:lnTo>
                    <a:pt x="4937569" y="177164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7214" y="3812095"/>
              <a:ext cx="5137785" cy="177165"/>
            </a:xfrm>
            <a:custGeom>
              <a:avLst/>
              <a:gdLst/>
              <a:ahLst/>
              <a:cxnLst/>
              <a:rect l="l" t="t" r="r" b="b"/>
              <a:pathLst>
                <a:path w="5137785" h="177164">
                  <a:moveTo>
                    <a:pt x="5137784" y="177165"/>
                  </a:moveTo>
                  <a:lnTo>
                    <a:pt x="23050" y="177164"/>
                  </a:lnTo>
                  <a:lnTo>
                    <a:pt x="0" y="154114"/>
                  </a:lnTo>
                  <a:lnTo>
                    <a:pt x="0" y="23050"/>
                  </a:lnTo>
                  <a:lnTo>
                    <a:pt x="23050" y="0"/>
                  </a:lnTo>
                  <a:lnTo>
                    <a:pt x="5137784" y="0"/>
                  </a:lnTo>
                  <a:lnTo>
                    <a:pt x="5137784" y="177165"/>
                  </a:lnTo>
                  <a:close/>
                </a:path>
              </a:pathLst>
            </a:custGeom>
            <a:solidFill>
              <a:srgbClr val="0070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453384" y="1044479"/>
            <a:ext cx="3208655" cy="6457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750" b="1" spc="-25" dirty="0">
                <a:solidFill>
                  <a:srgbClr val="004B90"/>
                </a:solidFill>
                <a:latin typeface="Arial"/>
                <a:cs typeface="Arial"/>
              </a:rPr>
              <a:t>Top</a:t>
            </a:r>
            <a:r>
              <a:rPr sz="1750" b="1" spc="-70" dirty="0">
                <a:solidFill>
                  <a:srgbClr val="004B90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004B90"/>
                </a:solidFill>
                <a:latin typeface="Arial"/>
                <a:cs typeface="Arial"/>
              </a:rPr>
              <a:t>5</a:t>
            </a:r>
            <a:r>
              <a:rPr sz="1750" b="1" spc="-70" dirty="0">
                <a:solidFill>
                  <a:srgbClr val="004B90"/>
                </a:solidFill>
                <a:latin typeface="Arial"/>
                <a:cs typeface="Arial"/>
              </a:rPr>
              <a:t> </a:t>
            </a:r>
            <a:r>
              <a:rPr sz="1750" b="1" spc="-10" dirty="0">
                <a:solidFill>
                  <a:srgbClr val="004B90"/>
                </a:solidFill>
                <a:latin typeface="Arial"/>
                <a:cs typeface="Arial"/>
              </a:rPr>
              <a:t>High-Value</a:t>
            </a:r>
            <a:r>
              <a:rPr sz="1750" b="1" spc="-65" dirty="0">
                <a:solidFill>
                  <a:srgbClr val="004B90"/>
                </a:solidFill>
                <a:latin typeface="Arial"/>
                <a:cs typeface="Arial"/>
              </a:rPr>
              <a:t> </a:t>
            </a:r>
            <a:r>
              <a:rPr sz="1750" b="1" spc="-10" dirty="0">
                <a:solidFill>
                  <a:srgbClr val="004B90"/>
                </a:solidFill>
                <a:latin typeface="Arial"/>
                <a:cs typeface="Arial"/>
              </a:rPr>
              <a:t>Occupations</a:t>
            </a:r>
            <a:endParaRPr sz="17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Occupation</a:t>
            </a:r>
            <a:r>
              <a:rPr sz="1400" spc="-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Arial"/>
                <a:cs typeface="Arial"/>
              </a:rPr>
              <a:t>#5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24193" y="1974595"/>
            <a:ext cx="1266825" cy="18059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Occupation</a:t>
            </a:r>
            <a:r>
              <a:rPr sz="1400" spc="-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Arial"/>
                <a:cs typeface="Arial"/>
              </a:rPr>
              <a:t>#20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400">
              <a:latin typeface="Arial"/>
              <a:cs typeface="Arial"/>
            </a:endParaRPr>
          </a:p>
          <a:p>
            <a:pPr marL="61594">
              <a:lnSpc>
                <a:spcPct val="100000"/>
              </a:lnSpc>
            </a:pP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Occupation</a:t>
            </a:r>
            <a:r>
              <a:rPr sz="1400" spc="-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Arial"/>
                <a:cs typeface="Arial"/>
              </a:rPr>
              <a:t>#2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Occupation</a:t>
            </a:r>
            <a:r>
              <a:rPr sz="1400" spc="-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Arial"/>
                <a:cs typeface="Arial"/>
              </a:rPr>
              <a:t>#19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Occupation</a:t>
            </a:r>
            <a:r>
              <a:rPr sz="1400" spc="-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Arial"/>
                <a:cs typeface="Arial"/>
              </a:rPr>
              <a:t>#16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791200" y="888872"/>
            <a:ext cx="5238750" cy="5129530"/>
            <a:chOff x="5791200" y="888872"/>
            <a:chExt cx="5238750" cy="5129530"/>
          </a:xfrm>
        </p:grpSpPr>
        <p:sp>
          <p:nvSpPr>
            <p:cNvPr id="20" name="object 20"/>
            <p:cNvSpPr/>
            <p:nvPr/>
          </p:nvSpPr>
          <p:spPr>
            <a:xfrm>
              <a:off x="5791200" y="888872"/>
              <a:ext cx="147320" cy="5129530"/>
            </a:xfrm>
            <a:custGeom>
              <a:avLst/>
              <a:gdLst/>
              <a:ahLst/>
              <a:cxnLst/>
              <a:rect l="l" t="t" r="r" b="b"/>
              <a:pathLst>
                <a:path w="147320" h="5129530">
                  <a:moveTo>
                    <a:pt x="147069" y="5128926"/>
                  </a:moveTo>
                  <a:lnTo>
                    <a:pt x="0" y="5128926"/>
                  </a:lnTo>
                  <a:lnTo>
                    <a:pt x="0" y="0"/>
                  </a:lnTo>
                  <a:lnTo>
                    <a:pt x="147065" y="0"/>
                  </a:lnTo>
                  <a:lnTo>
                    <a:pt x="140286" y="1348"/>
                  </a:lnTo>
                  <a:lnTo>
                    <a:pt x="127262" y="6742"/>
                  </a:lnTo>
                  <a:lnTo>
                    <a:pt x="102313" y="39321"/>
                  </a:lnTo>
                  <a:lnTo>
                    <a:pt x="100964" y="46101"/>
                  </a:lnTo>
                  <a:lnTo>
                    <a:pt x="100964" y="5082824"/>
                  </a:lnTo>
                  <a:lnTo>
                    <a:pt x="121515" y="5118342"/>
                  </a:lnTo>
                  <a:lnTo>
                    <a:pt x="140286" y="5127577"/>
                  </a:lnTo>
                  <a:lnTo>
                    <a:pt x="147069" y="512892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92165" y="888872"/>
              <a:ext cx="5137785" cy="5129530"/>
            </a:xfrm>
            <a:custGeom>
              <a:avLst/>
              <a:gdLst/>
              <a:ahLst/>
              <a:cxnLst/>
              <a:rect l="l" t="t" r="r" b="b"/>
              <a:pathLst>
                <a:path w="5137784" h="5129530">
                  <a:moveTo>
                    <a:pt x="5137785" y="5128926"/>
                  </a:moveTo>
                  <a:lnTo>
                    <a:pt x="49658" y="5128926"/>
                  </a:lnTo>
                  <a:lnTo>
                    <a:pt x="46203" y="5128585"/>
                  </a:lnTo>
                  <a:lnTo>
                    <a:pt x="10896" y="5108206"/>
                  </a:lnTo>
                  <a:lnTo>
                    <a:pt x="0" y="5079266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137785" y="0"/>
                  </a:lnTo>
                  <a:lnTo>
                    <a:pt x="5137785" y="5128926"/>
                  </a:lnTo>
                  <a:close/>
                </a:path>
              </a:pathLst>
            </a:custGeom>
            <a:solidFill>
              <a:srgbClr val="F5F5F5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67983" y="1292351"/>
              <a:ext cx="5062220" cy="3081655"/>
            </a:xfrm>
            <a:custGeom>
              <a:avLst/>
              <a:gdLst/>
              <a:ahLst/>
              <a:cxnLst/>
              <a:rect l="l" t="t" r="r" b="b"/>
              <a:pathLst>
                <a:path w="5062220" h="3081654">
                  <a:moveTo>
                    <a:pt x="5061965" y="3081527"/>
                  </a:moveTo>
                  <a:lnTo>
                    <a:pt x="0" y="3081527"/>
                  </a:lnTo>
                  <a:lnTo>
                    <a:pt x="0" y="0"/>
                  </a:lnTo>
                  <a:lnTo>
                    <a:pt x="5061965" y="0"/>
                  </a:lnTo>
                  <a:lnTo>
                    <a:pt x="5061965" y="83724"/>
                  </a:lnTo>
                  <a:lnTo>
                    <a:pt x="147447" y="83724"/>
                  </a:lnTo>
                  <a:lnTo>
                    <a:pt x="140667" y="85073"/>
                  </a:lnTo>
                  <a:lnTo>
                    <a:pt x="108087" y="110023"/>
                  </a:lnTo>
                  <a:lnTo>
                    <a:pt x="101345" y="129829"/>
                  </a:lnTo>
                  <a:lnTo>
                    <a:pt x="101345" y="2916554"/>
                  </a:lnTo>
                  <a:lnTo>
                    <a:pt x="121895" y="2952072"/>
                  </a:lnTo>
                  <a:lnTo>
                    <a:pt x="147447" y="2962655"/>
                  </a:lnTo>
                  <a:lnTo>
                    <a:pt x="5061965" y="2962655"/>
                  </a:lnTo>
                  <a:lnTo>
                    <a:pt x="5061965" y="3081527"/>
                  </a:lnTo>
                  <a:close/>
                </a:path>
                <a:path w="5062220" h="3081654">
                  <a:moveTo>
                    <a:pt x="5061965" y="129829"/>
                  </a:moveTo>
                  <a:lnTo>
                    <a:pt x="5041413" y="94307"/>
                  </a:lnTo>
                  <a:lnTo>
                    <a:pt x="5015863" y="83724"/>
                  </a:lnTo>
                  <a:lnTo>
                    <a:pt x="5061965" y="83724"/>
                  </a:lnTo>
                  <a:lnTo>
                    <a:pt x="5061965" y="129829"/>
                  </a:lnTo>
                  <a:close/>
                </a:path>
                <a:path w="5062220" h="3081654">
                  <a:moveTo>
                    <a:pt x="5061965" y="2962655"/>
                  </a:moveTo>
                  <a:lnTo>
                    <a:pt x="5015863" y="2962655"/>
                  </a:lnTo>
                  <a:lnTo>
                    <a:pt x="5022642" y="2961306"/>
                  </a:lnTo>
                  <a:lnTo>
                    <a:pt x="5035665" y="2955912"/>
                  </a:lnTo>
                  <a:lnTo>
                    <a:pt x="5060616" y="2923334"/>
                  </a:lnTo>
                  <a:lnTo>
                    <a:pt x="5061965" y="2916554"/>
                  </a:lnTo>
                  <a:lnTo>
                    <a:pt x="5061965" y="2962655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69329" y="1376076"/>
              <a:ext cx="4960620" cy="2879090"/>
            </a:xfrm>
            <a:custGeom>
              <a:avLst/>
              <a:gdLst/>
              <a:ahLst/>
              <a:cxnLst/>
              <a:rect l="l" t="t" r="r" b="b"/>
              <a:pathLst>
                <a:path w="4960620" h="2879090">
                  <a:moveTo>
                    <a:pt x="4910960" y="2878931"/>
                  </a:moveTo>
                  <a:lnTo>
                    <a:pt x="49660" y="2878931"/>
                  </a:lnTo>
                  <a:lnTo>
                    <a:pt x="46203" y="2878590"/>
                  </a:lnTo>
                  <a:lnTo>
                    <a:pt x="10896" y="2858211"/>
                  </a:lnTo>
                  <a:lnTo>
                    <a:pt x="0" y="2829271"/>
                  </a:lnTo>
                  <a:lnTo>
                    <a:pt x="0" y="2825781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60" y="0"/>
                  </a:lnTo>
                  <a:lnTo>
                    <a:pt x="4910960" y="0"/>
                  </a:lnTo>
                  <a:lnTo>
                    <a:pt x="4947521" y="18034"/>
                  </a:lnTo>
                  <a:lnTo>
                    <a:pt x="4960620" y="49659"/>
                  </a:lnTo>
                  <a:lnTo>
                    <a:pt x="4960620" y="2829271"/>
                  </a:lnTo>
                  <a:lnTo>
                    <a:pt x="4942584" y="2865831"/>
                  </a:lnTo>
                  <a:lnTo>
                    <a:pt x="4914416" y="2878590"/>
                  </a:lnTo>
                  <a:lnTo>
                    <a:pt x="4910960" y="2878931"/>
                  </a:lnTo>
                  <a:close/>
                </a:path>
              </a:pathLst>
            </a:custGeom>
            <a:solidFill>
              <a:srgbClr val="F5F5F5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69329" y="4432172"/>
              <a:ext cx="4960620" cy="1391285"/>
            </a:xfrm>
            <a:custGeom>
              <a:avLst/>
              <a:gdLst/>
              <a:ahLst/>
              <a:cxnLst/>
              <a:rect l="l" t="t" r="r" b="b"/>
              <a:pathLst>
                <a:path w="4960620" h="1391285">
                  <a:moveTo>
                    <a:pt x="4922202" y="1390744"/>
                  </a:moveTo>
                  <a:lnTo>
                    <a:pt x="38417" y="1390744"/>
                  </a:lnTo>
                  <a:lnTo>
                    <a:pt x="32768" y="1389620"/>
                  </a:lnTo>
                  <a:lnTo>
                    <a:pt x="1123" y="1357976"/>
                  </a:lnTo>
                  <a:lnTo>
                    <a:pt x="0" y="1352327"/>
                  </a:lnTo>
                  <a:lnTo>
                    <a:pt x="0" y="1346454"/>
                  </a:lnTo>
                  <a:lnTo>
                    <a:pt x="0" y="38417"/>
                  </a:lnTo>
                  <a:lnTo>
                    <a:pt x="21915" y="5618"/>
                  </a:lnTo>
                  <a:lnTo>
                    <a:pt x="38417" y="0"/>
                  </a:lnTo>
                  <a:lnTo>
                    <a:pt x="4922202" y="0"/>
                  </a:lnTo>
                  <a:lnTo>
                    <a:pt x="4955000" y="21914"/>
                  </a:lnTo>
                  <a:lnTo>
                    <a:pt x="4960620" y="38417"/>
                  </a:lnTo>
                  <a:lnTo>
                    <a:pt x="4960620" y="1352327"/>
                  </a:lnTo>
                  <a:lnTo>
                    <a:pt x="4938704" y="1385125"/>
                  </a:lnTo>
                  <a:lnTo>
                    <a:pt x="4927851" y="1389620"/>
                  </a:lnTo>
                  <a:lnTo>
                    <a:pt x="4922202" y="1390744"/>
                  </a:lnTo>
                  <a:close/>
                </a:path>
              </a:pathLst>
            </a:custGeom>
            <a:solidFill>
              <a:srgbClr val="FFC220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081003" y="1035621"/>
            <a:ext cx="293751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dirty="0">
                <a:solidFill>
                  <a:srgbClr val="004B90"/>
                </a:solidFill>
                <a:latin typeface="Arial"/>
                <a:cs typeface="Arial"/>
              </a:rPr>
              <a:t>Occupation</a:t>
            </a:r>
            <a:r>
              <a:rPr sz="1150" b="1" spc="150" dirty="0">
                <a:solidFill>
                  <a:srgbClr val="004B9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004B90"/>
                </a:solidFill>
                <a:latin typeface="Arial"/>
                <a:cs typeface="Arial"/>
              </a:rPr>
              <a:t>Spending</a:t>
            </a:r>
            <a:r>
              <a:rPr sz="1150" b="1" spc="150" dirty="0">
                <a:solidFill>
                  <a:srgbClr val="004B9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004B90"/>
                </a:solidFill>
                <a:latin typeface="Arial"/>
                <a:cs typeface="Arial"/>
              </a:rPr>
              <a:t>Index</a:t>
            </a:r>
            <a:r>
              <a:rPr sz="1150" b="1" spc="150" dirty="0">
                <a:solidFill>
                  <a:srgbClr val="004B9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004B90"/>
                </a:solidFill>
                <a:latin typeface="Arial"/>
                <a:cs typeface="Arial"/>
              </a:rPr>
              <a:t>Comparison</a:t>
            </a:r>
            <a:endParaRPr sz="1150">
              <a:latin typeface="Arial"/>
              <a:cs typeface="Arial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6246495" y="1553241"/>
          <a:ext cx="4598668" cy="2513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1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11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Occupation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0070CD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91440">
                        <a:lnSpc>
                          <a:spcPct val="116300"/>
                        </a:lnSpc>
                        <a:spcBef>
                          <a:spcPts val="330"/>
                        </a:spcBef>
                      </a:pPr>
                      <a:r>
                        <a:rPr sz="11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High</a:t>
                      </a:r>
                      <a:r>
                        <a:rPr sz="1150" b="1" spc="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Spender Index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0070CD"/>
                    </a:solidFill>
                  </a:tcPr>
                </a:tc>
                <a:tc>
                  <a:txBody>
                    <a:bodyPr/>
                    <a:lstStyle/>
                    <a:p>
                      <a:pPr marL="70485" marR="160020">
                        <a:lnSpc>
                          <a:spcPct val="116300"/>
                        </a:lnSpc>
                        <a:spcBef>
                          <a:spcPts val="330"/>
                        </a:spcBef>
                      </a:pPr>
                      <a:r>
                        <a:rPr sz="11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Mid</a:t>
                      </a:r>
                      <a:r>
                        <a:rPr sz="1150" b="1" spc="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Spender Index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0070CD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120650">
                        <a:lnSpc>
                          <a:spcPct val="116300"/>
                        </a:lnSpc>
                        <a:spcBef>
                          <a:spcPts val="330"/>
                        </a:spcBef>
                      </a:pPr>
                      <a:r>
                        <a:rPr sz="11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Low</a:t>
                      </a:r>
                      <a:r>
                        <a:rPr sz="1150" b="1" spc="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Spender Index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0070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15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Occupation</a:t>
                      </a:r>
                      <a:r>
                        <a:rPr sz="1150" spc="17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50" spc="-2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#5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7048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150" b="1" spc="-10" dirty="0">
                          <a:solidFill>
                            <a:srgbClr val="0070CD"/>
                          </a:solidFill>
                          <a:latin typeface="Arial"/>
                          <a:cs typeface="Arial"/>
                        </a:rPr>
                        <a:t>1.53x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7048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15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0.86x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7048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15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0.61x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7048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74930" marR="306705">
                        <a:lnSpc>
                          <a:spcPct val="111200"/>
                        </a:lnSpc>
                        <a:spcBef>
                          <a:spcPts val="405"/>
                        </a:spcBef>
                      </a:pPr>
                      <a:r>
                        <a:rPr sz="115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Occupation </a:t>
                      </a:r>
                      <a:r>
                        <a:rPr sz="1150" spc="-2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#20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5143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EBEBEB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1150" b="1" spc="-10" dirty="0">
                          <a:solidFill>
                            <a:srgbClr val="0070CD"/>
                          </a:solidFill>
                          <a:latin typeface="Arial"/>
                          <a:cs typeface="Arial"/>
                        </a:rPr>
                        <a:t>1.45x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EBEBEB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sz="115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0.92x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EBEBEB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115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0.63x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EBEBEB">
                        <a:alpha val="501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74930" marR="306705">
                        <a:lnSpc>
                          <a:spcPct val="111200"/>
                        </a:lnSpc>
                        <a:spcBef>
                          <a:spcPts val="405"/>
                        </a:spcBef>
                      </a:pPr>
                      <a:r>
                        <a:rPr sz="115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Occupation </a:t>
                      </a:r>
                      <a:r>
                        <a:rPr sz="1150" spc="-2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#13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5143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1150" b="1" spc="-10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0.32x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sz="115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0.87x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115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1.81x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74930" marR="306705">
                        <a:lnSpc>
                          <a:spcPct val="111200"/>
                        </a:lnSpc>
                        <a:spcBef>
                          <a:spcPts val="405"/>
                        </a:spcBef>
                      </a:pPr>
                      <a:r>
                        <a:rPr sz="115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Occupation </a:t>
                      </a:r>
                      <a:r>
                        <a:rPr sz="1150" spc="-2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#10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51435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EBEBEB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1150" b="1" spc="-10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0.36x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EBEBEB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sz="115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0.91x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EBEBEB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1150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1.73x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EBEBEB">
                        <a:alpha val="501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>
            <a:off x="6219400" y="4534629"/>
            <a:ext cx="4660900" cy="968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150" b="1" dirty="0">
                <a:solidFill>
                  <a:srgbClr val="004B90"/>
                </a:solidFill>
                <a:latin typeface="Arial"/>
                <a:cs typeface="Arial"/>
              </a:rPr>
              <a:t>Strategic</a:t>
            </a:r>
            <a:r>
              <a:rPr sz="1150" b="1" spc="110" dirty="0">
                <a:solidFill>
                  <a:srgbClr val="004B9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004B90"/>
                </a:solidFill>
                <a:latin typeface="Arial"/>
                <a:cs typeface="Arial"/>
              </a:rPr>
              <a:t>Targeting</a:t>
            </a:r>
            <a:r>
              <a:rPr sz="1150" b="1" spc="110" dirty="0">
                <a:solidFill>
                  <a:srgbClr val="004B9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004B90"/>
                </a:solidFill>
                <a:latin typeface="Arial"/>
                <a:cs typeface="Arial"/>
              </a:rPr>
              <a:t>Opportunity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50">
              <a:latin typeface="Arial"/>
              <a:cs typeface="Arial"/>
            </a:endParaRPr>
          </a:p>
          <a:p>
            <a:pPr marL="12700" marR="5080" algn="ctr">
              <a:lnSpc>
                <a:spcPct val="111200"/>
              </a:lnSpc>
            </a:pPr>
            <a:r>
              <a:rPr sz="1150" dirty="0">
                <a:solidFill>
                  <a:srgbClr val="333333"/>
                </a:solidFill>
                <a:latin typeface="Arial"/>
                <a:cs typeface="Arial"/>
              </a:rPr>
              <a:t>Occupations</a:t>
            </a:r>
            <a:r>
              <a:rPr sz="1150" spc="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333333"/>
                </a:solidFill>
                <a:latin typeface="Arial"/>
                <a:cs typeface="Arial"/>
              </a:rPr>
              <a:t>#5,</a:t>
            </a:r>
            <a:r>
              <a:rPr sz="1150" spc="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333333"/>
                </a:solidFill>
                <a:latin typeface="Arial"/>
                <a:cs typeface="Arial"/>
              </a:rPr>
              <a:t>#20,</a:t>
            </a:r>
            <a:r>
              <a:rPr sz="1150" spc="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333333"/>
                </a:solidFill>
                <a:latin typeface="Arial"/>
                <a:cs typeface="Arial"/>
              </a:rPr>
              <a:t>#2,</a:t>
            </a:r>
            <a:r>
              <a:rPr sz="1150" spc="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333333"/>
                </a:solidFill>
                <a:latin typeface="Arial"/>
                <a:cs typeface="Arial"/>
              </a:rPr>
              <a:t>#19,</a:t>
            </a:r>
            <a:r>
              <a:rPr sz="1150" spc="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sz="1150" spc="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333333"/>
                </a:solidFill>
                <a:latin typeface="Arial"/>
                <a:cs typeface="Arial"/>
              </a:rPr>
              <a:t>#16</a:t>
            </a:r>
            <a:r>
              <a:rPr sz="1150" spc="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333333"/>
                </a:solidFill>
                <a:latin typeface="Arial"/>
                <a:cs typeface="Arial"/>
              </a:rPr>
              <a:t>show</a:t>
            </a:r>
            <a:r>
              <a:rPr sz="1150" spc="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333333"/>
                </a:solidFill>
                <a:latin typeface="Arial"/>
                <a:cs typeface="Arial"/>
              </a:rPr>
              <a:t>high</a:t>
            </a:r>
            <a:r>
              <a:rPr sz="1150" spc="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333333"/>
                </a:solidFill>
                <a:latin typeface="Arial"/>
                <a:cs typeface="Arial"/>
              </a:rPr>
              <a:t>affinity</a:t>
            </a:r>
            <a:r>
              <a:rPr sz="1150" spc="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333333"/>
                </a:solidFill>
                <a:latin typeface="Arial"/>
                <a:cs typeface="Arial"/>
              </a:rPr>
              <a:t>for</a:t>
            </a:r>
            <a:r>
              <a:rPr sz="1150" spc="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150" spc="-10" dirty="0">
                <a:solidFill>
                  <a:srgbClr val="333333"/>
                </a:solidFill>
                <a:latin typeface="Arial"/>
                <a:cs typeface="Arial"/>
              </a:rPr>
              <a:t>premium </a:t>
            </a:r>
            <a:r>
              <a:rPr sz="1150" dirty="0">
                <a:solidFill>
                  <a:srgbClr val="333333"/>
                </a:solidFill>
                <a:latin typeface="Arial"/>
                <a:cs typeface="Arial"/>
              </a:rPr>
              <a:t>products.</a:t>
            </a:r>
            <a:r>
              <a:rPr sz="1150" spc="1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333333"/>
                </a:solidFill>
                <a:latin typeface="Arial"/>
                <a:cs typeface="Arial"/>
              </a:rPr>
              <a:t>Consider</a:t>
            </a:r>
            <a:r>
              <a:rPr sz="1150" spc="1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333333"/>
                </a:solidFill>
                <a:latin typeface="Arial"/>
                <a:cs typeface="Arial"/>
              </a:rPr>
              <a:t>occupation-specific</a:t>
            </a:r>
            <a:r>
              <a:rPr sz="1150" spc="1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333333"/>
                </a:solidFill>
                <a:latin typeface="Arial"/>
                <a:cs typeface="Arial"/>
              </a:rPr>
              <a:t>marketing</a:t>
            </a:r>
            <a:r>
              <a:rPr sz="1150" spc="1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150" spc="-10" dirty="0">
                <a:solidFill>
                  <a:srgbClr val="333333"/>
                </a:solidFill>
                <a:latin typeface="Arial"/>
                <a:cs typeface="Arial"/>
              </a:rPr>
              <a:t>campaigns, </a:t>
            </a:r>
            <a:r>
              <a:rPr sz="1150" dirty="0">
                <a:solidFill>
                  <a:srgbClr val="333333"/>
                </a:solidFill>
                <a:latin typeface="Arial"/>
                <a:cs typeface="Arial"/>
              </a:rPr>
              <a:t>particularly</a:t>
            </a:r>
            <a:r>
              <a:rPr sz="1150" spc="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333333"/>
                </a:solidFill>
                <a:latin typeface="Arial"/>
                <a:cs typeface="Arial"/>
              </a:rPr>
              <a:t>for</a:t>
            </a:r>
            <a:r>
              <a:rPr sz="1150" spc="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333333"/>
                </a:solidFill>
                <a:latin typeface="Arial"/>
                <a:cs typeface="Arial"/>
              </a:rPr>
              <a:t>Categories</a:t>
            </a:r>
            <a:r>
              <a:rPr sz="1150" spc="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333333"/>
                </a:solidFill>
                <a:latin typeface="Arial"/>
                <a:cs typeface="Arial"/>
              </a:rPr>
              <a:t>9</a:t>
            </a:r>
            <a:r>
              <a:rPr sz="1150" spc="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333333"/>
                </a:solidFill>
                <a:latin typeface="Arial"/>
                <a:cs typeface="Arial"/>
              </a:rPr>
              <a:t>&amp;</a:t>
            </a:r>
            <a:r>
              <a:rPr sz="1150" spc="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150" spc="-25" dirty="0">
                <a:solidFill>
                  <a:srgbClr val="333333"/>
                </a:solidFill>
                <a:latin typeface="Arial"/>
                <a:cs typeface="Arial"/>
              </a:rPr>
              <a:t>18.</a:t>
            </a:r>
            <a:endParaRPr sz="115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14299" y="6305549"/>
            <a:ext cx="438150" cy="247650"/>
          </a:xfrm>
          <a:custGeom>
            <a:avLst/>
            <a:gdLst/>
            <a:ahLst/>
            <a:cxnLst/>
            <a:rect l="l" t="t" r="r" b="b"/>
            <a:pathLst>
              <a:path w="438150" h="247650">
                <a:moveTo>
                  <a:pt x="438149" y="247649"/>
                </a:moveTo>
                <a:lnTo>
                  <a:pt x="0" y="247649"/>
                </a:lnTo>
                <a:lnTo>
                  <a:pt x="0" y="0"/>
                </a:lnTo>
                <a:lnTo>
                  <a:pt x="438149" y="0"/>
                </a:lnTo>
                <a:lnTo>
                  <a:pt x="438149" y="24764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r>
              <a:rPr dirty="0"/>
              <a:t>Walmart</a:t>
            </a:r>
            <a:r>
              <a:rPr spc="5" dirty="0"/>
              <a:t> </a:t>
            </a:r>
            <a:r>
              <a:rPr dirty="0"/>
              <a:t>Customer</a:t>
            </a:r>
            <a:r>
              <a:rPr spc="10" dirty="0"/>
              <a:t> </a:t>
            </a:r>
            <a:r>
              <a:rPr dirty="0"/>
              <a:t>Segmentation</a:t>
            </a:r>
            <a:r>
              <a:rPr spc="5" dirty="0"/>
              <a:t> </a:t>
            </a:r>
            <a:r>
              <a:rPr dirty="0"/>
              <a:t>&amp;</a:t>
            </a:r>
            <a:r>
              <a:rPr spc="10" dirty="0"/>
              <a:t> </a:t>
            </a:r>
            <a:r>
              <a:rPr spc="-10" dirty="0"/>
              <a:t>Insights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r>
              <a:rPr dirty="0"/>
              <a:t>May</a:t>
            </a:r>
            <a:r>
              <a:rPr spc="15" dirty="0"/>
              <a:t> </a:t>
            </a:r>
            <a:r>
              <a:rPr spc="-20" dirty="0"/>
              <a:t>2025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12</a:t>
            </a:fld>
            <a:r>
              <a:rPr spc="225" dirty="0"/>
              <a:t> </a:t>
            </a:r>
            <a:r>
              <a:rPr dirty="0"/>
              <a:t>/</a:t>
            </a:r>
            <a:r>
              <a:rPr spc="22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6357F-7C7F-7869-89AD-7BA41522A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16EA2-C602-FC42-38B0-D2089B283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2843530"/>
            <a:ext cx="8610600" cy="1523494"/>
          </a:xfrm>
        </p:spPr>
        <p:txBody>
          <a:bodyPr/>
          <a:lstStyle/>
          <a:p>
            <a:pPr algn="ctr"/>
            <a:r>
              <a:rPr lang="en-US" sz="3600" dirty="0"/>
              <a:t>Customer Personas</a:t>
            </a:r>
            <a:br>
              <a:rPr lang="en-US" sz="3600" dirty="0"/>
            </a:br>
            <a:r>
              <a:rPr lang="en-IN" sz="2700" dirty="0">
                <a:solidFill>
                  <a:srgbClr val="666666"/>
                </a:solidFill>
              </a:rPr>
              <a:t>How They Behave?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0D22102F-4738-058D-A7E5-15B6BB095C1B}"/>
              </a:ext>
            </a:extLst>
          </p:cNvPr>
          <p:cNvSpPr/>
          <p:nvPr/>
        </p:nvSpPr>
        <p:spPr>
          <a:xfrm>
            <a:off x="400050" y="746125"/>
            <a:ext cx="10629900" cy="17780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034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0049" y="711707"/>
            <a:ext cx="10629900" cy="17780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Customer</a:t>
            </a:r>
            <a:r>
              <a:rPr spc="-110" dirty="0"/>
              <a:t> </a:t>
            </a:r>
            <a:r>
              <a:rPr dirty="0"/>
              <a:t>Personas:</a:t>
            </a:r>
            <a:r>
              <a:rPr spc="-105" dirty="0"/>
              <a:t> </a:t>
            </a:r>
            <a:r>
              <a:rPr dirty="0"/>
              <a:t>Meet</a:t>
            </a:r>
            <a:r>
              <a:rPr spc="-105" dirty="0"/>
              <a:t> </a:t>
            </a:r>
            <a:r>
              <a:rPr dirty="0"/>
              <a:t>Our</a:t>
            </a:r>
            <a:r>
              <a:rPr spc="-105" dirty="0"/>
              <a:t> </a:t>
            </a:r>
            <a:r>
              <a:rPr spc="-10" dirty="0"/>
              <a:t>Shoppers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00049" y="906589"/>
            <a:ext cx="3608070" cy="5093970"/>
            <a:chOff x="400049" y="906589"/>
            <a:chExt cx="3608070" cy="5093970"/>
          </a:xfrm>
        </p:grpSpPr>
        <p:sp>
          <p:nvSpPr>
            <p:cNvPr id="5" name="object 5"/>
            <p:cNvSpPr/>
            <p:nvPr/>
          </p:nvSpPr>
          <p:spPr>
            <a:xfrm>
              <a:off x="400049" y="906589"/>
              <a:ext cx="3608070" cy="5093970"/>
            </a:xfrm>
            <a:custGeom>
              <a:avLst/>
              <a:gdLst/>
              <a:ahLst/>
              <a:cxnLst/>
              <a:rect l="l" t="t" r="r" b="b"/>
              <a:pathLst>
                <a:path w="3608070" h="509397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w="3608070" h="5093970">
                  <a:moveTo>
                    <a:pt x="3608069" y="5093493"/>
                  </a:moveTo>
                  <a:lnTo>
                    <a:pt x="3461762" y="5093493"/>
                  </a:lnTo>
                  <a:lnTo>
                    <a:pt x="3468544" y="5092144"/>
                  </a:lnTo>
                  <a:lnTo>
                    <a:pt x="3481567" y="5086750"/>
                  </a:lnTo>
                  <a:lnTo>
                    <a:pt x="3506517" y="5054171"/>
                  </a:lnTo>
                  <a:lnTo>
                    <a:pt x="3507866" y="5047391"/>
                  </a:lnTo>
                  <a:lnTo>
                    <a:pt x="3507866" y="46101"/>
                  </a:lnTo>
                  <a:lnTo>
                    <a:pt x="3487315" y="10583"/>
                  </a:lnTo>
                  <a:lnTo>
                    <a:pt x="3461765" y="0"/>
                  </a:lnTo>
                  <a:lnTo>
                    <a:pt x="3608069" y="0"/>
                  </a:lnTo>
                  <a:lnTo>
                    <a:pt x="3608069" y="5093493"/>
                  </a:lnTo>
                  <a:close/>
                </a:path>
                <a:path w="3608070" h="5093970">
                  <a:moveTo>
                    <a:pt x="46104" y="5093493"/>
                  </a:moveTo>
                  <a:lnTo>
                    <a:pt x="0" y="5093493"/>
                  </a:lnTo>
                  <a:lnTo>
                    <a:pt x="0" y="5047391"/>
                  </a:lnTo>
                  <a:lnTo>
                    <a:pt x="1348" y="5054171"/>
                  </a:lnTo>
                  <a:lnTo>
                    <a:pt x="6742" y="5067194"/>
                  </a:lnTo>
                  <a:lnTo>
                    <a:pt x="10583" y="5072942"/>
                  </a:lnTo>
                  <a:lnTo>
                    <a:pt x="20550" y="5082909"/>
                  </a:lnTo>
                  <a:lnTo>
                    <a:pt x="26298" y="5086750"/>
                  </a:lnTo>
                  <a:lnTo>
                    <a:pt x="39321" y="5092144"/>
                  </a:lnTo>
                  <a:lnTo>
                    <a:pt x="46104" y="509349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0049" y="906589"/>
              <a:ext cx="3508375" cy="5093970"/>
            </a:xfrm>
            <a:custGeom>
              <a:avLst/>
              <a:gdLst/>
              <a:ahLst/>
              <a:cxnLst/>
              <a:rect l="l" t="t" r="r" b="b"/>
              <a:pathLst>
                <a:path w="3508375" h="5093970">
                  <a:moveTo>
                    <a:pt x="3458207" y="5093493"/>
                  </a:moveTo>
                  <a:lnTo>
                    <a:pt x="49659" y="5093493"/>
                  </a:lnTo>
                  <a:lnTo>
                    <a:pt x="46203" y="5093153"/>
                  </a:lnTo>
                  <a:lnTo>
                    <a:pt x="10896" y="5072773"/>
                  </a:lnTo>
                  <a:lnTo>
                    <a:pt x="0" y="5043834"/>
                  </a:lnTo>
                  <a:lnTo>
                    <a:pt x="0" y="5040344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3458207" y="0"/>
                  </a:lnTo>
                  <a:lnTo>
                    <a:pt x="3494767" y="18034"/>
                  </a:lnTo>
                  <a:lnTo>
                    <a:pt x="3507866" y="49659"/>
                  </a:lnTo>
                  <a:lnTo>
                    <a:pt x="3507866" y="5043834"/>
                  </a:lnTo>
                  <a:lnTo>
                    <a:pt x="3489831" y="5080393"/>
                  </a:lnTo>
                  <a:lnTo>
                    <a:pt x="3461663" y="5093153"/>
                  </a:lnTo>
                  <a:lnTo>
                    <a:pt x="3458207" y="5093493"/>
                  </a:lnTo>
                  <a:close/>
                </a:path>
              </a:pathLst>
            </a:custGeom>
            <a:solidFill>
              <a:srgbClr val="F5F5F5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5487" y="1008887"/>
              <a:ext cx="3355975" cy="4913630"/>
            </a:xfrm>
            <a:custGeom>
              <a:avLst/>
              <a:gdLst/>
              <a:ahLst/>
              <a:cxnLst/>
              <a:rect l="l" t="t" r="r" b="b"/>
              <a:pathLst>
                <a:path w="3355975" h="4913630">
                  <a:moveTo>
                    <a:pt x="3355847" y="4913375"/>
                  </a:moveTo>
                  <a:lnTo>
                    <a:pt x="0" y="4913375"/>
                  </a:lnTo>
                  <a:lnTo>
                    <a:pt x="0" y="0"/>
                  </a:lnTo>
                  <a:lnTo>
                    <a:pt x="3355847" y="0"/>
                  </a:lnTo>
                  <a:lnTo>
                    <a:pt x="3355847" y="83724"/>
                  </a:lnTo>
                  <a:lnTo>
                    <a:pt x="154876" y="83724"/>
                  </a:lnTo>
                  <a:lnTo>
                    <a:pt x="146039" y="84535"/>
                  </a:lnTo>
                  <a:lnTo>
                    <a:pt x="113828" y="111013"/>
                  </a:lnTo>
                  <a:lnTo>
                    <a:pt x="110585" y="128015"/>
                  </a:lnTo>
                  <a:lnTo>
                    <a:pt x="110585" y="4734305"/>
                  </a:lnTo>
                  <a:lnTo>
                    <a:pt x="130379" y="4771299"/>
                  </a:lnTo>
                  <a:lnTo>
                    <a:pt x="154876" y="4778597"/>
                  </a:lnTo>
                  <a:lnTo>
                    <a:pt x="3355847" y="4778597"/>
                  </a:lnTo>
                  <a:lnTo>
                    <a:pt x="3355847" y="4913375"/>
                  </a:lnTo>
                  <a:close/>
                </a:path>
                <a:path w="3355975" h="4913630">
                  <a:moveTo>
                    <a:pt x="3355847" y="4778597"/>
                  </a:moveTo>
                  <a:lnTo>
                    <a:pt x="3202114" y="4778597"/>
                  </a:lnTo>
                  <a:lnTo>
                    <a:pt x="3210951" y="4777786"/>
                  </a:lnTo>
                  <a:lnTo>
                    <a:pt x="3219116" y="4775353"/>
                  </a:lnTo>
                  <a:lnTo>
                    <a:pt x="3245594" y="4743142"/>
                  </a:lnTo>
                  <a:lnTo>
                    <a:pt x="3246405" y="4734305"/>
                  </a:lnTo>
                  <a:lnTo>
                    <a:pt x="3246405" y="128015"/>
                  </a:lnTo>
                  <a:lnTo>
                    <a:pt x="3226610" y="91021"/>
                  </a:lnTo>
                  <a:lnTo>
                    <a:pt x="3202114" y="83724"/>
                  </a:lnTo>
                  <a:lnTo>
                    <a:pt x="3355847" y="83724"/>
                  </a:lnTo>
                  <a:lnTo>
                    <a:pt x="3355847" y="477859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1644" y="1088183"/>
              <a:ext cx="3145155" cy="4704080"/>
            </a:xfrm>
            <a:custGeom>
              <a:avLst/>
              <a:gdLst/>
              <a:ahLst/>
              <a:cxnLst/>
              <a:rect l="l" t="t" r="r" b="b"/>
              <a:pathLst>
                <a:path w="3145154" h="4704080">
                  <a:moveTo>
                    <a:pt x="3102419" y="4703730"/>
                  </a:moveTo>
                  <a:lnTo>
                    <a:pt x="42259" y="4703730"/>
                  </a:lnTo>
                  <a:lnTo>
                    <a:pt x="36044" y="4702494"/>
                  </a:lnTo>
                  <a:lnTo>
                    <a:pt x="1236" y="4667685"/>
                  </a:lnTo>
                  <a:lnTo>
                    <a:pt x="0" y="4661470"/>
                  </a:lnTo>
                  <a:lnTo>
                    <a:pt x="0" y="4655010"/>
                  </a:lnTo>
                  <a:lnTo>
                    <a:pt x="0" y="42259"/>
                  </a:lnTo>
                  <a:lnTo>
                    <a:pt x="24106" y="6180"/>
                  </a:lnTo>
                  <a:lnTo>
                    <a:pt x="42259" y="0"/>
                  </a:lnTo>
                  <a:lnTo>
                    <a:pt x="3102419" y="0"/>
                  </a:lnTo>
                  <a:lnTo>
                    <a:pt x="3138497" y="24106"/>
                  </a:lnTo>
                  <a:lnTo>
                    <a:pt x="3144678" y="42259"/>
                  </a:lnTo>
                  <a:lnTo>
                    <a:pt x="3144678" y="4661470"/>
                  </a:lnTo>
                  <a:lnTo>
                    <a:pt x="3120571" y="4697549"/>
                  </a:lnTo>
                  <a:lnTo>
                    <a:pt x="3108633" y="4702494"/>
                  </a:lnTo>
                  <a:lnTo>
                    <a:pt x="3102419" y="4703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1644" y="1088183"/>
              <a:ext cx="3145155" cy="4704080"/>
            </a:xfrm>
            <a:custGeom>
              <a:avLst/>
              <a:gdLst/>
              <a:ahLst/>
              <a:cxnLst/>
              <a:rect l="l" t="t" r="r" b="b"/>
              <a:pathLst>
                <a:path w="3145154" h="4704080">
                  <a:moveTo>
                    <a:pt x="0" y="4655010"/>
                  </a:moveTo>
                  <a:lnTo>
                    <a:pt x="0" y="48720"/>
                  </a:lnTo>
                  <a:lnTo>
                    <a:pt x="0" y="42259"/>
                  </a:lnTo>
                  <a:lnTo>
                    <a:pt x="1236" y="36044"/>
                  </a:lnTo>
                  <a:lnTo>
                    <a:pt x="3708" y="30075"/>
                  </a:lnTo>
                  <a:lnTo>
                    <a:pt x="6181" y="24106"/>
                  </a:lnTo>
                  <a:lnTo>
                    <a:pt x="9701" y="18838"/>
                  </a:lnTo>
                  <a:lnTo>
                    <a:pt x="14269" y="14269"/>
                  </a:lnTo>
                  <a:lnTo>
                    <a:pt x="18838" y="9701"/>
                  </a:lnTo>
                  <a:lnTo>
                    <a:pt x="24106" y="6180"/>
                  </a:lnTo>
                  <a:lnTo>
                    <a:pt x="30075" y="3708"/>
                  </a:lnTo>
                  <a:lnTo>
                    <a:pt x="36044" y="1236"/>
                  </a:lnTo>
                  <a:lnTo>
                    <a:pt x="42259" y="0"/>
                  </a:lnTo>
                  <a:lnTo>
                    <a:pt x="48720" y="0"/>
                  </a:lnTo>
                  <a:lnTo>
                    <a:pt x="3095958" y="0"/>
                  </a:lnTo>
                  <a:lnTo>
                    <a:pt x="3102419" y="0"/>
                  </a:lnTo>
                  <a:lnTo>
                    <a:pt x="3108633" y="1236"/>
                  </a:lnTo>
                  <a:lnTo>
                    <a:pt x="3114602" y="3708"/>
                  </a:lnTo>
                  <a:lnTo>
                    <a:pt x="3120571" y="6180"/>
                  </a:lnTo>
                  <a:lnTo>
                    <a:pt x="3140969" y="30075"/>
                  </a:lnTo>
                  <a:lnTo>
                    <a:pt x="3143442" y="36044"/>
                  </a:lnTo>
                  <a:lnTo>
                    <a:pt x="3144678" y="42259"/>
                  </a:lnTo>
                  <a:lnTo>
                    <a:pt x="3144678" y="48720"/>
                  </a:lnTo>
                  <a:lnTo>
                    <a:pt x="3144678" y="4655010"/>
                  </a:lnTo>
                  <a:lnTo>
                    <a:pt x="3125840" y="4694028"/>
                  </a:lnTo>
                  <a:lnTo>
                    <a:pt x="3114602" y="4700022"/>
                  </a:lnTo>
                  <a:lnTo>
                    <a:pt x="3108633" y="4702494"/>
                  </a:lnTo>
                  <a:lnTo>
                    <a:pt x="3102419" y="4703730"/>
                  </a:lnTo>
                  <a:lnTo>
                    <a:pt x="3095958" y="4703730"/>
                  </a:lnTo>
                  <a:lnTo>
                    <a:pt x="48720" y="4703730"/>
                  </a:lnTo>
                  <a:lnTo>
                    <a:pt x="9701" y="4684892"/>
                  </a:lnTo>
                  <a:lnTo>
                    <a:pt x="0" y="4661470"/>
                  </a:lnTo>
                  <a:lnTo>
                    <a:pt x="0" y="4655010"/>
                  </a:lnTo>
                </a:path>
              </a:pathLst>
            </a:custGeom>
            <a:ln w="8858">
              <a:solidFill>
                <a:srgbClr val="D0D0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8947" y="1579816"/>
              <a:ext cx="2870200" cy="17780"/>
            </a:xfrm>
            <a:custGeom>
              <a:avLst/>
              <a:gdLst/>
              <a:ahLst/>
              <a:cxnLst/>
              <a:rect l="l" t="t" r="r" b="b"/>
              <a:pathLst>
                <a:path w="2870200" h="17780">
                  <a:moveTo>
                    <a:pt x="2870073" y="17716"/>
                  </a:moveTo>
                  <a:lnTo>
                    <a:pt x="0" y="17716"/>
                  </a:lnTo>
                  <a:lnTo>
                    <a:pt x="0" y="0"/>
                  </a:lnTo>
                  <a:lnTo>
                    <a:pt x="2870073" y="0"/>
                  </a:lnTo>
                  <a:lnTo>
                    <a:pt x="2870073" y="17716"/>
                  </a:lnTo>
                  <a:close/>
                </a:path>
              </a:pathLst>
            </a:custGeom>
            <a:solidFill>
              <a:srgbClr val="FFC2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43625" y="1203928"/>
            <a:ext cx="1621155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 b="1" dirty="0">
                <a:solidFill>
                  <a:srgbClr val="0070CD"/>
                </a:solidFill>
                <a:latin typeface="Arial"/>
                <a:cs typeface="Arial"/>
              </a:rPr>
              <a:t>Premium</a:t>
            </a:r>
            <a:r>
              <a:rPr sz="1850" b="1" spc="80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850" b="1" spc="-20" dirty="0">
                <a:solidFill>
                  <a:srgbClr val="0070CD"/>
                </a:solidFill>
                <a:latin typeface="Arial"/>
                <a:cs typeface="Arial"/>
              </a:rPr>
              <a:t>Pete</a:t>
            </a:r>
            <a:endParaRPr sz="1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983735" y="906589"/>
            <a:ext cx="3709670" cy="5093970"/>
            <a:chOff x="3983735" y="906589"/>
            <a:chExt cx="3709670" cy="5093970"/>
          </a:xfrm>
        </p:grpSpPr>
        <p:sp>
          <p:nvSpPr>
            <p:cNvPr id="13" name="object 13"/>
            <p:cNvSpPr/>
            <p:nvPr/>
          </p:nvSpPr>
          <p:spPr>
            <a:xfrm>
              <a:off x="3983735" y="906589"/>
              <a:ext cx="3709670" cy="5093970"/>
            </a:xfrm>
            <a:custGeom>
              <a:avLst/>
              <a:gdLst/>
              <a:ahLst/>
              <a:cxnLst/>
              <a:rect l="l" t="t" r="r" b="b"/>
              <a:pathLst>
                <a:path w="3709670" h="5093970">
                  <a:moveTo>
                    <a:pt x="147450" y="5093493"/>
                  </a:moveTo>
                  <a:lnTo>
                    <a:pt x="0" y="5093493"/>
                  </a:lnTo>
                  <a:lnTo>
                    <a:pt x="0" y="0"/>
                  </a:lnTo>
                  <a:lnTo>
                    <a:pt x="147446" y="0"/>
                  </a:lnTo>
                  <a:lnTo>
                    <a:pt x="140667" y="1348"/>
                  </a:lnTo>
                  <a:lnTo>
                    <a:pt x="127643" y="6742"/>
                  </a:lnTo>
                  <a:lnTo>
                    <a:pt x="102694" y="39321"/>
                  </a:lnTo>
                  <a:lnTo>
                    <a:pt x="101345" y="46101"/>
                  </a:lnTo>
                  <a:lnTo>
                    <a:pt x="101345" y="5047391"/>
                  </a:lnTo>
                  <a:lnTo>
                    <a:pt x="121896" y="5082909"/>
                  </a:lnTo>
                  <a:lnTo>
                    <a:pt x="140667" y="5092144"/>
                  </a:lnTo>
                  <a:lnTo>
                    <a:pt x="147450" y="5093493"/>
                  </a:lnTo>
                  <a:close/>
                </a:path>
                <a:path w="3709670" h="5093970">
                  <a:moveTo>
                    <a:pt x="3709415" y="5093493"/>
                  </a:moveTo>
                  <a:lnTo>
                    <a:pt x="3563108" y="5093493"/>
                  </a:lnTo>
                  <a:lnTo>
                    <a:pt x="3569890" y="5092144"/>
                  </a:lnTo>
                  <a:lnTo>
                    <a:pt x="3582913" y="5086750"/>
                  </a:lnTo>
                  <a:lnTo>
                    <a:pt x="3607862" y="5054171"/>
                  </a:lnTo>
                  <a:lnTo>
                    <a:pt x="3609212" y="5047391"/>
                  </a:lnTo>
                  <a:lnTo>
                    <a:pt x="3609212" y="46101"/>
                  </a:lnTo>
                  <a:lnTo>
                    <a:pt x="3588661" y="10583"/>
                  </a:lnTo>
                  <a:lnTo>
                    <a:pt x="3563111" y="0"/>
                  </a:lnTo>
                  <a:lnTo>
                    <a:pt x="3709415" y="0"/>
                  </a:lnTo>
                  <a:lnTo>
                    <a:pt x="3709415" y="509349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85081" y="906589"/>
              <a:ext cx="3508375" cy="5093970"/>
            </a:xfrm>
            <a:custGeom>
              <a:avLst/>
              <a:gdLst/>
              <a:ahLst/>
              <a:cxnLst/>
              <a:rect l="l" t="t" r="r" b="b"/>
              <a:pathLst>
                <a:path w="3508375" h="5093970">
                  <a:moveTo>
                    <a:pt x="3458207" y="5093493"/>
                  </a:moveTo>
                  <a:lnTo>
                    <a:pt x="49659" y="5093493"/>
                  </a:lnTo>
                  <a:lnTo>
                    <a:pt x="46203" y="5093153"/>
                  </a:lnTo>
                  <a:lnTo>
                    <a:pt x="10895" y="5072773"/>
                  </a:lnTo>
                  <a:lnTo>
                    <a:pt x="0" y="5043834"/>
                  </a:lnTo>
                  <a:lnTo>
                    <a:pt x="0" y="5040344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3458207" y="0"/>
                  </a:lnTo>
                  <a:lnTo>
                    <a:pt x="3494766" y="18034"/>
                  </a:lnTo>
                  <a:lnTo>
                    <a:pt x="3507866" y="49659"/>
                  </a:lnTo>
                  <a:lnTo>
                    <a:pt x="3507866" y="5043834"/>
                  </a:lnTo>
                  <a:lnTo>
                    <a:pt x="3489831" y="5080393"/>
                  </a:lnTo>
                  <a:lnTo>
                    <a:pt x="3461663" y="5093153"/>
                  </a:lnTo>
                  <a:lnTo>
                    <a:pt x="3458207" y="5093493"/>
                  </a:lnTo>
                  <a:close/>
                </a:path>
              </a:pathLst>
            </a:custGeom>
            <a:solidFill>
              <a:srgbClr val="F5F5F5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60519" y="1008887"/>
              <a:ext cx="3355975" cy="4889500"/>
            </a:xfrm>
            <a:custGeom>
              <a:avLst/>
              <a:gdLst/>
              <a:ahLst/>
              <a:cxnLst/>
              <a:rect l="l" t="t" r="r" b="b"/>
              <a:pathLst>
                <a:path w="3355975" h="4889500">
                  <a:moveTo>
                    <a:pt x="3355847" y="4888991"/>
                  </a:moveTo>
                  <a:lnTo>
                    <a:pt x="0" y="4888991"/>
                  </a:lnTo>
                  <a:lnTo>
                    <a:pt x="0" y="0"/>
                  </a:lnTo>
                  <a:lnTo>
                    <a:pt x="3355847" y="0"/>
                  </a:lnTo>
                  <a:lnTo>
                    <a:pt x="3355847" y="83724"/>
                  </a:lnTo>
                  <a:lnTo>
                    <a:pt x="154876" y="83724"/>
                  </a:lnTo>
                  <a:lnTo>
                    <a:pt x="146039" y="84535"/>
                  </a:lnTo>
                  <a:lnTo>
                    <a:pt x="113828" y="111013"/>
                  </a:lnTo>
                  <a:lnTo>
                    <a:pt x="110585" y="128015"/>
                  </a:lnTo>
                  <a:lnTo>
                    <a:pt x="110585" y="4707731"/>
                  </a:lnTo>
                  <a:lnTo>
                    <a:pt x="130379" y="4744724"/>
                  </a:lnTo>
                  <a:lnTo>
                    <a:pt x="154876" y="4752022"/>
                  </a:lnTo>
                  <a:lnTo>
                    <a:pt x="3355847" y="4752022"/>
                  </a:lnTo>
                  <a:lnTo>
                    <a:pt x="3355847" y="4888991"/>
                  </a:lnTo>
                  <a:close/>
                </a:path>
                <a:path w="3355975" h="4889500">
                  <a:moveTo>
                    <a:pt x="3355847" y="4752022"/>
                  </a:moveTo>
                  <a:lnTo>
                    <a:pt x="3202114" y="4752022"/>
                  </a:lnTo>
                  <a:lnTo>
                    <a:pt x="3210951" y="4751211"/>
                  </a:lnTo>
                  <a:lnTo>
                    <a:pt x="3219117" y="4748778"/>
                  </a:lnTo>
                  <a:lnTo>
                    <a:pt x="3245594" y="4716568"/>
                  </a:lnTo>
                  <a:lnTo>
                    <a:pt x="3246405" y="4707731"/>
                  </a:lnTo>
                  <a:lnTo>
                    <a:pt x="3246405" y="128015"/>
                  </a:lnTo>
                  <a:lnTo>
                    <a:pt x="3226610" y="91021"/>
                  </a:lnTo>
                  <a:lnTo>
                    <a:pt x="3202114" y="83724"/>
                  </a:lnTo>
                  <a:lnTo>
                    <a:pt x="3355847" y="83724"/>
                  </a:lnTo>
                  <a:lnTo>
                    <a:pt x="3355847" y="4752022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66676" y="1088183"/>
              <a:ext cx="3145155" cy="4677410"/>
            </a:xfrm>
            <a:custGeom>
              <a:avLst/>
              <a:gdLst/>
              <a:ahLst/>
              <a:cxnLst/>
              <a:rect l="l" t="t" r="r" b="b"/>
              <a:pathLst>
                <a:path w="3145154" h="4677410">
                  <a:moveTo>
                    <a:pt x="3102419" y="4677155"/>
                  </a:moveTo>
                  <a:lnTo>
                    <a:pt x="42259" y="4677155"/>
                  </a:lnTo>
                  <a:lnTo>
                    <a:pt x="36044" y="4675919"/>
                  </a:lnTo>
                  <a:lnTo>
                    <a:pt x="1236" y="4641110"/>
                  </a:lnTo>
                  <a:lnTo>
                    <a:pt x="0" y="4634896"/>
                  </a:lnTo>
                  <a:lnTo>
                    <a:pt x="0" y="4628435"/>
                  </a:lnTo>
                  <a:lnTo>
                    <a:pt x="0" y="42259"/>
                  </a:lnTo>
                  <a:lnTo>
                    <a:pt x="24106" y="6180"/>
                  </a:lnTo>
                  <a:lnTo>
                    <a:pt x="42259" y="0"/>
                  </a:lnTo>
                  <a:lnTo>
                    <a:pt x="3102419" y="0"/>
                  </a:lnTo>
                  <a:lnTo>
                    <a:pt x="3138497" y="24106"/>
                  </a:lnTo>
                  <a:lnTo>
                    <a:pt x="3144679" y="42259"/>
                  </a:lnTo>
                  <a:lnTo>
                    <a:pt x="3144679" y="4634896"/>
                  </a:lnTo>
                  <a:lnTo>
                    <a:pt x="3120571" y="4670974"/>
                  </a:lnTo>
                  <a:lnTo>
                    <a:pt x="3108633" y="4675919"/>
                  </a:lnTo>
                  <a:lnTo>
                    <a:pt x="3102419" y="46771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66676" y="1088183"/>
              <a:ext cx="3145155" cy="4677410"/>
            </a:xfrm>
            <a:custGeom>
              <a:avLst/>
              <a:gdLst/>
              <a:ahLst/>
              <a:cxnLst/>
              <a:rect l="l" t="t" r="r" b="b"/>
              <a:pathLst>
                <a:path w="3145154" h="4677410">
                  <a:moveTo>
                    <a:pt x="0" y="4628435"/>
                  </a:moveTo>
                  <a:lnTo>
                    <a:pt x="0" y="48720"/>
                  </a:lnTo>
                  <a:lnTo>
                    <a:pt x="0" y="42259"/>
                  </a:lnTo>
                  <a:lnTo>
                    <a:pt x="1236" y="36044"/>
                  </a:lnTo>
                  <a:lnTo>
                    <a:pt x="3708" y="30075"/>
                  </a:lnTo>
                  <a:lnTo>
                    <a:pt x="6180" y="24106"/>
                  </a:lnTo>
                  <a:lnTo>
                    <a:pt x="9701" y="18838"/>
                  </a:lnTo>
                  <a:lnTo>
                    <a:pt x="14269" y="14269"/>
                  </a:lnTo>
                  <a:lnTo>
                    <a:pt x="18838" y="9701"/>
                  </a:lnTo>
                  <a:lnTo>
                    <a:pt x="24106" y="6180"/>
                  </a:lnTo>
                  <a:lnTo>
                    <a:pt x="30075" y="3708"/>
                  </a:lnTo>
                  <a:lnTo>
                    <a:pt x="36044" y="1236"/>
                  </a:lnTo>
                  <a:lnTo>
                    <a:pt x="42259" y="0"/>
                  </a:lnTo>
                  <a:lnTo>
                    <a:pt x="48720" y="0"/>
                  </a:lnTo>
                  <a:lnTo>
                    <a:pt x="3095958" y="0"/>
                  </a:lnTo>
                  <a:lnTo>
                    <a:pt x="3102419" y="0"/>
                  </a:lnTo>
                  <a:lnTo>
                    <a:pt x="3108633" y="1236"/>
                  </a:lnTo>
                  <a:lnTo>
                    <a:pt x="3114601" y="3708"/>
                  </a:lnTo>
                  <a:lnTo>
                    <a:pt x="3120571" y="6180"/>
                  </a:lnTo>
                  <a:lnTo>
                    <a:pt x="3140969" y="30075"/>
                  </a:lnTo>
                  <a:lnTo>
                    <a:pt x="3143442" y="36044"/>
                  </a:lnTo>
                  <a:lnTo>
                    <a:pt x="3144679" y="42259"/>
                  </a:lnTo>
                  <a:lnTo>
                    <a:pt x="3144679" y="48720"/>
                  </a:lnTo>
                  <a:lnTo>
                    <a:pt x="3144679" y="4628435"/>
                  </a:lnTo>
                  <a:lnTo>
                    <a:pt x="3144679" y="4634896"/>
                  </a:lnTo>
                  <a:lnTo>
                    <a:pt x="3143443" y="4641110"/>
                  </a:lnTo>
                  <a:lnTo>
                    <a:pt x="3114601" y="4673446"/>
                  </a:lnTo>
                  <a:lnTo>
                    <a:pt x="3108633" y="4675919"/>
                  </a:lnTo>
                  <a:lnTo>
                    <a:pt x="3102419" y="4677155"/>
                  </a:lnTo>
                  <a:lnTo>
                    <a:pt x="3095958" y="4677156"/>
                  </a:lnTo>
                  <a:lnTo>
                    <a:pt x="48720" y="4677156"/>
                  </a:lnTo>
                  <a:lnTo>
                    <a:pt x="9701" y="4658317"/>
                  </a:lnTo>
                  <a:lnTo>
                    <a:pt x="0" y="4634896"/>
                  </a:lnTo>
                  <a:lnTo>
                    <a:pt x="0" y="4628435"/>
                  </a:lnTo>
                </a:path>
              </a:pathLst>
            </a:custGeom>
            <a:ln w="8858">
              <a:solidFill>
                <a:srgbClr val="D0D0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03979" y="1553241"/>
              <a:ext cx="2870200" cy="17780"/>
            </a:xfrm>
            <a:custGeom>
              <a:avLst/>
              <a:gdLst/>
              <a:ahLst/>
              <a:cxnLst/>
              <a:rect l="l" t="t" r="r" b="b"/>
              <a:pathLst>
                <a:path w="2870200" h="17780">
                  <a:moveTo>
                    <a:pt x="2870073" y="17716"/>
                  </a:moveTo>
                  <a:lnTo>
                    <a:pt x="0" y="17716"/>
                  </a:lnTo>
                  <a:lnTo>
                    <a:pt x="0" y="0"/>
                  </a:lnTo>
                  <a:lnTo>
                    <a:pt x="2870073" y="0"/>
                  </a:lnTo>
                  <a:lnTo>
                    <a:pt x="2870073" y="17716"/>
                  </a:lnTo>
                  <a:close/>
                </a:path>
              </a:pathLst>
            </a:custGeom>
            <a:solidFill>
              <a:srgbClr val="FFC2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102014" y="1212786"/>
            <a:ext cx="147383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10" dirty="0">
                <a:solidFill>
                  <a:srgbClr val="0070CD"/>
                </a:solidFill>
                <a:latin typeface="Arial"/>
                <a:cs typeface="Arial"/>
              </a:rPr>
              <a:t>Value</a:t>
            </a:r>
            <a:r>
              <a:rPr sz="1750" b="1" spc="-95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750" b="1" spc="-10" dirty="0">
                <a:solidFill>
                  <a:srgbClr val="0070CD"/>
                </a:solidFill>
                <a:latin typeface="Arial"/>
                <a:cs typeface="Arial"/>
              </a:rPr>
              <a:t>Victoria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668767" y="906589"/>
            <a:ext cx="3366135" cy="5093970"/>
            <a:chOff x="7668767" y="906589"/>
            <a:chExt cx="3366135" cy="5093970"/>
          </a:xfrm>
        </p:grpSpPr>
        <p:sp>
          <p:nvSpPr>
            <p:cNvPr id="21" name="object 21"/>
            <p:cNvSpPr/>
            <p:nvPr/>
          </p:nvSpPr>
          <p:spPr>
            <a:xfrm>
              <a:off x="7668767" y="906589"/>
              <a:ext cx="147955" cy="5093970"/>
            </a:xfrm>
            <a:custGeom>
              <a:avLst/>
              <a:gdLst/>
              <a:ahLst/>
              <a:cxnLst/>
              <a:rect l="l" t="t" r="r" b="b"/>
              <a:pathLst>
                <a:path w="147954" h="5093970">
                  <a:moveTo>
                    <a:pt x="147449" y="5093493"/>
                  </a:moveTo>
                  <a:lnTo>
                    <a:pt x="0" y="5093493"/>
                  </a:lnTo>
                  <a:lnTo>
                    <a:pt x="0" y="0"/>
                  </a:lnTo>
                  <a:lnTo>
                    <a:pt x="147446" y="0"/>
                  </a:lnTo>
                  <a:lnTo>
                    <a:pt x="140666" y="1348"/>
                  </a:lnTo>
                  <a:lnTo>
                    <a:pt x="127643" y="6742"/>
                  </a:lnTo>
                  <a:lnTo>
                    <a:pt x="102693" y="39321"/>
                  </a:lnTo>
                  <a:lnTo>
                    <a:pt x="101345" y="46101"/>
                  </a:lnTo>
                  <a:lnTo>
                    <a:pt x="101345" y="5047391"/>
                  </a:lnTo>
                  <a:lnTo>
                    <a:pt x="121896" y="5082909"/>
                  </a:lnTo>
                  <a:lnTo>
                    <a:pt x="140666" y="5092144"/>
                  </a:lnTo>
                  <a:lnTo>
                    <a:pt x="147449" y="509349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770113" y="906589"/>
              <a:ext cx="3260090" cy="5093970"/>
            </a:xfrm>
            <a:custGeom>
              <a:avLst/>
              <a:gdLst/>
              <a:ahLst/>
              <a:cxnLst/>
              <a:rect l="l" t="t" r="r" b="b"/>
              <a:pathLst>
                <a:path w="3260090" h="5093970">
                  <a:moveTo>
                    <a:pt x="3259836" y="5093493"/>
                  </a:moveTo>
                  <a:lnTo>
                    <a:pt x="49660" y="5093493"/>
                  </a:lnTo>
                  <a:lnTo>
                    <a:pt x="46203" y="5093153"/>
                  </a:lnTo>
                  <a:lnTo>
                    <a:pt x="10895" y="5072773"/>
                  </a:lnTo>
                  <a:lnTo>
                    <a:pt x="0" y="5043834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60" y="0"/>
                  </a:lnTo>
                  <a:lnTo>
                    <a:pt x="3259836" y="0"/>
                  </a:lnTo>
                  <a:lnTo>
                    <a:pt x="3259836" y="5093493"/>
                  </a:lnTo>
                  <a:close/>
                </a:path>
              </a:pathLst>
            </a:custGeom>
            <a:solidFill>
              <a:srgbClr val="F5F5F5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845551" y="1008887"/>
              <a:ext cx="3184525" cy="4889500"/>
            </a:xfrm>
            <a:custGeom>
              <a:avLst/>
              <a:gdLst/>
              <a:ahLst/>
              <a:cxnLst/>
              <a:rect l="l" t="t" r="r" b="b"/>
              <a:pathLst>
                <a:path w="3184525" h="4889500">
                  <a:moveTo>
                    <a:pt x="3184397" y="4888991"/>
                  </a:moveTo>
                  <a:lnTo>
                    <a:pt x="0" y="4888991"/>
                  </a:lnTo>
                  <a:lnTo>
                    <a:pt x="0" y="0"/>
                  </a:lnTo>
                  <a:lnTo>
                    <a:pt x="3184397" y="0"/>
                  </a:lnTo>
                  <a:lnTo>
                    <a:pt x="3184397" y="83724"/>
                  </a:lnTo>
                  <a:lnTo>
                    <a:pt x="154876" y="83724"/>
                  </a:lnTo>
                  <a:lnTo>
                    <a:pt x="146038" y="84535"/>
                  </a:lnTo>
                  <a:lnTo>
                    <a:pt x="113827" y="111013"/>
                  </a:lnTo>
                  <a:lnTo>
                    <a:pt x="110585" y="128015"/>
                  </a:lnTo>
                  <a:lnTo>
                    <a:pt x="110585" y="4707731"/>
                  </a:lnTo>
                  <a:lnTo>
                    <a:pt x="130379" y="4744724"/>
                  </a:lnTo>
                  <a:lnTo>
                    <a:pt x="154876" y="4752022"/>
                  </a:lnTo>
                  <a:lnTo>
                    <a:pt x="3184397" y="4752022"/>
                  </a:lnTo>
                  <a:lnTo>
                    <a:pt x="3184397" y="4888991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951707" y="1088183"/>
              <a:ext cx="3078480" cy="4677410"/>
            </a:xfrm>
            <a:custGeom>
              <a:avLst/>
              <a:gdLst/>
              <a:ahLst/>
              <a:cxnLst/>
              <a:rect l="l" t="t" r="r" b="b"/>
              <a:pathLst>
                <a:path w="3078479" h="4677410">
                  <a:moveTo>
                    <a:pt x="3078242" y="4677156"/>
                  </a:moveTo>
                  <a:lnTo>
                    <a:pt x="42259" y="4677155"/>
                  </a:lnTo>
                  <a:lnTo>
                    <a:pt x="6180" y="4653048"/>
                  </a:lnTo>
                  <a:lnTo>
                    <a:pt x="0" y="4634896"/>
                  </a:lnTo>
                  <a:lnTo>
                    <a:pt x="0" y="42259"/>
                  </a:lnTo>
                  <a:lnTo>
                    <a:pt x="24107" y="6180"/>
                  </a:lnTo>
                  <a:lnTo>
                    <a:pt x="42259" y="0"/>
                  </a:lnTo>
                  <a:lnTo>
                    <a:pt x="3078242" y="0"/>
                  </a:lnTo>
                  <a:lnTo>
                    <a:pt x="3078242" y="46771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951707" y="1088183"/>
              <a:ext cx="3078480" cy="4677410"/>
            </a:xfrm>
            <a:custGeom>
              <a:avLst/>
              <a:gdLst/>
              <a:ahLst/>
              <a:cxnLst/>
              <a:rect l="l" t="t" r="r" b="b"/>
              <a:pathLst>
                <a:path w="3078479" h="4677410">
                  <a:moveTo>
                    <a:pt x="3078242" y="4677156"/>
                  </a:moveTo>
                  <a:lnTo>
                    <a:pt x="48720" y="4677156"/>
                  </a:lnTo>
                  <a:lnTo>
                    <a:pt x="42259" y="4677155"/>
                  </a:lnTo>
                  <a:lnTo>
                    <a:pt x="6180" y="4653048"/>
                  </a:lnTo>
                  <a:lnTo>
                    <a:pt x="0" y="4634896"/>
                  </a:lnTo>
                  <a:lnTo>
                    <a:pt x="0" y="4628435"/>
                  </a:lnTo>
                  <a:lnTo>
                    <a:pt x="0" y="48720"/>
                  </a:lnTo>
                  <a:lnTo>
                    <a:pt x="14270" y="14269"/>
                  </a:lnTo>
                  <a:lnTo>
                    <a:pt x="18838" y="9701"/>
                  </a:lnTo>
                  <a:lnTo>
                    <a:pt x="24107" y="6180"/>
                  </a:lnTo>
                  <a:lnTo>
                    <a:pt x="30075" y="3708"/>
                  </a:lnTo>
                  <a:lnTo>
                    <a:pt x="36044" y="1236"/>
                  </a:lnTo>
                  <a:lnTo>
                    <a:pt x="42259" y="0"/>
                  </a:lnTo>
                  <a:lnTo>
                    <a:pt x="48720" y="0"/>
                  </a:lnTo>
                  <a:lnTo>
                    <a:pt x="3078242" y="0"/>
                  </a:lnTo>
                </a:path>
              </a:pathLst>
            </a:custGeom>
            <a:ln w="8858">
              <a:solidFill>
                <a:srgbClr val="D0D0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89011" y="1553241"/>
              <a:ext cx="2941320" cy="17780"/>
            </a:xfrm>
            <a:custGeom>
              <a:avLst/>
              <a:gdLst/>
              <a:ahLst/>
              <a:cxnLst/>
              <a:rect l="l" t="t" r="r" b="b"/>
              <a:pathLst>
                <a:path w="2941320" h="17780">
                  <a:moveTo>
                    <a:pt x="2940939" y="17716"/>
                  </a:moveTo>
                  <a:lnTo>
                    <a:pt x="0" y="17716"/>
                  </a:lnTo>
                  <a:lnTo>
                    <a:pt x="0" y="0"/>
                  </a:lnTo>
                  <a:lnTo>
                    <a:pt x="2940939" y="0"/>
                  </a:lnTo>
                  <a:lnTo>
                    <a:pt x="2940939" y="17716"/>
                  </a:lnTo>
                  <a:close/>
                </a:path>
              </a:pathLst>
            </a:custGeom>
            <a:solidFill>
              <a:srgbClr val="FFC2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795351" y="1212786"/>
            <a:ext cx="156400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dirty="0">
                <a:solidFill>
                  <a:srgbClr val="0070CD"/>
                </a:solidFill>
                <a:latin typeface="Arial"/>
                <a:cs typeface="Arial"/>
              </a:rPr>
              <a:t>Midrange</a:t>
            </a:r>
            <a:r>
              <a:rPr sz="1750" b="1" spc="-85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750" b="1" spc="-20" dirty="0">
                <a:solidFill>
                  <a:srgbClr val="0070CD"/>
                </a:solidFill>
                <a:latin typeface="Arial"/>
                <a:cs typeface="Arial"/>
              </a:rPr>
              <a:t>Mike</a:t>
            </a:r>
            <a:endParaRPr sz="17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23900" y="1664557"/>
            <a:ext cx="2219325" cy="22263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0"/>
              </a:spcBef>
            </a:pPr>
            <a:r>
              <a:rPr sz="1850" dirty="0">
                <a:solidFill>
                  <a:srgbClr val="333333"/>
                </a:solidFill>
                <a:latin typeface="Arial"/>
                <a:cs typeface="Arial"/>
              </a:rPr>
              <a:t>26-35</a:t>
            </a:r>
            <a:r>
              <a:rPr sz="1850" spc="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333333"/>
                </a:solidFill>
                <a:latin typeface="Arial"/>
                <a:cs typeface="Arial"/>
              </a:rPr>
              <a:t>year</a:t>
            </a:r>
            <a:r>
              <a:rPr sz="1850" spc="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333333"/>
                </a:solidFill>
                <a:latin typeface="Arial"/>
                <a:cs typeface="Arial"/>
              </a:rPr>
              <a:t>old</a:t>
            </a:r>
            <a:r>
              <a:rPr sz="1850" spc="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spc="-20" dirty="0">
                <a:solidFill>
                  <a:srgbClr val="333333"/>
                </a:solidFill>
                <a:latin typeface="Arial"/>
                <a:cs typeface="Arial"/>
              </a:rPr>
              <a:t>male</a:t>
            </a:r>
            <a:endParaRPr sz="1850">
              <a:latin typeface="Arial"/>
              <a:cs typeface="Arial"/>
            </a:endParaRPr>
          </a:p>
          <a:p>
            <a:pPr marL="12700" marR="642620" algn="just">
              <a:lnSpc>
                <a:spcPct val="169700"/>
              </a:lnSpc>
            </a:pPr>
            <a:r>
              <a:rPr sz="1850" dirty="0">
                <a:solidFill>
                  <a:srgbClr val="333333"/>
                </a:solidFill>
                <a:latin typeface="Arial"/>
                <a:cs typeface="Arial"/>
              </a:rPr>
              <a:t>City</a:t>
            </a:r>
            <a:r>
              <a:rPr sz="1850" spc="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333333"/>
                </a:solidFill>
                <a:latin typeface="Arial"/>
                <a:cs typeface="Arial"/>
              </a:rPr>
              <a:t>B</a:t>
            </a:r>
            <a:r>
              <a:rPr sz="1850" spc="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333333"/>
                </a:solidFill>
                <a:latin typeface="Arial"/>
                <a:cs typeface="Arial"/>
              </a:rPr>
              <a:t>resident </a:t>
            </a:r>
            <a:r>
              <a:rPr sz="1850" dirty="0">
                <a:solidFill>
                  <a:srgbClr val="333333"/>
                </a:solidFill>
                <a:latin typeface="Arial"/>
                <a:cs typeface="Arial"/>
              </a:rPr>
              <a:t>Occupation</a:t>
            </a:r>
            <a:r>
              <a:rPr sz="1850" spc="19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spc="-25" dirty="0">
                <a:solidFill>
                  <a:srgbClr val="333333"/>
                </a:solidFill>
                <a:latin typeface="Arial"/>
                <a:cs typeface="Arial"/>
              </a:rPr>
              <a:t>#5 </a:t>
            </a:r>
            <a:r>
              <a:rPr sz="1850" dirty="0">
                <a:solidFill>
                  <a:srgbClr val="333333"/>
                </a:solidFill>
                <a:latin typeface="Arial"/>
                <a:cs typeface="Arial"/>
              </a:rPr>
              <a:t>3</a:t>
            </a:r>
            <a:r>
              <a:rPr sz="1850" spc="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333333"/>
                </a:solidFill>
                <a:latin typeface="Arial"/>
                <a:cs typeface="Arial"/>
              </a:rPr>
              <a:t>years</a:t>
            </a:r>
            <a:r>
              <a:rPr sz="1850" spc="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sz="1850" spc="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spc="-20" dirty="0">
                <a:solidFill>
                  <a:srgbClr val="333333"/>
                </a:solidFill>
                <a:latin typeface="Arial"/>
                <a:cs typeface="Arial"/>
              </a:rPr>
              <a:t>city</a:t>
            </a:r>
            <a:endParaRPr sz="185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545"/>
              </a:spcBef>
            </a:pPr>
            <a:r>
              <a:rPr sz="1850" dirty="0">
                <a:solidFill>
                  <a:srgbClr val="333333"/>
                </a:solidFill>
                <a:latin typeface="Arial"/>
                <a:cs typeface="Arial"/>
              </a:rPr>
              <a:t>High-value</a:t>
            </a:r>
            <a:r>
              <a:rPr sz="1850" spc="1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333333"/>
                </a:solidFill>
                <a:latin typeface="Arial"/>
                <a:cs typeface="Arial"/>
              </a:rPr>
              <a:t>customer</a:t>
            </a:r>
            <a:endParaRPr sz="18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65141" y="1535935"/>
            <a:ext cx="126364" cy="241744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25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225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225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25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225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2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72689" y="4195359"/>
            <a:ext cx="2253615" cy="1307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95"/>
              </a:spcBef>
            </a:pPr>
            <a:r>
              <a:rPr sz="1700" b="1" dirty="0">
                <a:solidFill>
                  <a:srgbClr val="0070CD"/>
                </a:solidFill>
                <a:latin typeface="Arial"/>
                <a:cs typeface="Arial"/>
              </a:rPr>
              <a:t>Shopping</a:t>
            </a:r>
            <a:r>
              <a:rPr sz="1700" b="1" spc="-120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070CD"/>
                </a:solidFill>
                <a:latin typeface="Arial"/>
                <a:cs typeface="Arial"/>
              </a:rPr>
              <a:t>Habits: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dirty="0">
                <a:solidFill>
                  <a:srgbClr val="333333"/>
                </a:solidFill>
                <a:latin typeface="Arial"/>
                <a:cs typeface="Arial"/>
              </a:rPr>
              <a:t>Prefers</a:t>
            </a:r>
            <a:r>
              <a:rPr sz="1500" spc="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cs typeface="Arial"/>
              </a:rPr>
              <a:t>premium</a:t>
            </a:r>
            <a:r>
              <a:rPr sz="1500" spc="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333333"/>
                </a:solidFill>
                <a:latin typeface="Arial"/>
                <a:cs typeface="Arial"/>
              </a:rPr>
              <a:t>products</a:t>
            </a:r>
            <a:endParaRPr sz="1500">
              <a:latin typeface="Arial"/>
              <a:cs typeface="Arial"/>
            </a:endParaRPr>
          </a:p>
          <a:p>
            <a:pPr marL="12700" marR="79375">
              <a:lnSpc>
                <a:spcPct val="170500"/>
              </a:lnSpc>
            </a:pPr>
            <a:r>
              <a:rPr sz="1500" dirty="0">
                <a:solidFill>
                  <a:srgbClr val="333333"/>
                </a:solidFill>
                <a:latin typeface="Arial"/>
                <a:cs typeface="Arial"/>
              </a:rPr>
              <a:t>Larger</a:t>
            </a:r>
            <a:r>
              <a:rPr sz="1500" spc="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cs typeface="Arial"/>
              </a:rPr>
              <a:t>basket</a:t>
            </a:r>
            <a:r>
              <a:rPr sz="1500" spc="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500" spc="-20" dirty="0">
                <a:solidFill>
                  <a:srgbClr val="333333"/>
                </a:solidFill>
                <a:latin typeface="Arial"/>
                <a:cs typeface="Arial"/>
              </a:rPr>
              <a:t>sizes </a:t>
            </a:r>
            <a:r>
              <a:rPr sz="1500" dirty="0">
                <a:solidFill>
                  <a:srgbClr val="333333"/>
                </a:solidFill>
                <a:latin typeface="Arial"/>
                <a:cs typeface="Arial"/>
              </a:rPr>
              <a:t>Shops</a:t>
            </a:r>
            <a:r>
              <a:rPr sz="1500" spc="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cs typeface="Arial"/>
              </a:rPr>
              <a:t>Categories</a:t>
            </a:r>
            <a:r>
              <a:rPr sz="1500" spc="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cs typeface="Arial"/>
              </a:rPr>
              <a:t>9</a:t>
            </a:r>
            <a:r>
              <a:rPr sz="1500" spc="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cs typeface="Arial"/>
              </a:rPr>
              <a:t>&amp;</a:t>
            </a:r>
            <a:r>
              <a:rPr sz="1500" spc="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333333"/>
                </a:solidFill>
                <a:latin typeface="Arial"/>
                <a:cs typeface="Arial"/>
              </a:rPr>
              <a:t>18</a:t>
            </a:r>
            <a:endParaRPr sz="15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82166" y="4359661"/>
            <a:ext cx="107314" cy="119507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8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8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723463" y="1646840"/>
            <a:ext cx="2240915" cy="23552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55+</a:t>
            </a:r>
            <a:r>
              <a:rPr sz="1750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spc="-10" dirty="0">
                <a:solidFill>
                  <a:srgbClr val="333333"/>
                </a:solidFill>
                <a:latin typeface="Arial"/>
                <a:cs typeface="Arial"/>
              </a:rPr>
              <a:t>female</a:t>
            </a:r>
            <a:endParaRPr sz="1750">
              <a:latin typeface="Arial"/>
              <a:cs typeface="Arial"/>
            </a:endParaRPr>
          </a:p>
          <a:p>
            <a:pPr marL="12700" marR="767715">
              <a:lnSpc>
                <a:spcPct val="166100"/>
              </a:lnSpc>
            </a:pP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City</a:t>
            </a:r>
            <a:r>
              <a:rPr sz="1750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C</a:t>
            </a:r>
            <a:r>
              <a:rPr sz="175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spc="-10" dirty="0">
                <a:solidFill>
                  <a:srgbClr val="333333"/>
                </a:solidFill>
                <a:latin typeface="Arial"/>
                <a:cs typeface="Arial"/>
              </a:rPr>
              <a:t>resident </a:t>
            </a: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Occupation</a:t>
            </a:r>
            <a:r>
              <a:rPr sz="1750" spc="-9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spc="-25" dirty="0">
                <a:solidFill>
                  <a:srgbClr val="333333"/>
                </a:solidFill>
                <a:latin typeface="Arial"/>
                <a:cs typeface="Arial"/>
              </a:rPr>
              <a:t>#8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New</a:t>
            </a:r>
            <a:r>
              <a:rPr sz="175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75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city</a:t>
            </a:r>
            <a:r>
              <a:rPr sz="175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spc="-10" dirty="0">
                <a:solidFill>
                  <a:srgbClr val="333333"/>
                </a:solidFill>
                <a:latin typeface="Arial"/>
                <a:cs typeface="Arial"/>
              </a:rPr>
              <a:t>(0-</a:t>
            </a: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175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spc="-10" dirty="0">
                <a:solidFill>
                  <a:srgbClr val="333333"/>
                </a:solidFill>
                <a:latin typeface="Arial"/>
                <a:cs typeface="Arial"/>
              </a:rPr>
              <a:t>years)</a:t>
            </a:r>
            <a:endParaRPr sz="1750">
              <a:latin typeface="Arial"/>
              <a:cs typeface="Arial"/>
            </a:endParaRPr>
          </a:p>
          <a:p>
            <a:pPr marL="12700" marR="546100">
              <a:lnSpc>
                <a:spcPct val="109600"/>
              </a:lnSpc>
              <a:spcBef>
                <a:spcPts val="1185"/>
              </a:spcBef>
            </a:pP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Low</a:t>
            </a:r>
            <a:r>
              <a:rPr sz="1750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75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spc="-10" dirty="0">
                <a:solidFill>
                  <a:srgbClr val="333333"/>
                </a:solidFill>
                <a:latin typeface="Arial"/>
                <a:cs typeface="Arial"/>
              </a:rPr>
              <a:t>mid-value customer</a:t>
            </a:r>
            <a:endParaRPr sz="17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91278" y="1522825"/>
            <a:ext cx="118745" cy="224028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21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1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1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1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1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13777" y="4260024"/>
            <a:ext cx="2119630" cy="123952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290"/>
              </a:spcBef>
            </a:pPr>
            <a:r>
              <a:rPr sz="1550" b="1" dirty="0">
                <a:solidFill>
                  <a:srgbClr val="0070CD"/>
                </a:solidFill>
                <a:latin typeface="Arial"/>
                <a:cs typeface="Arial"/>
              </a:rPr>
              <a:t>Shopping</a:t>
            </a:r>
            <a:r>
              <a:rPr sz="1550" b="1" spc="75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0070CD"/>
                </a:solidFill>
                <a:latin typeface="Arial"/>
                <a:cs typeface="Arial"/>
              </a:rPr>
              <a:t>Habits: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Price-sensitive</a:t>
            </a:r>
            <a:r>
              <a:rPr sz="1400" spc="9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shopper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66100"/>
              </a:lnSpc>
              <a:spcBef>
                <a:spcPts val="70"/>
              </a:spcBef>
            </a:pP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Frequent</a:t>
            </a:r>
            <a:r>
              <a:rPr sz="1400" spc="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small</a:t>
            </a:r>
            <a:r>
              <a:rPr sz="1400" spc="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purchases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Shops</a:t>
            </a:r>
            <a:r>
              <a:rPr sz="1400" spc="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Categories</a:t>
            </a:r>
            <a:r>
              <a:rPr sz="1400" spc="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19</a:t>
            </a:r>
            <a:r>
              <a:rPr sz="1400" spc="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&amp;</a:t>
            </a:r>
            <a:r>
              <a:rPr sz="1400" spc="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Arial"/>
                <a:cs typeface="Arial"/>
              </a:rPr>
              <a:t>20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644707" y="4435949"/>
            <a:ext cx="100965" cy="11061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7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7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7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076310" y="1522825"/>
            <a:ext cx="118745" cy="91122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21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1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408495" y="1646840"/>
            <a:ext cx="2272030" cy="23552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0" dirty="0">
                <a:solidFill>
                  <a:srgbClr val="333333"/>
                </a:solidFill>
                <a:latin typeface="Arial"/>
                <a:cs typeface="Arial"/>
              </a:rPr>
              <a:t>46-</a:t>
            </a: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50</a:t>
            </a:r>
            <a:r>
              <a:rPr sz="1750" spc="-20" dirty="0">
                <a:solidFill>
                  <a:srgbClr val="333333"/>
                </a:solidFill>
                <a:latin typeface="Arial"/>
                <a:cs typeface="Arial"/>
              </a:rPr>
              <a:t> male</a:t>
            </a:r>
            <a:endParaRPr sz="1750">
              <a:latin typeface="Arial"/>
              <a:cs typeface="Arial"/>
            </a:endParaRPr>
          </a:p>
          <a:p>
            <a:pPr marL="12700" marR="5080">
              <a:lnSpc>
                <a:spcPct val="109600"/>
              </a:lnSpc>
              <a:spcBef>
                <a:spcPts val="1190"/>
              </a:spcBef>
            </a:pPr>
            <a:r>
              <a:rPr sz="1750" spc="-10" dirty="0">
                <a:solidFill>
                  <a:srgbClr val="333333"/>
                </a:solidFill>
                <a:latin typeface="Arial"/>
                <a:cs typeface="Arial"/>
              </a:rPr>
              <a:t>Long-</a:t>
            </a: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term</a:t>
            </a:r>
            <a:r>
              <a:rPr sz="1750" spc="-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resident</a:t>
            </a:r>
            <a:r>
              <a:rPr sz="1750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spc="-25" dirty="0">
                <a:solidFill>
                  <a:srgbClr val="333333"/>
                </a:solidFill>
                <a:latin typeface="Arial"/>
                <a:cs typeface="Arial"/>
              </a:rPr>
              <a:t>(4+ </a:t>
            </a:r>
            <a:r>
              <a:rPr sz="1750" spc="-10" dirty="0">
                <a:solidFill>
                  <a:srgbClr val="333333"/>
                </a:solidFill>
                <a:latin typeface="Arial"/>
                <a:cs typeface="Arial"/>
              </a:rPr>
              <a:t>years)</a:t>
            </a:r>
            <a:endParaRPr sz="1750">
              <a:latin typeface="Arial"/>
              <a:cs typeface="Arial"/>
            </a:endParaRPr>
          </a:p>
          <a:p>
            <a:pPr marL="12700" marR="699770">
              <a:lnSpc>
                <a:spcPct val="166100"/>
              </a:lnSpc>
            </a:pP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Occupation</a:t>
            </a:r>
            <a:r>
              <a:rPr sz="1750" spc="-9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spc="-25" dirty="0">
                <a:solidFill>
                  <a:srgbClr val="333333"/>
                </a:solidFill>
                <a:latin typeface="Arial"/>
                <a:cs typeface="Arial"/>
              </a:rPr>
              <a:t>#12 </a:t>
            </a:r>
            <a:r>
              <a:rPr sz="1750" spc="-10" dirty="0">
                <a:solidFill>
                  <a:srgbClr val="333333"/>
                </a:solidFill>
                <a:latin typeface="Arial"/>
                <a:cs typeface="Arial"/>
              </a:rPr>
              <a:t>City</a:t>
            </a:r>
            <a:r>
              <a:rPr sz="1750" spc="-1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1750" spc="-9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spc="-10" dirty="0">
                <a:solidFill>
                  <a:srgbClr val="333333"/>
                </a:solidFill>
                <a:latin typeface="Arial"/>
                <a:cs typeface="Arial"/>
              </a:rPr>
              <a:t>resident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sz="1750" spc="-10" dirty="0">
                <a:solidFill>
                  <a:srgbClr val="333333"/>
                </a:solidFill>
                <a:latin typeface="Arial"/>
                <a:cs typeface="Arial"/>
              </a:rPr>
              <a:t>Mid-</a:t>
            </a:r>
            <a:r>
              <a:rPr sz="1750" dirty="0">
                <a:solidFill>
                  <a:srgbClr val="333333"/>
                </a:solidFill>
                <a:latin typeface="Arial"/>
                <a:cs typeface="Arial"/>
              </a:rPr>
              <a:t>value</a:t>
            </a:r>
            <a:r>
              <a:rPr sz="175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spc="-10" dirty="0">
                <a:solidFill>
                  <a:srgbClr val="333333"/>
                </a:solidFill>
                <a:latin typeface="Arial"/>
                <a:cs typeface="Arial"/>
              </a:rPr>
              <a:t>customer</a:t>
            </a:r>
            <a:endParaRPr sz="17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076310" y="2700972"/>
            <a:ext cx="118745" cy="1354455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1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1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1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347871" y="4260024"/>
            <a:ext cx="2727960" cy="123952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403860">
              <a:lnSpc>
                <a:spcPct val="100000"/>
              </a:lnSpc>
              <a:spcBef>
                <a:spcPts val="290"/>
              </a:spcBef>
            </a:pPr>
            <a:r>
              <a:rPr sz="1550" b="1" dirty="0">
                <a:solidFill>
                  <a:srgbClr val="0070CD"/>
                </a:solidFill>
                <a:latin typeface="Arial"/>
                <a:cs typeface="Arial"/>
              </a:rPr>
              <a:t>Shopping</a:t>
            </a:r>
            <a:r>
              <a:rPr sz="1550" b="1" spc="75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0070CD"/>
                </a:solidFill>
                <a:latin typeface="Arial"/>
                <a:cs typeface="Arial"/>
              </a:rPr>
              <a:t>Habits: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Mix</a:t>
            </a:r>
            <a:r>
              <a:rPr sz="1400" spc="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sz="1400" spc="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premium</a:t>
            </a:r>
            <a:r>
              <a:rPr sz="1400" spc="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sz="1400" spc="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value</a:t>
            </a:r>
            <a:r>
              <a:rPr sz="1400" spc="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items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66100"/>
              </a:lnSpc>
              <a:spcBef>
                <a:spcPts val="70"/>
              </a:spcBef>
            </a:pP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Consistent,</a:t>
            </a:r>
            <a:r>
              <a:rPr sz="1400" spc="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predictable</a:t>
            </a:r>
            <a:r>
              <a:rPr sz="1400" spc="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purchases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Loyal</a:t>
            </a:r>
            <a:r>
              <a:rPr sz="1400" spc="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400" spc="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store</a:t>
            </a:r>
            <a:r>
              <a:rPr sz="1400" spc="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location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078802" y="4435949"/>
            <a:ext cx="100965" cy="11061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7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7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7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r>
              <a:rPr dirty="0"/>
              <a:t>Walmart</a:t>
            </a:r>
            <a:r>
              <a:rPr spc="5" dirty="0"/>
              <a:t> </a:t>
            </a:r>
            <a:r>
              <a:rPr dirty="0"/>
              <a:t>Customer</a:t>
            </a:r>
            <a:r>
              <a:rPr spc="10" dirty="0"/>
              <a:t> </a:t>
            </a:r>
            <a:r>
              <a:rPr dirty="0"/>
              <a:t>Segmentation</a:t>
            </a:r>
            <a:r>
              <a:rPr spc="5" dirty="0"/>
              <a:t> </a:t>
            </a:r>
            <a:r>
              <a:rPr dirty="0"/>
              <a:t>&amp;</a:t>
            </a:r>
            <a:r>
              <a:rPr spc="10" dirty="0"/>
              <a:t> </a:t>
            </a:r>
            <a:r>
              <a:rPr spc="-10" dirty="0"/>
              <a:t>Insights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r>
              <a:rPr dirty="0"/>
              <a:t>May</a:t>
            </a:r>
            <a:r>
              <a:rPr spc="15" dirty="0"/>
              <a:t>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4AD61-1DAA-5648-00DD-E2C5210CC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AB1D1-E9C8-C882-DC38-E44A8CBC4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2843530"/>
            <a:ext cx="8610600" cy="1523494"/>
          </a:xfrm>
        </p:spPr>
        <p:txBody>
          <a:bodyPr/>
          <a:lstStyle/>
          <a:p>
            <a:pPr algn="ctr"/>
            <a:r>
              <a:rPr lang="en-US" sz="3600" dirty="0"/>
              <a:t>Actionable Strategies</a:t>
            </a:r>
            <a:br>
              <a:rPr lang="en-US" sz="3600" dirty="0"/>
            </a:br>
            <a:r>
              <a:rPr lang="en-IN" sz="2700" dirty="0">
                <a:solidFill>
                  <a:srgbClr val="666666"/>
                </a:solidFill>
              </a:rPr>
              <a:t>What Can We Do?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248430D5-ACAB-F4E9-6E2C-C091CAD9D1D2}"/>
              </a:ext>
            </a:extLst>
          </p:cNvPr>
          <p:cNvSpPr/>
          <p:nvPr/>
        </p:nvSpPr>
        <p:spPr>
          <a:xfrm>
            <a:off x="400050" y="746125"/>
            <a:ext cx="10629900" cy="17780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4510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0049" y="676274"/>
            <a:ext cx="10629900" cy="17780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7349" y="197719"/>
            <a:ext cx="6151880" cy="37317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4</a:t>
            </a:r>
            <a:r>
              <a:rPr spc="-165" dirty="0"/>
              <a:t> </a:t>
            </a:r>
            <a:r>
              <a:rPr lang="en-IN" spc="-165" dirty="0"/>
              <a:t> </a:t>
            </a:r>
            <a:r>
              <a:rPr dirty="0"/>
              <a:t>Actionable</a:t>
            </a:r>
            <a:r>
              <a:rPr spc="-90" dirty="0"/>
              <a:t> </a:t>
            </a:r>
            <a:r>
              <a:rPr dirty="0"/>
              <a:t>Strategies</a:t>
            </a:r>
            <a:r>
              <a:rPr spc="-95" dirty="0"/>
              <a:t> </a:t>
            </a:r>
            <a:r>
              <a:rPr dirty="0"/>
              <a:t>to</a:t>
            </a:r>
            <a:r>
              <a:rPr spc="-90" dirty="0"/>
              <a:t> </a:t>
            </a:r>
            <a:r>
              <a:rPr dirty="0"/>
              <a:t>Boost</a:t>
            </a:r>
            <a:r>
              <a:rPr spc="-90" dirty="0"/>
              <a:t> </a:t>
            </a:r>
            <a:r>
              <a:rPr spc="-10" dirty="0"/>
              <a:t>Revenue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00049" y="871156"/>
            <a:ext cx="10629900" cy="5164455"/>
            <a:chOff x="400049" y="871156"/>
            <a:chExt cx="10629900" cy="5164455"/>
          </a:xfrm>
        </p:grpSpPr>
        <p:sp>
          <p:nvSpPr>
            <p:cNvPr id="5" name="object 5"/>
            <p:cNvSpPr/>
            <p:nvPr/>
          </p:nvSpPr>
          <p:spPr>
            <a:xfrm>
              <a:off x="400049" y="871156"/>
              <a:ext cx="5415915" cy="2695575"/>
            </a:xfrm>
            <a:custGeom>
              <a:avLst/>
              <a:gdLst/>
              <a:ahLst/>
              <a:cxnLst/>
              <a:rect l="l" t="t" r="r" b="b"/>
              <a:pathLst>
                <a:path w="5415915" h="2695575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w="5415915" h="2695575">
                  <a:moveTo>
                    <a:pt x="5415533" y="2577750"/>
                  </a:moveTo>
                  <a:lnTo>
                    <a:pt x="5268847" y="2577750"/>
                  </a:lnTo>
                  <a:lnTo>
                    <a:pt x="5275627" y="2576401"/>
                  </a:lnTo>
                  <a:lnTo>
                    <a:pt x="5288650" y="2571007"/>
                  </a:lnTo>
                  <a:lnTo>
                    <a:pt x="5313600" y="2538428"/>
                  </a:lnTo>
                  <a:lnTo>
                    <a:pt x="5314949" y="46101"/>
                  </a:lnTo>
                  <a:lnTo>
                    <a:pt x="5313600" y="39321"/>
                  </a:lnTo>
                  <a:lnTo>
                    <a:pt x="5288650" y="6742"/>
                  </a:lnTo>
                  <a:lnTo>
                    <a:pt x="5268847" y="0"/>
                  </a:lnTo>
                  <a:lnTo>
                    <a:pt x="5415533" y="0"/>
                  </a:lnTo>
                  <a:lnTo>
                    <a:pt x="5415533" y="2577750"/>
                  </a:lnTo>
                  <a:close/>
                </a:path>
                <a:path w="5415915" h="2695575">
                  <a:moveTo>
                    <a:pt x="5415533" y="2695003"/>
                  </a:moveTo>
                  <a:lnTo>
                    <a:pt x="0" y="2695003"/>
                  </a:lnTo>
                  <a:lnTo>
                    <a:pt x="0" y="2531649"/>
                  </a:lnTo>
                  <a:lnTo>
                    <a:pt x="1348" y="2538428"/>
                  </a:lnTo>
                  <a:lnTo>
                    <a:pt x="6742" y="2551451"/>
                  </a:lnTo>
                  <a:lnTo>
                    <a:pt x="39321" y="2576401"/>
                  </a:lnTo>
                  <a:lnTo>
                    <a:pt x="46101" y="2577750"/>
                  </a:lnTo>
                  <a:lnTo>
                    <a:pt x="5415533" y="2577750"/>
                  </a:lnTo>
                  <a:lnTo>
                    <a:pt x="5415533" y="269500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0049" y="871156"/>
              <a:ext cx="5314950" cy="2578100"/>
            </a:xfrm>
            <a:custGeom>
              <a:avLst/>
              <a:gdLst/>
              <a:ahLst/>
              <a:cxnLst/>
              <a:rect l="l" t="t" r="r" b="b"/>
              <a:pathLst>
                <a:path w="5314950" h="2578100">
                  <a:moveTo>
                    <a:pt x="5265290" y="2577750"/>
                  </a:moveTo>
                  <a:lnTo>
                    <a:pt x="49659" y="2577750"/>
                  </a:lnTo>
                  <a:lnTo>
                    <a:pt x="46203" y="2577410"/>
                  </a:lnTo>
                  <a:lnTo>
                    <a:pt x="10896" y="2557030"/>
                  </a:lnTo>
                  <a:lnTo>
                    <a:pt x="0" y="2528090"/>
                  </a:lnTo>
                  <a:lnTo>
                    <a:pt x="0" y="2524601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265290" y="0"/>
                  </a:lnTo>
                  <a:lnTo>
                    <a:pt x="5301850" y="18034"/>
                  </a:lnTo>
                  <a:lnTo>
                    <a:pt x="5314949" y="49659"/>
                  </a:lnTo>
                  <a:lnTo>
                    <a:pt x="5314949" y="2528090"/>
                  </a:lnTo>
                  <a:lnTo>
                    <a:pt x="5296914" y="2564650"/>
                  </a:lnTo>
                  <a:lnTo>
                    <a:pt x="5268746" y="2577410"/>
                  </a:lnTo>
                  <a:lnTo>
                    <a:pt x="5265290" y="2577750"/>
                  </a:lnTo>
                  <a:close/>
                </a:path>
              </a:pathLst>
            </a:custGeom>
            <a:solidFill>
              <a:srgbClr val="F5F5F5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91199" y="871156"/>
              <a:ext cx="5238750" cy="2695575"/>
            </a:xfrm>
            <a:custGeom>
              <a:avLst/>
              <a:gdLst/>
              <a:ahLst/>
              <a:cxnLst/>
              <a:rect l="l" t="t" r="r" b="b"/>
              <a:pathLst>
                <a:path w="5238750" h="2695575">
                  <a:moveTo>
                    <a:pt x="5238749" y="2695003"/>
                  </a:moveTo>
                  <a:lnTo>
                    <a:pt x="0" y="2695003"/>
                  </a:lnTo>
                  <a:lnTo>
                    <a:pt x="0" y="0"/>
                  </a:lnTo>
                  <a:lnTo>
                    <a:pt x="147065" y="0"/>
                  </a:lnTo>
                  <a:lnTo>
                    <a:pt x="140286" y="1348"/>
                  </a:lnTo>
                  <a:lnTo>
                    <a:pt x="127262" y="6742"/>
                  </a:lnTo>
                  <a:lnTo>
                    <a:pt x="102313" y="39321"/>
                  </a:lnTo>
                  <a:lnTo>
                    <a:pt x="100964" y="46101"/>
                  </a:lnTo>
                  <a:lnTo>
                    <a:pt x="100964" y="2531648"/>
                  </a:lnTo>
                  <a:lnTo>
                    <a:pt x="121515" y="2567166"/>
                  </a:lnTo>
                  <a:lnTo>
                    <a:pt x="147067" y="2577750"/>
                  </a:lnTo>
                  <a:lnTo>
                    <a:pt x="5238749" y="2577750"/>
                  </a:lnTo>
                  <a:lnTo>
                    <a:pt x="5238749" y="269500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92165" y="871156"/>
              <a:ext cx="5137785" cy="2578100"/>
            </a:xfrm>
            <a:custGeom>
              <a:avLst/>
              <a:gdLst/>
              <a:ahLst/>
              <a:cxnLst/>
              <a:rect l="l" t="t" r="r" b="b"/>
              <a:pathLst>
                <a:path w="5137784" h="2578100">
                  <a:moveTo>
                    <a:pt x="5137785" y="2577750"/>
                  </a:moveTo>
                  <a:lnTo>
                    <a:pt x="49659" y="2577750"/>
                  </a:lnTo>
                  <a:lnTo>
                    <a:pt x="13099" y="2559715"/>
                  </a:lnTo>
                  <a:lnTo>
                    <a:pt x="0" y="2528091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137785" y="0"/>
                  </a:lnTo>
                  <a:lnTo>
                    <a:pt x="5137785" y="2577750"/>
                  </a:lnTo>
                  <a:close/>
                </a:path>
              </a:pathLst>
            </a:custGeom>
            <a:solidFill>
              <a:srgbClr val="F5F5F5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0049" y="3541775"/>
              <a:ext cx="5415915" cy="2494280"/>
            </a:xfrm>
            <a:custGeom>
              <a:avLst/>
              <a:gdLst/>
              <a:ahLst/>
              <a:cxnLst/>
              <a:rect l="l" t="t" r="r" b="b"/>
              <a:pathLst>
                <a:path w="5415915" h="2494279">
                  <a:moveTo>
                    <a:pt x="0" y="130397"/>
                  </a:moveTo>
                  <a:lnTo>
                    <a:pt x="0" y="0"/>
                  </a:lnTo>
                  <a:lnTo>
                    <a:pt x="5415533" y="0"/>
                  </a:lnTo>
                  <a:lnTo>
                    <a:pt x="5415533" y="84296"/>
                  </a:lnTo>
                  <a:lnTo>
                    <a:pt x="46101" y="84296"/>
                  </a:lnTo>
                  <a:lnTo>
                    <a:pt x="39321" y="85644"/>
                  </a:lnTo>
                  <a:lnTo>
                    <a:pt x="6742" y="110594"/>
                  </a:lnTo>
                  <a:lnTo>
                    <a:pt x="1348" y="123617"/>
                  </a:lnTo>
                  <a:lnTo>
                    <a:pt x="0" y="130397"/>
                  </a:lnTo>
                  <a:close/>
                </a:path>
                <a:path w="5415915" h="2494279">
                  <a:moveTo>
                    <a:pt x="5415533" y="2493740"/>
                  </a:moveTo>
                  <a:lnTo>
                    <a:pt x="5314949" y="2493740"/>
                  </a:lnTo>
                  <a:lnTo>
                    <a:pt x="5314949" y="130397"/>
                  </a:lnTo>
                  <a:lnTo>
                    <a:pt x="5313600" y="123617"/>
                  </a:lnTo>
                  <a:lnTo>
                    <a:pt x="5288650" y="91038"/>
                  </a:lnTo>
                  <a:lnTo>
                    <a:pt x="5268847" y="84296"/>
                  </a:lnTo>
                  <a:lnTo>
                    <a:pt x="5415533" y="84296"/>
                  </a:lnTo>
                  <a:lnTo>
                    <a:pt x="5415533" y="249374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0049" y="3626071"/>
              <a:ext cx="5314950" cy="2409825"/>
            </a:xfrm>
            <a:custGeom>
              <a:avLst/>
              <a:gdLst/>
              <a:ahLst/>
              <a:cxnLst/>
              <a:rect l="l" t="t" r="r" b="b"/>
              <a:pathLst>
                <a:path w="5314950" h="2409825">
                  <a:moveTo>
                    <a:pt x="5314950" y="2409444"/>
                  </a:moveTo>
                  <a:lnTo>
                    <a:pt x="0" y="2409444"/>
                  </a:lnTo>
                  <a:lnTo>
                    <a:pt x="0" y="49659"/>
                  </a:lnTo>
                  <a:lnTo>
                    <a:pt x="18034" y="13098"/>
                  </a:lnTo>
                  <a:lnTo>
                    <a:pt x="49659" y="0"/>
                  </a:lnTo>
                  <a:lnTo>
                    <a:pt x="5265290" y="0"/>
                  </a:lnTo>
                  <a:lnTo>
                    <a:pt x="5301850" y="18034"/>
                  </a:lnTo>
                  <a:lnTo>
                    <a:pt x="5314950" y="2409444"/>
                  </a:lnTo>
                  <a:close/>
                </a:path>
              </a:pathLst>
            </a:custGeom>
            <a:solidFill>
              <a:srgbClr val="F5F5F5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91199" y="3541775"/>
              <a:ext cx="5238750" cy="2494280"/>
            </a:xfrm>
            <a:custGeom>
              <a:avLst/>
              <a:gdLst/>
              <a:ahLst/>
              <a:cxnLst/>
              <a:rect l="l" t="t" r="r" b="b"/>
              <a:pathLst>
                <a:path w="5238750" h="2494279">
                  <a:moveTo>
                    <a:pt x="100964" y="2493740"/>
                  </a:moveTo>
                  <a:lnTo>
                    <a:pt x="0" y="2493740"/>
                  </a:lnTo>
                  <a:lnTo>
                    <a:pt x="0" y="0"/>
                  </a:lnTo>
                  <a:lnTo>
                    <a:pt x="5238749" y="0"/>
                  </a:lnTo>
                  <a:lnTo>
                    <a:pt x="5238749" y="84296"/>
                  </a:lnTo>
                  <a:lnTo>
                    <a:pt x="147065" y="84296"/>
                  </a:lnTo>
                  <a:lnTo>
                    <a:pt x="140286" y="85644"/>
                  </a:lnTo>
                  <a:lnTo>
                    <a:pt x="107707" y="110594"/>
                  </a:lnTo>
                  <a:lnTo>
                    <a:pt x="100964" y="130397"/>
                  </a:lnTo>
                  <a:lnTo>
                    <a:pt x="100964" y="249374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92165" y="3626071"/>
              <a:ext cx="5137785" cy="2409825"/>
            </a:xfrm>
            <a:custGeom>
              <a:avLst/>
              <a:gdLst/>
              <a:ahLst/>
              <a:cxnLst/>
              <a:rect l="l" t="t" r="r" b="b"/>
              <a:pathLst>
                <a:path w="5137784" h="2409825">
                  <a:moveTo>
                    <a:pt x="5137785" y="2409444"/>
                  </a:moveTo>
                  <a:lnTo>
                    <a:pt x="0" y="2409444"/>
                  </a:lnTo>
                  <a:lnTo>
                    <a:pt x="0" y="49659"/>
                  </a:lnTo>
                  <a:lnTo>
                    <a:pt x="18034" y="13098"/>
                  </a:lnTo>
                  <a:lnTo>
                    <a:pt x="49659" y="0"/>
                  </a:lnTo>
                  <a:lnTo>
                    <a:pt x="5137785" y="0"/>
                  </a:lnTo>
                  <a:lnTo>
                    <a:pt x="5137785" y="2409444"/>
                  </a:lnTo>
                  <a:close/>
                </a:path>
              </a:pathLst>
            </a:custGeom>
            <a:solidFill>
              <a:srgbClr val="F5F5F5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36561" y="881487"/>
            <a:ext cx="4520565" cy="220472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475615">
              <a:lnSpc>
                <a:spcPct val="100000"/>
              </a:lnSpc>
              <a:spcBef>
                <a:spcPts val="1175"/>
              </a:spcBef>
            </a:pPr>
            <a:r>
              <a:rPr sz="1950" b="1" dirty="0">
                <a:solidFill>
                  <a:srgbClr val="0070CD"/>
                </a:solidFill>
                <a:latin typeface="Arial"/>
                <a:cs typeface="Arial"/>
              </a:rPr>
              <a:t>1.</a:t>
            </a:r>
            <a:r>
              <a:rPr sz="1950" b="1" spc="-35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950" b="1" spc="-10" dirty="0">
                <a:solidFill>
                  <a:srgbClr val="0070CD"/>
                </a:solidFill>
                <a:latin typeface="Arial"/>
                <a:cs typeface="Arial"/>
              </a:rPr>
              <a:t>Target</a:t>
            </a:r>
            <a:r>
              <a:rPr sz="1950" b="1" spc="-30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0070CD"/>
                </a:solidFill>
                <a:latin typeface="Arial"/>
                <a:cs typeface="Arial"/>
              </a:rPr>
              <a:t>Premium</a:t>
            </a:r>
            <a:r>
              <a:rPr sz="1950" b="1" spc="-35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950" b="1" spc="-10" dirty="0">
                <a:solidFill>
                  <a:srgbClr val="0070CD"/>
                </a:solidFill>
                <a:latin typeface="Arial"/>
                <a:cs typeface="Arial"/>
              </a:rPr>
              <a:t>Products</a:t>
            </a:r>
            <a:endParaRPr sz="1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Focus</a:t>
            </a:r>
            <a:r>
              <a:rPr sz="195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on</a:t>
            </a:r>
            <a:r>
              <a:rPr sz="195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males</a:t>
            </a:r>
            <a:r>
              <a:rPr sz="1950" spc="-10" dirty="0">
                <a:solidFill>
                  <a:srgbClr val="333333"/>
                </a:solidFill>
                <a:latin typeface="Arial"/>
                <a:cs typeface="Arial"/>
              </a:rPr>
              <a:t> 26-</a:t>
            </a: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45</a:t>
            </a:r>
            <a:r>
              <a:rPr sz="195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sz="1950" spc="-10" dirty="0">
                <a:solidFill>
                  <a:srgbClr val="333333"/>
                </a:solidFill>
                <a:latin typeface="Arial"/>
                <a:cs typeface="Arial"/>
              </a:rPr>
              <a:t> Cities</a:t>
            </a:r>
            <a:r>
              <a:rPr sz="1950" spc="-1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1950" spc="-1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&amp;</a:t>
            </a:r>
            <a:r>
              <a:rPr sz="195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spc="-50" dirty="0">
                <a:solidFill>
                  <a:srgbClr val="333333"/>
                </a:solidFill>
                <a:latin typeface="Arial"/>
                <a:cs typeface="Arial"/>
              </a:rPr>
              <a:t>B</a:t>
            </a:r>
            <a:endParaRPr sz="1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Enhanced</a:t>
            </a:r>
            <a:r>
              <a:rPr sz="195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displays</a:t>
            </a:r>
            <a:r>
              <a:rPr sz="195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for</a:t>
            </a:r>
            <a:r>
              <a:rPr sz="195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Categories</a:t>
            </a:r>
            <a:r>
              <a:rPr sz="195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9</a:t>
            </a:r>
            <a:r>
              <a:rPr sz="195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&amp;</a:t>
            </a:r>
            <a:r>
              <a:rPr sz="195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spc="-25" dirty="0">
                <a:solidFill>
                  <a:srgbClr val="333333"/>
                </a:solidFill>
                <a:latin typeface="Arial"/>
                <a:cs typeface="Arial"/>
              </a:rPr>
              <a:t>18</a:t>
            </a:r>
            <a:endParaRPr sz="1950" dirty="0">
              <a:latin typeface="Arial"/>
              <a:cs typeface="Arial"/>
            </a:endParaRPr>
          </a:p>
          <a:p>
            <a:pPr marL="12700" marR="212090">
              <a:lnSpc>
                <a:spcPct val="107300"/>
              </a:lnSpc>
              <a:spcBef>
                <a:spcPts val="1395"/>
              </a:spcBef>
            </a:pP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Create</a:t>
            </a:r>
            <a:r>
              <a:rPr sz="1950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premium</a:t>
            </a:r>
            <a:r>
              <a:rPr sz="1950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bundles</a:t>
            </a:r>
            <a:r>
              <a:rPr sz="1950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for</a:t>
            </a:r>
            <a:r>
              <a:rPr sz="1950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333333"/>
                </a:solidFill>
                <a:latin typeface="Arial"/>
                <a:cs typeface="Arial"/>
              </a:rPr>
              <a:t>high-value occupations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4514" y="1316587"/>
            <a:ext cx="130175" cy="151384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235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235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235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3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56629" y="1272667"/>
            <a:ext cx="114935" cy="87630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20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20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75526" y="892117"/>
            <a:ext cx="4433570" cy="2186940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R="77470" algn="ctr">
              <a:lnSpc>
                <a:spcPct val="100000"/>
              </a:lnSpc>
              <a:spcBef>
                <a:spcPts val="1115"/>
              </a:spcBef>
            </a:pPr>
            <a:r>
              <a:rPr sz="1650" b="1" dirty="0">
                <a:solidFill>
                  <a:srgbClr val="0070CD"/>
                </a:solidFill>
                <a:latin typeface="Arial"/>
                <a:cs typeface="Arial"/>
              </a:rPr>
              <a:t>2.</a:t>
            </a:r>
            <a:r>
              <a:rPr sz="1650" b="1" spc="15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0070CD"/>
                </a:solidFill>
                <a:latin typeface="Arial"/>
                <a:cs typeface="Arial"/>
              </a:rPr>
              <a:t>Optimize</a:t>
            </a:r>
            <a:r>
              <a:rPr sz="1650" b="1" spc="15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0070CD"/>
                </a:solidFill>
                <a:latin typeface="Arial"/>
                <a:cs typeface="Arial"/>
              </a:rPr>
              <a:t>Value</a:t>
            </a:r>
            <a:r>
              <a:rPr sz="1650" b="1" spc="15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650" b="1" spc="-10" dirty="0">
                <a:solidFill>
                  <a:srgbClr val="0070CD"/>
                </a:solidFill>
                <a:latin typeface="Arial"/>
                <a:cs typeface="Arial"/>
              </a:rPr>
              <a:t>Offerings</a:t>
            </a:r>
            <a:endParaRPr sz="16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650" spc="-10" dirty="0">
                <a:solidFill>
                  <a:srgbClr val="333333"/>
                </a:solidFill>
                <a:latin typeface="Arial"/>
                <a:cs typeface="Arial"/>
              </a:rPr>
              <a:t>Tailor</a:t>
            </a:r>
            <a:r>
              <a:rPr sz="165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650" spc="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females</a:t>
            </a:r>
            <a:r>
              <a:rPr sz="1650" spc="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55+</a:t>
            </a:r>
            <a:r>
              <a:rPr sz="1650" spc="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sz="1650" spc="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City</a:t>
            </a:r>
            <a:r>
              <a:rPr sz="1650" spc="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spc="-50" dirty="0">
                <a:solidFill>
                  <a:srgbClr val="333333"/>
                </a:solidFill>
                <a:latin typeface="Arial"/>
                <a:cs typeface="Arial"/>
              </a:rPr>
              <a:t>C</a:t>
            </a:r>
            <a:endParaRPr sz="1650" dirty="0">
              <a:latin typeface="Arial"/>
              <a:cs typeface="Arial"/>
            </a:endParaRPr>
          </a:p>
          <a:p>
            <a:pPr marL="12700" marR="5080">
              <a:lnSpc>
                <a:spcPct val="109200"/>
              </a:lnSpc>
              <a:spcBef>
                <a:spcPts val="1190"/>
              </a:spcBef>
            </a:pP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Expand</a:t>
            </a:r>
            <a:r>
              <a:rPr sz="1650" spc="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product</a:t>
            </a:r>
            <a:r>
              <a:rPr sz="1650" spc="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assortment</a:t>
            </a:r>
            <a:r>
              <a:rPr sz="1650" spc="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sz="1650" spc="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Categories</a:t>
            </a:r>
            <a:r>
              <a:rPr sz="1650" spc="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19</a:t>
            </a:r>
            <a:r>
              <a:rPr sz="1650" spc="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spc="-50" dirty="0">
                <a:solidFill>
                  <a:srgbClr val="333333"/>
                </a:solidFill>
                <a:latin typeface="Arial"/>
                <a:cs typeface="Arial"/>
              </a:rPr>
              <a:t>&amp; </a:t>
            </a:r>
            <a:r>
              <a:rPr sz="1650" spc="-25" dirty="0">
                <a:solidFill>
                  <a:srgbClr val="333333"/>
                </a:solidFill>
                <a:latin typeface="Arial"/>
                <a:cs typeface="Arial"/>
              </a:rPr>
              <a:t>20</a:t>
            </a:r>
            <a:endParaRPr sz="1650" dirty="0">
              <a:latin typeface="Arial"/>
              <a:cs typeface="Arial"/>
            </a:endParaRPr>
          </a:p>
          <a:p>
            <a:pPr marL="12700" marR="324485">
              <a:lnSpc>
                <a:spcPct val="109200"/>
              </a:lnSpc>
              <a:spcBef>
                <a:spcPts val="1185"/>
              </a:spcBef>
            </a:pP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Price</a:t>
            </a:r>
            <a:r>
              <a:rPr sz="1650" spc="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point</a:t>
            </a:r>
            <a:r>
              <a:rPr sz="1650" spc="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optimization</a:t>
            </a:r>
            <a:r>
              <a:rPr sz="1650" spc="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for</a:t>
            </a:r>
            <a:r>
              <a:rPr sz="1650" spc="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value-</a:t>
            </a:r>
            <a:r>
              <a:rPr sz="1650" spc="-10" dirty="0">
                <a:solidFill>
                  <a:srgbClr val="333333"/>
                </a:solidFill>
                <a:latin typeface="Arial"/>
                <a:cs typeface="Arial"/>
              </a:rPr>
              <a:t>conscious segments</a:t>
            </a:r>
            <a:endParaRPr sz="165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56629" y="2516720"/>
            <a:ext cx="114935" cy="332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36561" y="3636403"/>
            <a:ext cx="3968750" cy="220472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411480">
              <a:lnSpc>
                <a:spcPct val="100000"/>
              </a:lnSpc>
              <a:spcBef>
                <a:spcPts val="1175"/>
              </a:spcBef>
            </a:pPr>
            <a:r>
              <a:rPr sz="1950" b="1" dirty="0">
                <a:solidFill>
                  <a:srgbClr val="0070CD"/>
                </a:solidFill>
                <a:latin typeface="Arial"/>
                <a:cs typeface="Arial"/>
              </a:rPr>
              <a:t>3. Loyalty Program </a:t>
            </a:r>
            <a:r>
              <a:rPr sz="1950" b="1" spc="-10" dirty="0">
                <a:solidFill>
                  <a:srgbClr val="0070CD"/>
                </a:solidFill>
                <a:latin typeface="Arial"/>
                <a:cs typeface="Arial"/>
              </a:rPr>
              <a:t>Redesign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Special</a:t>
            </a:r>
            <a:r>
              <a:rPr sz="1950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focus</a:t>
            </a:r>
            <a:r>
              <a:rPr sz="1950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on</a:t>
            </a:r>
            <a:r>
              <a:rPr sz="1950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333333"/>
                </a:solidFill>
                <a:latin typeface="Arial"/>
                <a:cs typeface="Arial"/>
              </a:rPr>
              <a:t>3-</a:t>
            </a: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year</a:t>
            </a:r>
            <a:r>
              <a:rPr sz="1950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333333"/>
                </a:solidFill>
                <a:latin typeface="Arial"/>
                <a:cs typeface="Arial"/>
              </a:rPr>
              <a:t>residents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sz="1950" spc="-25" dirty="0">
                <a:solidFill>
                  <a:srgbClr val="333333"/>
                </a:solidFill>
                <a:latin typeface="Arial"/>
                <a:cs typeface="Arial"/>
              </a:rPr>
              <a:t>Target</a:t>
            </a:r>
            <a:r>
              <a:rPr sz="1950" spc="-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transitioning</a:t>
            </a:r>
            <a:r>
              <a:rPr sz="1950" spc="-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333333"/>
                </a:solidFill>
                <a:latin typeface="Arial"/>
                <a:cs typeface="Arial"/>
              </a:rPr>
              <a:t>2-</a:t>
            </a: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year</a:t>
            </a:r>
            <a:r>
              <a:rPr sz="1950" spc="-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333333"/>
                </a:solidFill>
                <a:latin typeface="Arial"/>
                <a:cs typeface="Arial"/>
              </a:rPr>
              <a:t>residents</a:t>
            </a:r>
            <a:endParaRPr sz="1950">
              <a:latin typeface="Arial"/>
              <a:cs typeface="Arial"/>
            </a:endParaRPr>
          </a:p>
          <a:p>
            <a:pPr marL="12700" marR="473075">
              <a:lnSpc>
                <a:spcPct val="107300"/>
              </a:lnSpc>
              <a:spcBef>
                <a:spcPts val="1395"/>
              </a:spcBef>
            </a:pP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Personalized</a:t>
            </a:r>
            <a:r>
              <a:rPr sz="1950" spc="-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rewards</a:t>
            </a:r>
            <a:r>
              <a:rPr sz="1950" spc="-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based</a:t>
            </a:r>
            <a:r>
              <a:rPr sz="1950" spc="-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spc="-25" dirty="0">
                <a:solidFill>
                  <a:srgbClr val="333333"/>
                </a:solidFill>
                <a:latin typeface="Arial"/>
                <a:cs typeface="Arial"/>
              </a:rPr>
              <a:t>on </a:t>
            </a:r>
            <a:r>
              <a:rPr sz="1950" dirty="0">
                <a:solidFill>
                  <a:srgbClr val="333333"/>
                </a:solidFill>
                <a:latin typeface="Arial"/>
                <a:cs typeface="Arial"/>
              </a:rPr>
              <a:t>occupation</a:t>
            </a:r>
            <a:r>
              <a:rPr sz="1950" spc="-9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333333"/>
                </a:solidFill>
                <a:latin typeface="Arial"/>
                <a:cs typeface="Arial"/>
              </a:rPr>
              <a:t>profiles</a:t>
            </a:r>
            <a:endParaRPr sz="19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4514" y="4071503"/>
            <a:ext cx="130175" cy="151384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235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235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235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3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56629" y="4027584"/>
            <a:ext cx="114935" cy="87630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20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20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75526" y="3647033"/>
            <a:ext cx="4528185" cy="2195830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915669">
              <a:lnSpc>
                <a:spcPct val="100000"/>
              </a:lnSpc>
              <a:spcBef>
                <a:spcPts val="1115"/>
              </a:spcBef>
            </a:pPr>
            <a:r>
              <a:rPr sz="1650" b="1" dirty="0">
                <a:solidFill>
                  <a:srgbClr val="0070CD"/>
                </a:solidFill>
                <a:latin typeface="Arial"/>
                <a:cs typeface="Arial"/>
              </a:rPr>
              <a:t>4.</a:t>
            </a:r>
            <a:r>
              <a:rPr sz="1650" b="1" spc="45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0070CD"/>
                </a:solidFill>
                <a:latin typeface="Arial"/>
                <a:cs typeface="Arial"/>
              </a:rPr>
              <a:t>Category</a:t>
            </a:r>
            <a:r>
              <a:rPr sz="1650" b="1" spc="50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650" b="1" spc="-10" dirty="0">
                <a:solidFill>
                  <a:srgbClr val="0070CD"/>
                </a:solidFill>
                <a:latin typeface="Arial"/>
                <a:cs typeface="Arial"/>
              </a:rPr>
              <a:t>Management</a:t>
            </a:r>
            <a:endParaRPr sz="16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Enhance</a:t>
            </a:r>
            <a:r>
              <a:rPr sz="1650" spc="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Categories</a:t>
            </a:r>
            <a:r>
              <a:rPr sz="1650" spc="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9</a:t>
            </a:r>
            <a:r>
              <a:rPr sz="1650" spc="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&amp;</a:t>
            </a:r>
            <a:r>
              <a:rPr sz="1650" spc="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18</a:t>
            </a:r>
            <a:r>
              <a:rPr sz="1650" spc="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for</a:t>
            </a:r>
            <a:r>
              <a:rPr sz="1650" spc="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high</a:t>
            </a:r>
            <a:r>
              <a:rPr sz="1650" spc="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Arial"/>
                <a:cs typeface="Arial"/>
              </a:rPr>
              <a:t>spenders</a:t>
            </a:r>
            <a:endParaRPr sz="1650" dirty="0">
              <a:latin typeface="Arial"/>
              <a:cs typeface="Arial"/>
            </a:endParaRPr>
          </a:p>
          <a:p>
            <a:pPr marL="12700" marR="749300">
              <a:lnSpc>
                <a:spcPct val="109200"/>
              </a:lnSpc>
              <a:spcBef>
                <a:spcPts val="1190"/>
              </a:spcBef>
            </a:pP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Reposition</a:t>
            </a:r>
            <a:r>
              <a:rPr sz="1650" spc="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Categories</a:t>
            </a:r>
            <a:r>
              <a:rPr sz="1650" spc="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19</a:t>
            </a:r>
            <a:r>
              <a:rPr sz="1650" spc="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&amp;</a:t>
            </a:r>
            <a:r>
              <a:rPr sz="1650" spc="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20</a:t>
            </a:r>
            <a:r>
              <a:rPr sz="1650" spc="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for</a:t>
            </a:r>
            <a:r>
              <a:rPr sz="1650" spc="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Arial"/>
                <a:cs typeface="Arial"/>
              </a:rPr>
              <a:t>value perception</a:t>
            </a:r>
            <a:endParaRPr sz="1650" dirty="0">
              <a:latin typeface="Arial"/>
              <a:cs typeface="Arial"/>
            </a:endParaRPr>
          </a:p>
          <a:p>
            <a:pPr marL="12700" marR="5080">
              <a:lnSpc>
                <a:spcPct val="112700"/>
              </a:lnSpc>
              <a:spcBef>
                <a:spcPts val="1115"/>
              </a:spcBef>
            </a:pP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Cross-merchandise</a:t>
            </a:r>
            <a:r>
              <a:rPr sz="1650" spc="9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between</a:t>
            </a:r>
            <a:r>
              <a:rPr sz="1650" spc="9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33333"/>
                </a:solidFill>
                <a:latin typeface="Arial"/>
                <a:cs typeface="Arial"/>
              </a:rPr>
              <a:t>spending</a:t>
            </a:r>
            <a:r>
              <a:rPr sz="1650" spc="9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Arial"/>
                <a:cs typeface="Arial"/>
              </a:rPr>
              <a:t>segment categories</a:t>
            </a:r>
            <a:endParaRPr sz="1650" dirty="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56629" y="5271636"/>
            <a:ext cx="114935" cy="332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r>
              <a:rPr dirty="0"/>
              <a:t>Walmart</a:t>
            </a:r>
            <a:r>
              <a:rPr spc="5" dirty="0"/>
              <a:t> </a:t>
            </a:r>
            <a:r>
              <a:rPr dirty="0"/>
              <a:t>Customer</a:t>
            </a:r>
            <a:r>
              <a:rPr spc="10" dirty="0"/>
              <a:t> </a:t>
            </a:r>
            <a:r>
              <a:rPr dirty="0"/>
              <a:t>Segmentation</a:t>
            </a:r>
            <a:r>
              <a:rPr spc="5" dirty="0"/>
              <a:t> </a:t>
            </a:r>
            <a:r>
              <a:rPr dirty="0"/>
              <a:t>&amp;</a:t>
            </a:r>
            <a:r>
              <a:rPr spc="10" dirty="0"/>
              <a:t> </a:t>
            </a:r>
            <a:r>
              <a:rPr spc="-10" dirty="0"/>
              <a:t>Insights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r>
              <a:rPr dirty="0"/>
              <a:t>May</a:t>
            </a:r>
            <a:r>
              <a:rPr spc="15" dirty="0"/>
              <a:t>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4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Questions?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457300" y="1691132"/>
            <a:ext cx="2515235" cy="621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00" b="1" dirty="0">
                <a:solidFill>
                  <a:srgbClr val="0070CD"/>
                </a:solidFill>
                <a:latin typeface="Arial"/>
                <a:cs typeface="Arial"/>
              </a:rPr>
              <a:t>Thank</a:t>
            </a:r>
            <a:r>
              <a:rPr sz="3900" b="1" spc="-190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3900" b="1" spc="-45" dirty="0">
                <a:solidFill>
                  <a:srgbClr val="0070CD"/>
                </a:solidFill>
                <a:latin typeface="Arial"/>
                <a:cs typeface="Arial"/>
              </a:rPr>
              <a:t>You</a:t>
            </a:r>
            <a:endParaRPr sz="3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7349" y="5902343"/>
            <a:ext cx="339534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dirty="0">
                <a:solidFill>
                  <a:srgbClr val="666666"/>
                </a:solidFill>
                <a:latin typeface="Arial"/>
                <a:cs typeface="Arial"/>
              </a:rPr>
              <a:t>Walmart</a:t>
            </a:r>
            <a:r>
              <a:rPr sz="135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666666"/>
                </a:solidFill>
                <a:latin typeface="Arial"/>
                <a:cs typeface="Arial"/>
              </a:rPr>
              <a:t>Customer</a:t>
            </a:r>
            <a:r>
              <a:rPr sz="135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666666"/>
                </a:solidFill>
                <a:latin typeface="Arial"/>
                <a:cs typeface="Arial"/>
              </a:rPr>
              <a:t>Segmentation</a:t>
            </a:r>
            <a:r>
              <a:rPr sz="135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666666"/>
                </a:solidFill>
                <a:latin typeface="Arial"/>
                <a:cs typeface="Arial"/>
              </a:rPr>
              <a:t>&amp;</a:t>
            </a:r>
            <a:r>
              <a:rPr sz="135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666666"/>
                </a:solidFill>
                <a:latin typeface="Arial"/>
                <a:cs typeface="Arial"/>
              </a:rPr>
              <a:t>Insights</a:t>
            </a:r>
            <a:endParaRPr sz="13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54886" y="5902343"/>
            <a:ext cx="78803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dirty="0">
                <a:solidFill>
                  <a:srgbClr val="666666"/>
                </a:solidFill>
                <a:latin typeface="Arial"/>
                <a:cs typeface="Arial"/>
              </a:rPr>
              <a:t>May</a:t>
            </a:r>
            <a:r>
              <a:rPr sz="1350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666666"/>
                </a:solidFill>
                <a:latin typeface="Arial"/>
                <a:cs typeface="Arial"/>
              </a:rPr>
              <a:t>2025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33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5795</TotalTime>
  <Words>1194</Words>
  <Application>Microsoft Office PowerPoint</Application>
  <PresentationFormat>Custom</PresentationFormat>
  <Paragraphs>289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Walmart Customer Segmentation &amp; Insights Data-Driven Customer Analysis</vt:lpstr>
      <vt:lpstr>Agenda</vt:lpstr>
      <vt:lpstr>Executive Summary </vt:lpstr>
      <vt:lpstr>Customer Demographic Analysis Who Is Our Customer? </vt:lpstr>
      <vt:lpstr>Majority Are Young, Male and New to the City</vt:lpstr>
      <vt:lpstr>Product Analysis What Do They Buy? </vt:lpstr>
      <vt:lpstr>Top 3 Product Categories Drive Over 70% of Revenue</vt:lpstr>
      <vt:lpstr>Customer Segmentation Who Likes What? </vt:lpstr>
      <vt:lpstr>Young Males Are More Likey to Be High Spender</vt:lpstr>
      <vt:lpstr>Premium Buyers Cluster Around Categories 9 and 18</vt:lpstr>
      <vt:lpstr>Higher City Tenure More Likely to Spend</vt:lpstr>
      <vt:lpstr>Occupation 5 and 20 lead in Premium Spend</vt:lpstr>
      <vt:lpstr>Customer Personas How They Behave? </vt:lpstr>
      <vt:lpstr>Customer Personas: Meet Our Shoppers</vt:lpstr>
      <vt:lpstr>Actionable Strategies What Can We Do? </vt:lpstr>
      <vt:lpstr>4  Actionable Strategies to Boost Revenue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Madhuri Gatla</dc:creator>
  <cp:lastModifiedBy>Madhuri Gatla</cp:lastModifiedBy>
  <cp:revision>5</cp:revision>
  <dcterms:created xsi:type="dcterms:W3CDTF">2025-05-12T09:43:22Z</dcterms:created>
  <dcterms:modified xsi:type="dcterms:W3CDTF">2025-12-15T07:58:34Z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2025-05-12T00:00:00Z</vt:filetime>
  </property>
  <property fmtid="{D5CDD505-2E9C-101B-9397-08002B2CF9AE}" pid="3" name="Creator">
    <vt:lpwstr>Decktape</vt:lpwstr>
  </property>
  <property fmtid="{D5CDD505-2E9C-101B-9397-08002B2CF9AE}" pid="4" name="LastSaved">
    <vt:filetime>2025-05-12T00:00:00Z</vt:filetime>
  </property>
  <property fmtid="{D5CDD505-2E9C-101B-9397-08002B2CF9AE}" pid="5" name="Producer">
    <vt:lpwstr>pdf-lib (https://github.com/Hopding/pdf-lib)</vt:lpwstr>
  </property>
</Properties>
</file>